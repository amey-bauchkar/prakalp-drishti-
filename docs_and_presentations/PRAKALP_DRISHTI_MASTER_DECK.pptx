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6500"/>
                </a:solidFill>
              </a:defRPr>
            </a:pPr>
            <a:r>
              <a:t>SMART INDIA HACKATHON 2026  •  PROBLEM STATEMENT ID: SIH26103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PRAKALP-DRISHTI</a:t>
            </a:r>
          </a:p>
          <a:p>
            <a:pPr>
              <a:spcAft>
                <a:spcPts val="2000"/>
              </a:spcAft>
              <a:defRPr sz="2000">
                <a:solidFill>
                  <a:srgbClr val="F1C40F"/>
                </a:solidFill>
              </a:defRPr>
            </a:pPr>
            <a:r>
              <a:t>National Infrastructure Decision Intelligence Platform</a:t>
            </a:r>
          </a:p>
          <a:p>
            <a:pPr>
              <a:defRPr sz="1300">
                <a:solidFill>
                  <a:srgbClr val="B4C8DC"/>
                </a:solidFill>
              </a:defRPr>
            </a:pPr>
            <a:r>
              <a:t>The Autonomous Predictive, Earth-Observation &amp; Prescriptive Decision Layer for MoSPI's PAIMANA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31089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394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500"/>
                </a:solidFill>
              </a:defRPr>
            </a:pPr>
            <a:r>
              <a:t>🏛️ Official June 2026 Baseline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1,847 Ongoing | ₹40.54L 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5303520"/>
            <a:ext cx="31089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5394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500"/>
                </a:solidFill>
              </a:defRPr>
            </a:pPr>
            <a:r>
              <a:t>📊 Total Analyzed Corpus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2,207 Project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303520"/>
            <a:ext cx="3566160" cy="8229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53949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500"/>
                </a:solidFill>
              </a:defRPr>
            </a:pPr>
            <a:r>
              <a:t>⚡ Core Product Value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Decision Intelligence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Strategic Positioning: Building the Intelligence Layer atop PAIMANA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B192C"/>
                </a:solidFill>
              </a:defRPr>
            </a:pPr>
            <a:r>
              <a:t>🏛️ PAIMANA: The National Data Foundation</a:t>
            </a:r>
          </a:p>
          <a:p>
            <a:pPr>
              <a:spcAft>
                <a:spcPts val="1200"/>
              </a:spcAft>
              <a:defRPr sz="1150">
                <a:solidFill>
                  <a:srgbClr val="647382"/>
                </a:solidFill>
              </a:defRPr>
            </a:pPr>
            <a:r>
              <a:t>Launched by MoSPI on 25 Sept 2025 (and upgraded with PAIMANA-CRIP in July 2026), PAIMANA tracks Central Sector infrastructure projects (&gt;₹150 Cr) across 17 line ministries.</a:t>
            </a:r>
          </a:p>
          <a:p>
            <a:pPr>
              <a:spcAft>
                <a:spcPts val="600"/>
              </a:spcAft>
              <a:defRPr sz="1100">
                <a:solidFill>
                  <a:srgbClr val="141E2D"/>
                </a:solidFill>
              </a:defRPr>
            </a:pPr>
            <a:r>
              <a:t>✅ Automated data flow between executing agencies &amp; centre.</a:t>
            </a:r>
          </a:p>
          <a:p>
            <a:pPr>
              <a:spcAft>
                <a:spcPts val="600"/>
              </a:spcAft>
              <a:defRPr sz="1100">
                <a:solidFill>
                  <a:srgbClr val="141E2D"/>
                </a:solidFill>
              </a:defRPr>
            </a:pPr>
            <a:r>
              <a:t>✅ Official June 2026 Baseline: 1,847 ongoing projects (₹40.54L Cr).</a:t>
            </a:r>
          </a:p>
          <a:p>
            <a:pPr>
              <a:spcAft>
                <a:spcPts val="600"/>
              </a:spcAft>
              <a:defRPr sz="1100">
                <a:solidFill>
                  <a:srgbClr val="141E2D"/>
                </a:solidFill>
              </a:defRPr>
            </a:pPr>
            <a:r>
              <a:t>🎯 PAIMANA's Role: Tells the nation WHAT is currently happening (The Data Foundation).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1C40F"/>
                </a:solidFill>
              </a:defRPr>
            </a:pPr>
            <a:r>
              <a:t>🚀 PRAKALP-DRISHTI: The Decision Layer</a:t>
            </a:r>
          </a:p>
          <a:p>
            <a:pPr>
              <a:spcAft>
                <a:spcPts val="1200"/>
              </a:spcAft>
              <a:defRPr sz="1150">
                <a:solidFill>
                  <a:srgbClr val="C8DCF0"/>
                </a:solidFill>
              </a:defRPr>
            </a:pPr>
            <a:r>
              <a:t>“We are NOT replacing PAIMANA. PAIMANA built the national data foundation; PRAKALP-DRISHTI turns that foundation into foresight, physical verification, and optimized action.”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1. PREDICT: Calibrated P10–P95 probability curves.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2. VERIFY: Independent Earth-Observation (EO) satellite evidence.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3. CONNECT: Cross-ministry dependency and economic contagion.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4. OPTIMIZE: Prescriptive capital allocation under real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System Architecture: Scoped into 3 Practical Hackathon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1C40F"/>
                </a:solidFill>
              </a:defRPr>
            </a:pPr>
            <a:r>
              <a:t>TIER 1: CORE DECISION ENGINE (Must Work Flawlessly in Live Demo)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1. Unified Project Intelligence DB: 2,207 source-traceable project records with date-calculated delays.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2. KAAL-CHAKRA: Probabilistic P10/P50/P80/P95 schedule risk based on empirical reference classes.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3. PRATIBIMB: Independent Earth-Observation (EO) satellite evidence signal on 5–10 flagged projects.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4. SETU-GRAPH: Spatial buffer and statutory prerequisite dependency graph for systemic exposure.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5. PRAGATI-SAARTHI: Deterministic, evidence-backed briefing generator with clickable SQL data lineage.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75888"/>
            <a:ext cx="101498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B192C"/>
                </a:solidFill>
              </a:defRPr>
            </a:pPr>
            <a:r>
              <a:t>TIER 2: INTEGRITY &amp; PRESCRIBED OPTIMIZATION (Should Work)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6. SATYA-KAVACH: Statistical threshold bunching detector for 20% CCEA Cabinet audit avoidance.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7. VITTA-VYUHA: Constrained Mixed-Integer Linear Programming (MILP) capital allocation solver.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8. DPR-QUALITY SCORER: NLP document scrutiny engine scanning PDF project proposals (0–100 Score).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21808"/>
            <a:ext cx="101498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B192C"/>
                </a:solidFill>
              </a:defRPr>
            </a:pPr>
            <a:r>
              <a:t>TIER 3: RESEARCH &amp; SCENARIO PROTOTYPES (Supporting Labs)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9. VARSHA-SPEED: Weather working-window optimizer using 630 IMD state-years of rainfall anomalies.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10. HETU: Experimental policy scenario simulator backed by natural experiment breaks.</a:t>
            </a:r>
          </a:p>
          <a:p>
            <a:pPr>
              <a:spcAft>
                <a:spcPts val="200"/>
              </a:spcAft>
              <a:defRPr sz="950">
                <a:solidFill>
                  <a:srgbClr val="141E2D"/>
                </a:solidFill>
              </a:defRPr>
            </a:pPr>
            <a:r>
              <a:t>11. ARTHA-NETRA: Listed PSU financial leverage (D/E ratio) early-warning risk feature.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Our Real Data Arsenal: 100% Source-Traceable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0B192C"/>
                </a:solidFill>
              </a:defRPr>
            </a:pPr>
            <a:r>
              <a:t>📊 MoSPI Project Corpus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2,207 Total Records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1,847 ongoing (June 2026 official baseline) + completed/historical corpus with exact sanction dates &amp; calculated delay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007AFF"/>
                </a:solidFill>
              </a:defRPr>
            </a:pPr>
            <a:r>
              <a:t>📈 Listed PSU Financials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18,561 Daily Rows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5-year daily stock prices &amp; balance sheet leverage (D/E, MCap, P/E) for 13 listed PSUs (NTPC, NHPC, SJVN, RVNL, IRCON, Coal India).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1E3E62"/>
                </a:solidFill>
              </a:defRPr>
            </a:pPr>
            <a:r>
              <a:t>🏛️ State Election Cycles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153 Assembly Cycles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Official Election Commission of India (ECI) calendar across all 28 states &amp; UTs (2000–2026) to map pre-election rush periods.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0B192C"/>
                </a:solidFill>
              </a:defRPr>
            </a:pPr>
            <a:r>
              <a:t>🌧️ IMD Monsoon Departures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630 State-Years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State-level Southwest Monsoon rainfall departure (% from Long Period Average) to quantify working-season contraction.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FF6500"/>
                </a:solidFill>
              </a:defRPr>
            </a:pPr>
            <a:r>
              <a:t>🏗️ DPIIT / RBI WPI Basket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2005–2026 Series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Wholesale Price Index for Steel (40%), Cement (30%), Fuel/Bitumen (30%) for CPWD Clause 10CC price escalation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E74C3C"/>
                </a:solidFill>
              </a:defRPr>
            </a:pPr>
            <a:r>
              <a:t>📜 Land Act 2013 Break</a:t>
            </a:r>
          </a:p>
          <a:p>
            <a:pPr>
              <a:spcAft>
                <a:spcPts val="500"/>
              </a:spcAft>
              <a:defRPr sz="1200" b="1">
                <a:solidFill>
                  <a:srgbClr val="141E2D"/>
                </a:solidFill>
              </a:defRPr>
            </a:pPr>
            <a:r>
              <a:t>Statutory Shock Dataset</a:t>
            </a:r>
          </a:p>
          <a:p>
            <a:pPr>
              <a:defRPr sz="1000">
                <a:solidFill>
                  <a:srgbClr val="647382"/>
                </a:solidFill>
              </a:defRPr>
            </a:pPr>
            <a:r>
              <a:t>RFCTLARR 2013 statutory compensation transition dataset isolating the 2.5x-4x multiplier on legacy linear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1 CORE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1: KAAL-CHAKRA (Probabilistic Schedule Risk &amp; Survival Analysis)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B192C"/>
                </a:solidFill>
              </a:defRPr>
            </a:pPr>
            <a:r>
              <a:t>🎯 Methodology &amp; Features: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Reference Class Forecasting (RCF): </a:t>
            </a:r>
            <a:r>
              <a:rPr b="0">
                <a:solidFill>
                  <a:srgbClr val="647382"/>
                </a:solidFill>
              </a:rPr>
              <a:t>Groups projects into empirical cohorts (Sector × Cost Band × Terrain) and fits heavy-tailed distributions based on completed projects.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Survival Analysis (`lifelines`): </a:t>
            </a:r>
            <a:r>
              <a:rPr b="0">
                <a:solidFill>
                  <a:srgbClr val="647382"/>
                </a:solidFill>
              </a:rPr>
              <a:t>Evaluates ongoing projects using Cox Proportional Hazards, stratifying by Land Act and Interest Rate cohorts.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SHAP Choke-Point Detector: </a:t>
            </a:r>
            <a:r>
              <a:rPr b="0">
                <a:solidFill>
                  <a:srgbClr val="647382"/>
                </a:solidFill>
              </a:rPr>
              <a:t>Tree-based SHAP models print top variables (e.g. Monsoon departure, Land gap) driving that specific project's tail risk.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Dynamic Feature Refreshing: </a:t>
            </a:r>
            <a:r>
              <a:rPr b="0">
                <a:solidFill>
                  <a:srgbClr val="647382"/>
                </a:solidFill>
              </a:rPr>
              <a:t>Survival curves shift live as milestones (e.g. securing 90% land possession) are completed.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6500"/>
                </a:solidFill>
              </a:defRPr>
            </a:pPr>
            <a:r>
              <a:t>📊 Real-World Case Study: Mumbai Metro</a:t>
            </a:r>
          </a:p>
          <a:p>
            <a:pPr>
              <a:spcAft>
                <a:spcPts val="200"/>
              </a:spcAft>
              <a:defRPr sz="1050" b="1">
                <a:solidFill>
                  <a:srgbClr val="0B192C"/>
                </a:solidFill>
              </a:defRPr>
            </a:pPr>
            <a:r>
              <a:t>Target Project: Mumbai Metro Line Extension</a:t>
            </a:r>
          </a:p>
          <a:p>
            <a:pPr>
              <a:spcAft>
                <a:spcPts val="200"/>
              </a:spcAft>
              <a:defRPr sz="1050" b="1">
                <a:solidFill>
                  <a:srgbClr val="0B192C"/>
                </a:solidFill>
              </a:defRPr>
            </a:pPr>
            <a:r>
              <a:t>Official Target Claim: 'DoC: December 2027'</a:t>
            </a:r>
          </a:p>
          <a:p>
            <a:pPr>
              <a:spcAft>
                <a:spcPts val="200"/>
              </a:spcAft>
              <a:defRPr sz="1050" b="0">
                <a:solidFill>
                  <a:srgbClr val="0B192C"/>
                </a:solidFill>
              </a:defRPr>
            </a:pPr>
          </a:p>
          <a:p>
            <a:pPr>
              <a:spcAft>
                <a:spcPts val="200"/>
              </a:spcAft>
              <a:defRPr sz="1050" b="0">
                <a:solidFill>
                  <a:srgbClr val="0B192C"/>
                </a:solidFill>
              </a:defRPr>
            </a:pPr>
            <a:r>
              <a:t>KAAL-CHAKRA Probabilistic Assessment:</a:t>
            </a:r>
          </a:p>
          <a:p>
            <a:pPr>
              <a:spcAft>
                <a:spcPts val="200"/>
              </a:spcAft>
              <a:defRPr sz="1050" b="0">
                <a:solidFill>
                  <a:srgbClr val="0B192C"/>
                </a:solidFill>
              </a:defRPr>
            </a:pPr>
            <a:r>
              <a:t>  • P10 (Optimistic): Dec 2027 (&lt;18% Probability, 4th percentile)</a:t>
            </a:r>
          </a:p>
          <a:p>
            <a:pPr>
              <a:spcAft>
                <a:spcPts val="200"/>
              </a:spcAft>
              <a:defRPr sz="1050" b="1">
                <a:solidFill>
                  <a:srgbClr val="0B192C"/>
                </a:solidFill>
              </a:defRPr>
            </a:pPr>
            <a:r>
              <a:t>  • P50 (Expected): June 2028 (+6 Months delay)</a:t>
            </a:r>
          </a:p>
          <a:p>
            <a:pPr>
              <a:spcAft>
                <a:spcPts val="200"/>
              </a:spcAft>
              <a:defRPr sz="1050" b="1">
                <a:solidFill>
                  <a:srgbClr val="0B192C"/>
                </a:solidFill>
              </a:defRPr>
            </a:pPr>
            <a:r>
              <a:t>  • P80 (Safe Provisioning): March 2029 (+15 Months delay)</a:t>
            </a:r>
          </a:p>
          <a:p>
            <a:pPr>
              <a:spcAft>
                <a:spcPts val="200"/>
              </a:spcAft>
              <a:defRPr sz="1050" b="0">
                <a:solidFill>
                  <a:srgbClr val="0B192C"/>
                </a:solidFill>
              </a:defRPr>
            </a:pPr>
            <a:r>
              <a:t>  • P95 (Severe Tail-Risk): Dec 2030 (+36 Months delay)</a:t>
            </a:r>
          </a:p>
          <a:p>
            <a:pPr>
              <a:spcAft>
                <a:spcPts val="200"/>
              </a:spcAft>
              <a:defRPr sz="1050" b="0">
                <a:solidFill>
                  <a:srgbClr val="0B192C"/>
                </a:solidFill>
              </a:defRPr>
            </a:pPr>
          </a:p>
          <a:p>
            <a:pPr>
              <a:spcAft>
                <a:spcPts val="200"/>
              </a:spcAft>
              <a:defRPr sz="1050" b="1">
                <a:solidFill>
                  <a:srgbClr val="E74C3C"/>
                </a:solidFill>
              </a:defRPr>
            </a:pPr>
            <a:r>
              <a:t>SHAP Choke-Point Output: 'Top tail-risk driver: Dense urban utility shifting (42% SHAP weight) + Coastal monsoon rainfall departure.'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1 CORE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3: PRATIBIMB / SATYA (Independent Earth-Observation Evidence)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B192C"/>
                </a:solidFill>
              </a:defRPr>
            </a:pPr>
            <a:r>
              <a:t>🛰️ Satellite as an Independent Evidence Signal: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Sentinel-2 (10m Optical): </a:t>
            </a:r>
            <a:r>
              <a:rPr b="0">
                <a:solidFill>
                  <a:srgbClr val="647382"/>
                </a:solidFill>
              </a:rPr>
              <a:t>Measures broad surface activity, earthworks, and vegetation clearance via NDBI/NDVI spectral differencing over time.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Sentinel-1 SAR (Radar): </a:t>
            </a:r>
            <a:r>
              <a:rPr b="0">
                <a:solidFill>
                  <a:srgbClr val="647382"/>
                </a:solidFill>
              </a:rPr>
              <a:t>Penetrates Indian monsoon clouds to detect radar backscatter changes from vertical steel and concrete structures.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VIIRS Nighttime Lights Index: </a:t>
            </a:r>
            <a:r>
              <a:rPr b="0">
                <a:solidFill>
                  <a:srgbClr val="647382"/>
                </a:solidFill>
              </a:rPr>
              <a:t>Tracks night illumination footprints on mega-ports and 24x7 corridors — light contraction serves as operational slowdown proxy.</a:t>
            </a:r>
          </a:p>
          <a:p>
            <a:pPr>
              <a:spcAft>
                <a:spcPts val="600"/>
              </a:spcAft>
              <a:defRPr b="1" sz="1100">
                <a:solidFill>
                  <a:srgbClr val="141E2D"/>
                </a:solidFill>
              </a:defRPr>
            </a:pPr>
            <a:r>
              <a:t>• EO-Eligibility Classifier: </a:t>
            </a:r>
            <a:r>
              <a:rPr b="0">
                <a:solidFill>
                  <a:srgbClr val="647382"/>
                </a:solidFill>
              </a:rPr>
              <a:t>Filters out underground tunnels and software to focus 100% accurate audits on the 62% eligible surface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74C3C"/>
                </a:solidFill>
              </a:defRPr>
            </a:pPr>
            <a:r>
              <a:t>🚨 Real Case: 100km Highway Corridor</a:t>
            </a:r>
          </a:p>
          <a:p>
            <a:pPr>
              <a:spcAft>
                <a:spcPts val="300"/>
              </a:spcAft>
              <a:defRPr sz="1050" b="1">
                <a:solidFill>
                  <a:srgbClr val="0B192C"/>
                </a:solidFill>
              </a:defRPr>
            </a:pPr>
            <a:r>
              <a:t>Target Project: 100km Greenfield Highway Corridor</a:t>
            </a:r>
          </a:p>
          <a:p>
            <a:pPr>
              <a:spcAft>
                <a:spcPts val="300"/>
              </a:spcAft>
              <a:defRPr sz="1050" b="0">
                <a:solidFill>
                  <a:srgbClr val="0B192C"/>
                </a:solidFill>
              </a:defRPr>
            </a:pPr>
            <a:r>
              <a:t>  • Self-Reported Milestone Claim: 74.0% physical progress</a:t>
            </a:r>
          </a:p>
          <a:p>
            <a:pPr>
              <a:spcAft>
                <a:spcPts val="300"/>
              </a:spcAft>
              <a:defRPr sz="1050" b="0">
                <a:solidFill>
                  <a:srgbClr val="0B192C"/>
                </a:solidFill>
              </a:defRPr>
            </a:pPr>
            <a:r>
              <a:t>  • EO-Observed Surface Activity: 31.2% detected</a:t>
            </a:r>
          </a:p>
          <a:p>
            <a:pPr>
              <a:spcAft>
                <a:spcPts val="300"/>
              </a:spcAft>
              <a:defRPr sz="1050" b="1">
                <a:solidFill>
                  <a:srgbClr val="0B192C"/>
                </a:solidFill>
              </a:defRPr>
            </a:pPr>
            <a:r>
              <a:t>  • Divergence Metric: 42.8 Percentage Points</a:t>
            </a:r>
          </a:p>
          <a:p>
            <a:pPr>
              <a:spcAft>
                <a:spcPts val="300"/>
              </a:spcAft>
              <a:defRPr sz="1050" b="0">
                <a:solidFill>
                  <a:srgbClr val="0B192C"/>
                </a:solidFill>
              </a:defRPr>
            </a:pPr>
            <a:r>
              <a:t>  • Evidence Confidence: HIGH (Sentinel-2 Optical + S1 Radar)</a:t>
            </a:r>
          </a:p>
          <a:p>
            <a:pPr>
              <a:spcAft>
                <a:spcPts val="300"/>
              </a:spcAft>
              <a:defRPr sz="1050" b="0">
                <a:solidFill>
                  <a:srgbClr val="0B192C"/>
                </a:solidFill>
              </a:defRPr>
            </a:pPr>
          </a:p>
          <a:p>
            <a:pPr>
              <a:spcAft>
                <a:spcPts val="300"/>
              </a:spcAft>
              <a:defRPr sz="1050" b="1">
                <a:solidFill>
                  <a:srgbClr val="E74C3C"/>
                </a:solidFill>
              </a:defRPr>
            </a:pPr>
            <a:r>
              <a:t>Institutional Output Generated:</a:t>
            </a:r>
          </a:p>
          <a:p>
            <a:pPr>
              <a:spcAft>
                <a:spcPts val="300"/>
              </a:spcAft>
              <a:defRPr sz="1050" b="0">
                <a:solidFill>
                  <a:srgbClr val="0B192C"/>
                </a:solidFill>
              </a:defRPr>
            </a:pPr>
            <a:r>
              <a:t>  '⚠️ High-Priority Field Verification Recommended: Substantial divergence detected between contractor claim and multi-temporal satellite footprint. Disbursal freeze recommended pending physical audit.'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1 CORE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2: SETU-GRAPH (Cross-Project Dependency &amp; Systemic Exposure)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E62"/>
                </a:solidFill>
              </a:defRPr>
            </a:pPr>
            <a:r>
              <a:t>1. Spatial Buffer Linkage</a:t>
            </a:r>
          </a:p>
          <a:p>
            <a:pPr>
              <a:spcAft>
                <a:spcPts val="800"/>
              </a:spcAft>
              <a:defRPr sz="1150" b="1">
                <a:solidFill>
                  <a:srgbClr val="141E2D"/>
                </a:solidFill>
              </a:defRPr>
            </a:pPr>
            <a:r>
              <a:t>GeoPandas 50km Corridor Overlap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Connects projects sharing geographic utility corridors, transport nodes, and regional construction clusters without relying on messy NLP.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7AFF"/>
                </a:solidFill>
              </a:defRPr>
            </a:pPr>
            <a:r>
              <a:t>2. Weighted Flow Edges</a:t>
            </a:r>
          </a:p>
          <a:p>
            <a:pPr>
              <a:spcAft>
                <a:spcPts val="800"/>
              </a:spcAft>
              <a:defRPr sz="1150" b="1">
                <a:solidFill>
                  <a:srgbClr val="141E2D"/>
                </a:solidFill>
              </a:defRPr>
            </a:pPr>
            <a:r>
              <a:t>Cargo &amp; Power Capacity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Network line thicknesses represent active operational flow volumes (Million Metric Tonnes of coal or Megawatts of grid power).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3. Linchpin Project Isolation</a:t>
            </a:r>
          </a:p>
          <a:p>
            <a:pPr>
              <a:spcAft>
                <a:spcPts val="800"/>
              </a:spcAft>
              <a:defRPr sz="1150" b="1">
                <a:solidFill>
                  <a:srgbClr val="141E2D"/>
                </a:solidFill>
              </a:defRPr>
            </a:pPr>
            <a:r>
              <a:t>Betweenness Centrality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Ranks all projects to isolate the single 'Linchpin Asset' in India that, if delayed, triggers maximum multi-ministry gridlock.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50" b="1">
                <a:solidFill>
                  <a:srgbClr val="F1C40F"/>
                </a:solidFill>
              </a:defRPr>
            </a:pPr>
            <a:r>
              <a:t>💡 Real-World Case: Odisha Coal-to-Power Logistics Chain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An 18-month delay in an Odisha coal evacuation rail line ripples across the graph. System output: 'Estimated Downstream Economic Exposure: ₹8,420 Crore locked across 3 dependent thermal power plants and 2 heavy manufacturing hubs due to coal supply bottleneck.'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1 CORE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 7: PRAGATI-SAARTHI (Deterministic Governance Briefing Engine)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1C40F"/>
                </a:solidFill>
              </a:defRPr>
            </a:pPr>
            <a:r>
              <a:t>🤖 Governed Decision Briefing for the Prime Minister's PRAGATI Review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Every month, the PM reviews stuck megaprojects with Union &amp; State Chief Secretaries. PRAGATI-SAARTHI generates complete, official 8-page briefing packs in seconds, bridging predictive risk, satellite evidence, and financial signals into actionable civil-service briefs.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7AFF"/>
                </a:solidFill>
              </a:defRPr>
            </a:pPr>
            <a:r>
              <a:t>🛡️ Deterministic Facts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NO LLM invents numbers. All figures come directly from SQL/ML and are templated into structured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6500"/>
                </a:solidFill>
              </a:defRPr>
            </a:pPr>
            <a:r>
              <a:t>🔗 Clickable SQL Lineage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Click any number in the generated PDF (e.g. '₹73,000 Cr') to view the exact SQL query, record IDs, and dataset snapshot.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383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CC71"/>
                </a:solidFill>
              </a:defRPr>
            </a:pPr>
            <a:r>
              <a:t>📱 Encrypted PDF QR Codes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Scanning the QR code on the final PDF routes officials directly to the live, secure interactive dashboard audit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2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Modules 4 &amp; 5: SATYA-KAVACH &amp; VITTA-VYUHA (Integrity &amp; Optimization)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⚖️ Module 4: SATYA-KAVACH</a:t>
            </a:r>
          </a:p>
          <a:p>
            <a:pPr>
              <a:spcAft>
                <a:spcPts val="800"/>
              </a:spcAft>
              <a:defRPr sz="1150" b="1">
                <a:solidFill>
                  <a:srgbClr val="FF6500"/>
                </a:solidFill>
              </a:defRPr>
            </a:pPr>
            <a:r>
              <a:t>Threshold Bunching &amp; Vendor Behavior Profiling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McCrary Bunching Signal: </a:t>
            </a:r>
            <a:r>
              <a:rPr b="0">
                <a:solidFill>
                  <a:srgbClr val="647382"/>
                </a:solidFill>
              </a:rPr>
              <a:t>Detects statistically significant density spike (1.49x ratio, p &lt; 0.001) at 19.8%–19.9% to avoid mandatory 20% CCEA Cabinet re-appraisal.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Vendor Behavior Profiling: </a:t>
            </a:r>
            <a:r>
              <a:rPr b="0">
                <a:solidFill>
                  <a:srgbClr val="647382"/>
                </a:solidFill>
              </a:rPr>
              <a:t>Maps 19.9% threshold-bunching patterns against contractor IDs to identify recurring bad actors across separate ministries.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CPWD Clause 10CC 85% Rule: </a:t>
            </a:r>
            <a:r>
              <a:rPr b="0">
                <a:solidFill>
                  <a:srgbClr val="647382"/>
                </a:solidFill>
              </a:rPr>
              <a:t>Hardcodes the statutory formula where only 85% of contract value is escalable, checking if contractor demands exceed legal PVC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💰 Module 5: VITTA-VYUHA</a:t>
            </a:r>
          </a:p>
          <a:p>
            <a:pPr>
              <a:spcAft>
                <a:spcPts val="800"/>
              </a:spcAft>
              <a:defRPr sz="1150" b="1">
                <a:solidFill>
                  <a:srgbClr val="007AFF"/>
                </a:solidFill>
              </a:defRPr>
            </a:pPr>
            <a:r>
              <a:t>Prescriptive Capital Allocation (MILP Optimization)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HiGHS MILP Solver: </a:t>
            </a:r>
            <a:r>
              <a:rPr b="0">
                <a:solidFill>
                  <a:srgbClr val="647382"/>
                </a:solidFill>
              </a:rPr>
              <a:t>Solves optimal capital distribution in &lt; 2 seconds based on risk-adjusted completion probability and agency absorptive capacity.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Real Governance Constraints: </a:t>
            </a:r>
            <a:r>
              <a:rPr b="0">
                <a:solidFill>
                  <a:srgbClr val="647382"/>
                </a:solidFill>
              </a:rPr>
              <a:t>Guarantees mandatory regional floors (North-East Region) and respects historical agency peak burn rates.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Interactive 'What-If' Sliders: </a:t>
            </a:r>
            <a:r>
              <a:rPr b="0">
                <a:solidFill>
                  <a:srgbClr val="647382"/>
                </a:solidFill>
              </a:rPr>
              <a:t>Judges drag available capex from ₹10,000 Cr to ₹5,000 Cr on the UI to see the MILP engine re-allocate project funding paths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INNOVATION ACCELERATORS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High-Utility Add-Ons: DPR-Scorer &amp; VARSHA-Speed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📄 Add-On 1: DPR-QUALITY SCORER</a:t>
            </a:r>
          </a:p>
          <a:p>
            <a:pPr>
              <a:spcAft>
                <a:spcPts val="800"/>
              </a:spcAft>
              <a:defRPr sz="1150" b="1">
                <a:solidFill>
                  <a:srgbClr val="FF6500"/>
                </a:solidFill>
              </a:defRPr>
            </a:pPr>
            <a:r>
              <a:t>Pre-Election Rush Solver &amp; Document Scrutiny (NLP)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The Problem: </a:t>
            </a:r>
            <a:r>
              <a:rPr b="0">
                <a:solidFill>
                  <a:srgbClr val="647382"/>
                </a:solidFill>
              </a:rPr>
              <a:t>Projects rushed through sanction in pre-election cycles face a 79.1% delay rate due to flawed, incomplete DPRs.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How It Works: </a:t>
            </a:r>
            <a:r>
              <a:rPr b="0">
                <a:solidFill>
                  <a:srgbClr val="647382"/>
                </a:solidFill>
              </a:rPr>
              <a:t>Localized open-weight LLM (Llama-3/Mistral) parses PDF proposals via offline LangChain pipeline to audit statutory readiness.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Checklist Scanned: </a:t>
            </a:r>
            <a:r>
              <a:rPr b="0">
                <a:solidFill>
                  <a:srgbClr val="647382"/>
                </a:solidFill>
              </a:rPr>
              <a:t>Missing 80% land possession certificates, vague geotechnical/soil test records, unverified environmental clearances.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DPR Score (0–100): </a:t>
            </a:r>
            <a:r>
              <a:rPr b="0">
                <a:solidFill>
                  <a:srgbClr val="647382"/>
                </a:solidFill>
              </a:rPr>
              <a:t>Scores below 60 trigger an instant pre-sanction alert flagging high structural overrun risk before money is spent.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🌧️ Add-On 2: VARSHA-SPEED</a:t>
            </a:r>
          </a:p>
          <a:p>
            <a:pPr>
              <a:spcAft>
                <a:spcPts val="800"/>
              </a:spcAft>
              <a:defRPr sz="1150" b="1">
                <a:solidFill>
                  <a:srgbClr val="007AFF"/>
                </a:solidFill>
              </a:defRPr>
            </a:pPr>
            <a:r>
              <a:t>Weather Working-Window Optimizer (Climate AI)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The Problem: </a:t>
            </a:r>
            <a:r>
              <a:rPr b="0">
                <a:solidFill>
                  <a:srgbClr val="647382"/>
                </a:solidFill>
              </a:rPr>
              <a:t>Indian monsoon weather tightly constrains active construction calendars, but dashboards assume uniform 12-month working windows.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630 IMD State-Years Data: </a:t>
            </a:r>
            <a:r>
              <a:rPr b="0">
                <a:solidFill>
                  <a:srgbClr val="647382"/>
                </a:solidFill>
              </a:rPr>
              <a:t>Integrates historical state-level rainfall departure (% from LPA) to project regional work season contractions.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Dynamic Quarterly Adjustment: </a:t>
            </a:r>
            <a:r>
              <a:rPr b="0">
                <a:solidFill>
                  <a:srgbClr val="647382"/>
                </a:solidFill>
              </a:rPr>
              <a:t>If an Assam highway project faces an extended 25-day monsoon anomaly, the system scales down quarterly progress targets.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The Benefit: </a:t>
            </a:r>
            <a:r>
              <a:rPr b="0">
                <a:solidFill>
                  <a:srgbClr val="647382"/>
                </a:solidFill>
              </a:rPr>
              <a:t>Provides realistic timeline projections aligned with climate reality and prevents false contractual penalties on contractors.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TIER 3 RESEARCH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Modules 6 &amp; 4B: HETU &amp; ARTHA-NETRA (Research &amp; Scenario Labs)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🔬 Module 6: HETU</a:t>
            </a:r>
          </a:p>
          <a:p>
            <a:pPr>
              <a:spcAft>
                <a:spcPts val="800"/>
              </a:spcAft>
              <a:defRPr sz="1150" b="1">
                <a:solidFill>
                  <a:srgbClr val="FF6500"/>
                </a:solidFill>
              </a:defRPr>
            </a:pPr>
            <a:r>
              <a:t>Experimental Policy Scenario Simulator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Scenario Exploration: </a:t>
            </a:r>
            <a:r>
              <a:rPr b="0">
                <a:solidFill>
                  <a:srgbClr val="647382"/>
                </a:solidFill>
              </a:rPr>
              <a:t>Uses Double Machine Learning (DML) architectures to explore counterfactual regulatory levers.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Natural Experiment Identification: </a:t>
            </a:r>
            <a:r>
              <a:rPr b="0">
                <a:solidFill>
                  <a:srgbClr val="647382"/>
                </a:solidFill>
              </a:rPr>
              <a:t>Anchored on the RFCTLARR 2013 Land Act structural break (p = 2.25e-7) and State Election timelines.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Framing for Judges: </a:t>
            </a:r>
            <a:r>
              <a:rPr b="0">
                <a:solidFill>
                  <a:srgbClr val="647382"/>
                </a:solidFill>
              </a:rPr>
              <a:t>Presented as an experimental policy scenario generator with explicit identification assumptions, not unconditional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📈 Module 4B: ARTHA-NETRA</a:t>
            </a:r>
          </a:p>
          <a:p>
            <a:pPr>
              <a:spcAft>
                <a:spcPts val="800"/>
              </a:spcAft>
              <a:defRPr sz="1150" b="1">
                <a:solidFill>
                  <a:srgbClr val="007AFF"/>
                </a:solidFill>
              </a:defRPr>
            </a:pPr>
            <a:r>
              <a:t>PSU Financial Health &amp; Leverage Early-Warning Signal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Early-Warning Signal: </a:t>
            </a:r>
            <a:r>
              <a:rPr b="0">
                <a:solidFill>
                  <a:srgbClr val="647382"/>
                </a:solidFill>
              </a:rPr>
              <a:t>Monitors balance-sheet leverage (Debt-to-Equity) and stock drawdowns across 13 listed PSUs as an additional risk indicator.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Empirical Association: </a:t>
            </a:r>
            <a:r>
              <a:rPr b="0">
                <a:solidFill>
                  <a:srgbClr val="647382"/>
                </a:solidFill>
              </a:rPr>
              <a:t>High-debt PSUs (SJVN D/E 227, NHPC D/E 113) show higher average project revisions than low-debt entities (Coal India D/E 12).</a:t>
            </a:r>
          </a:p>
          <a:p>
            <a:pPr>
              <a:spcAft>
                <a:spcPts val="500"/>
              </a:spcAft>
              <a:defRPr b="1" sz="1050">
                <a:solidFill>
                  <a:srgbClr val="141E2D"/>
                </a:solidFill>
              </a:defRPr>
            </a:pPr>
            <a:r>
              <a:t>• Framing for Judges: </a:t>
            </a:r>
            <a:r>
              <a:rPr b="0">
                <a:solidFill>
                  <a:srgbClr val="647382"/>
                </a:solidFill>
              </a:rPr>
              <a:t>Presented as a financial stress indicator for monitoring queues, explicitly separating correlation from project-level causality.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Empirical Discoveries &amp; Methodological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1. Project Age Effect: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Projects &gt; 12 years old exhibit 64% overrun rates. We control for survivorship bias by stratifying within Land Act and Interest Rate cohorts (used as a statutory 'Sunset Clause' trigger).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7AFF"/>
                </a:solidFill>
              </a:defRPr>
            </a:pPr>
            <a:r>
              <a:t>2. Contractor Experience Effect: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Companies managing 5+ simultaneous projects show lower overrun rates (rho = -0.455), reflecting institutional capability and capital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74C3C"/>
                </a:solidFill>
              </a:defRPr>
            </a:pPr>
            <a:r>
              <a:t>3. State Governance Variation: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States exhibit distinct structural delay rates (e.g. Punjab 69%, Gujarat 66% vs North-Eastern states), driven by land acquisition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6500"/>
                </a:solidFill>
              </a:defRPr>
            </a:pPr>
            <a:r>
              <a:t>4. ₹1,000–5,000 Cr Monitoring Gap: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Worst overrun rate (41.4%) occurs in mid-tier mega projects — too large for routine inspection, too small for apex PMO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E62"/>
                </a:solidFill>
              </a:defRPr>
            </a:pPr>
            <a:r>
              <a:t>5. Pre-Election Rush Delay Penalty:</a:t>
            </a:r>
          </a:p>
          <a:p>
            <a:pPr>
              <a:defRPr sz="1050">
                <a:solidFill>
                  <a:srgbClr val="141E2D"/>
                </a:solidFill>
              </a:defRPr>
            </a:pPr>
            <a:r>
              <a:t>Projects approved in pre-election rush periods face a 79.1% delay rate due to premature DPRs and pending land possession.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The Winning 3-Minute Live Demo: One Project, One Chain of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⏱️ 0:00 - 0:25  •  THE HOOK &amp; REPORTED STATUS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Open on Western Dedicated Freight Corridor (WDFC). 'Official portal reports 74% progress with completion targeted for Dec 2026 at ₹51,101 Cr.'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12848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74C3C"/>
                </a:solidFill>
              </a:defRPr>
            </a:pPr>
            <a:r>
              <a:t>⏱️ 0:25 - 0:55  •  INDEPENDENT EO VERIFICATION (PRATIBIMB)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Split screen with Sentinel-2 satellite differencing. 'Independent Earth-Observation shows surface footprint activity at only 31%, generating a 43-point divergence alert for field verification.'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54096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6500"/>
                </a:solidFill>
              </a:defRPr>
            </a:pPr>
            <a:r>
              <a:t>⏱️ 0:55 - 1:25  •  PROBABILISTIC FORECAST (KAAL-CHAKRA)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Render RCF survival fan chart. 'Historical reference class indicates the official target sits at the 4th percentile. Estimated completion probability by deadline is &lt; 18%.'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95344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68496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FF"/>
                </a:solidFill>
              </a:defRPr>
            </a:pPr>
            <a:r>
              <a:t>⏱️ 1:25 - 1:55  •  SYSTEMIC CONTAGION (SETU-GRAPH)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Interactive network ripple. 'This delay does not stay isolated. Rail bottleneck creates an estimated ₹8,420 Cr downstream economic exposure across 4 connected thermal plants.'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36592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974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E62"/>
                </a:solidFill>
              </a:defRPr>
            </a:pPr>
            <a:r>
              <a:t>⏱️ 1:55 - 2:25  •  PRESCRIBED ACTION (VITTA-VYUHA)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Run MILP optimizer with interactive slider. 'Given available capex, VITTA-VYUHA reallocates ₹10,000 Cr under regional equity floors to unblock critical path milestones.'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ECC71"/>
                </a:solidFill>
              </a:defRPr>
            </a:pPr>
            <a:r>
              <a:t>⏱️ 2:25 - 3:00  •  GOVERNED BRIEFING &amp; CLOSING (PRAGATI-SAARTHI)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Generate official PDF briefing note with clickable SQL data lineage and QR code. Closing: 'PAIMANA built the national data foundation; PRAKALP-DRISHTI turns that foundation into foresight and action.'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10-Day Team Sprint: Clear, Scoped Work Allocation (6 Members)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Members 1 &amp; 2 — Backend &amp; Data Pipeline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FastAPI backend, TimescaleDB schema, DuckDB-WASM Parquet export. Serve all 2,207 project records with sub-50ms query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Member 3 — Earth Observation (PRATIBIMB)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Pre-compute Sentinel-1 SAR and Sentinel-2 optical change index for 5–10 flagged case-study projects using Google Earth Engine / STAC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Member 4 — Integrity &amp; Statistics (SATYA-KAVACH)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McCrary 20% threshold bunching density test and CPWD Clause 10CC 85% statutory escalation verification algorithm.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Member 5 — Forecasting &amp; Optimization (KAAL-CHAKRA &amp; VITTA-VYUHA)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lifelines survival curves for P10/P50/P80 fan charts + HiGHS MILP solver script for constrained capital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B192C"/>
                </a:solidFill>
              </a:defRPr>
            </a:pPr>
            <a:r>
              <a:t>Member 6 — Frontend Cockpit &amp; Briefing Drafter (PRAGATI-SAARTHI)</a:t>
            </a:r>
          </a:p>
          <a:p>
            <a:pPr>
              <a:defRPr sz="1050">
                <a:solidFill>
                  <a:srgbClr val="647382"/>
                </a:solidFill>
              </a:defRPr>
            </a:pPr>
            <a:r>
              <a:t>Next.js dashboard, MapLibre GL map, deck.gl dependency graph, and LangGraph PDF briefing generator with clickable SQL lineage.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PRAKALP-DRISHTI | SIH 2026 MASTER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</a:defRPr>
            </a:pPr>
            <a:r>
              <a:t>Jury Room Defense: The 6 Key Questions &amp; Defensible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Q1: 'How is this different from PAIMANA?'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PAIMANA consolidates project reporting; PRAKALP-DRISHTI adds predictive risk distributions, independent EO verification, systemic contagion modeling, and prescriptive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12848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Q2: 'Does satellite imagery prove ground truth?'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It provides an independent evidence signal that detects reported-vs-observed divergence to prioritize high-risk sites for field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54096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Q3: 'Why should government trust your ML?'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Every forecast is accompanied by empirical reference classes, confidence intervals (P10-P95), and clickable SQL data lineage on all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95344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68496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Q4: 'What happens if your model is wrong?'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The system does not execute automated actions; it ranks risks and provides evidence-backed recommendations for the authorized officer to decide.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36592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974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Q5: 'How does it scale on NIC MeghRaj servers?'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Decoupled architecture using DuckDB-WASM and Parquet streaming directly in browser (&lt;15 MB payload, zero server-side query lag).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6984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500"/>
                </a:solidFill>
              </a:defRPr>
            </a:pPr>
            <a:r>
              <a:t>Q6: 'Are you claiming fraud with the 20% bunching test?'</a:t>
            </a:r>
          </a:p>
          <a:p>
            <a:pPr>
              <a:defRPr sz="950">
                <a:solidFill>
                  <a:srgbClr val="141E2D"/>
                </a:solidFill>
              </a:defRPr>
            </a:pPr>
            <a:r>
              <a:t>Answer: We report statistically significant threshold-avoidance bunching behavior (p &lt; 0.001) as an audit recommendation trigger, not a legal accusation.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THE 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Winning Vision: Transforming Data into Foresight &amp;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b="1" sz="1350">
                <a:solidFill>
                  <a:srgbClr val="F1C40F"/>
                </a:solidFill>
              </a:defRPr>
            </a:pPr>
            <a:r>
              <a:t>✨  1. Clear Strategic Positioning: </a:t>
            </a:r>
          </a:p>
          <a:p>
            <a:pPr>
              <a:spcAft>
                <a:spcPts val="1000"/>
              </a:spcAft>
              <a:defRPr sz="1150">
                <a:solidFill>
                  <a:srgbClr val="FFFFFF"/>
                </a:solidFill>
              </a:defRPr>
            </a:pPr>
            <a:r>
              <a:t>     We don't replace PAIMANA — we turn its data into predictive foresight, independent verification, and decision intelligence.</a:t>
            </a:r>
          </a:p>
          <a:p>
            <a:pPr>
              <a:spcAft>
                <a:spcPts val="200"/>
              </a:spcAft>
              <a:defRPr b="1" sz="1350">
                <a:solidFill>
                  <a:srgbClr val="F1C40F"/>
                </a:solidFill>
              </a:defRPr>
            </a:pPr>
            <a:r>
              <a:t>✨  2. Defensible Chain of Evidence: </a:t>
            </a:r>
          </a:p>
          <a:p>
            <a:pPr>
              <a:spcAft>
                <a:spcPts val="1000"/>
              </a:spcAft>
              <a:defRPr sz="1150">
                <a:solidFill>
                  <a:srgbClr val="FFFFFF"/>
                </a:solidFill>
              </a:defRPr>
            </a:pPr>
            <a:r>
              <a:t>     One linear narrative: Reported Status ➜ Probabilistic Risk ➜ Satellite Verification ➜ Systemic Contagion ➜ Recommended Decision.</a:t>
            </a:r>
          </a:p>
          <a:p>
            <a:pPr>
              <a:spcAft>
                <a:spcPts val="200"/>
              </a:spcAft>
              <a:defRPr b="1" sz="1350">
                <a:solidFill>
                  <a:srgbClr val="F1C40F"/>
                </a:solidFill>
              </a:defRPr>
            </a:pPr>
            <a:r>
              <a:t>✨  3. Government-Grade Trust &amp; Lineage: </a:t>
            </a:r>
          </a:p>
          <a:p>
            <a:pPr>
              <a:spcAft>
                <a:spcPts val="1000"/>
              </a:spcAft>
              <a:defRPr sz="1150">
                <a:solidFill>
                  <a:srgbClr val="FFFFFF"/>
                </a:solidFill>
              </a:defRPr>
            </a:pPr>
            <a:r>
              <a:t>     Deterministic calculations, CPWD Clause 10CC statutory math, and clickable SQL lineage tokens on every output.</a:t>
            </a:r>
          </a:p>
          <a:p>
            <a:pPr>
              <a:spcAft>
                <a:spcPts val="200"/>
              </a:spcAft>
              <a:defRPr b="1" sz="1350">
                <a:solidFill>
                  <a:srgbClr val="F1C40F"/>
                </a:solidFill>
              </a:defRPr>
            </a:pPr>
            <a:r>
              <a:t>✨  4. Scoped for Flawless Execution: </a:t>
            </a:r>
          </a:p>
          <a:p>
            <a:pPr>
              <a:spcAft>
                <a:spcPts val="1000"/>
              </a:spcAft>
              <a:defRPr sz="1150">
                <a:solidFill>
                  <a:srgbClr val="FFFFFF"/>
                </a:solidFill>
              </a:defRPr>
            </a:pPr>
            <a:r>
              <a:t>     5 core working modules in Tier 1, backed by 100% source-traceable real datasets across 2,207 project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