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444752"/>
            <a:ext cx="5989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3300" b="1">
                <a:solidFill>
                  <a:srgbClr val="0B2545"/>
                </a:solidFill>
                <a:latin typeface="Segoe UI"/>
              </a:rPr>
              <a:t>PRAKALP</a:t>
            </a:r>
            <a:r>
              <a:rPr sz="3300" b="1">
                <a:solidFill>
                  <a:srgbClr val="E8871E"/>
                </a:solidFill>
                <a:latin typeface="Segoe UI"/>
              </a:rPr>
              <a:t>-</a:t>
            </a:r>
            <a:r>
              <a:rPr sz="3300" b="1">
                <a:solidFill>
                  <a:srgbClr val="0B2545"/>
                </a:solidFill>
                <a:latin typeface="Segoe UI"/>
              </a:rPr>
              <a:t>DRISHTI</a:t>
            </a:r>
            <a:endParaRPr lang="en-US" dirty="0"/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E8871E"/>
                </a:solidFill>
                <a:latin typeface="Segoe UI"/>
              </a:rPr>
              <a:t>प्रकल्प-दृष्टि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</a:pPr>
            <a:r>
              <a:rPr sz="1150" b="0" i="0">
                <a:solidFill>
                  <a:srgbClr val="5B6B7F"/>
                </a:solidFill>
                <a:latin typeface="Segoe UI"/>
              </a:rPr>
              <a:t>Predictive, physically-verified and prescriptive decision intelligence for India's Central Sector infrastructure portfolio.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B2545"/>
                </a:solidFill>
                <a:latin typeface="Segoe UI"/>
              </a:rPr>
              <a:t>Problem Statement ID — </a:t>
            </a:r>
            <a:r>
              <a:rPr sz="1150" b="0">
                <a:solidFill>
                  <a:srgbClr val="22303F"/>
                </a:solidFill>
                <a:latin typeface="Segoe UI"/>
              </a:rPr>
              <a:t>SIH26103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B2545"/>
                </a:solidFill>
                <a:latin typeface="Segoe UI"/>
              </a:rPr>
              <a:t>Problem Statement Title — </a:t>
            </a:r>
            <a:r>
              <a:rPr sz="1150" b="0">
                <a:solidFill>
                  <a:srgbClr val="22303F"/>
                </a:solidFill>
                <a:latin typeface="Segoe UI"/>
              </a:rPr>
              <a:t>Use case on web-based integrated project-monitoring platform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B2545"/>
                </a:solidFill>
                <a:latin typeface="Segoe UI"/>
              </a:rPr>
              <a:t>Theme — </a:t>
            </a:r>
            <a:r>
              <a:rPr sz="1150" b="0">
                <a:solidFill>
                  <a:srgbClr val="22303F"/>
                </a:solidFill>
                <a:latin typeface="Segoe UI"/>
              </a:rPr>
              <a:t>Smart Automation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B2545"/>
                </a:solidFill>
                <a:latin typeface="Segoe UI"/>
              </a:rPr>
              <a:t>PS Category — </a:t>
            </a:r>
            <a:r>
              <a:rPr sz="1150" b="0">
                <a:solidFill>
                  <a:srgbClr val="22303F"/>
                </a:solidFill>
                <a:latin typeface="Segoe UI"/>
              </a:rPr>
              <a:t>Software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B2545"/>
                </a:solidFill>
                <a:latin typeface="Segoe UI"/>
              </a:rPr>
              <a:t>Team ID — </a:t>
            </a:r>
            <a:r>
              <a:rPr sz="1150" b="0">
                <a:solidFill>
                  <a:srgbClr val="22303F"/>
                </a:solidFill>
                <a:latin typeface="Segoe UI"/>
              </a:rPr>
              <a:t>[TEAM ID]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B2545"/>
                </a:solidFill>
                <a:latin typeface="Segoe UI"/>
              </a:rPr>
              <a:t>Team Name — </a:t>
            </a:r>
            <a:r>
              <a:rPr sz="1150" b="0">
                <a:solidFill>
                  <a:srgbClr val="22303F"/>
                </a:solidFill>
                <a:latin typeface="Segoe UI"/>
              </a:rPr>
              <a:t>[TEAM NAME — as registered on portal]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384048" y="5760720"/>
            <a:ext cx="598932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2545"/>
                </a:solidFill>
                <a:latin typeface="Segoe UI"/>
              </a:rPr>
              <a:t>2,207</a:t>
            </a:r>
            <a:r>
              <a:rPr sz="1000" b="0">
                <a:solidFill>
                  <a:srgbClr val="5B6B7F"/>
                </a:solidFill>
                <a:latin typeface="Segoe UI"/>
              </a:rPr>
              <a:t> projects  ·  </a:t>
            </a:r>
            <a:r>
              <a:rPr sz="1000" b="1">
                <a:solidFill>
                  <a:srgbClr val="0B2545"/>
                </a:solidFill>
                <a:latin typeface="Segoe UI"/>
              </a:rPr>
              <a:t>₹47.44</a:t>
            </a:r>
            <a:r>
              <a:rPr sz="1000" b="0">
                <a:solidFill>
                  <a:srgbClr val="5B6B7F"/>
                </a:solidFill>
                <a:latin typeface="Segoe UI"/>
              </a:rPr>
              <a:t> Lakh Cr  ·  </a:t>
            </a:r>
            <a:r>
              <a:rPr sz="1000" b="0">
                <a:solidFill>
                  <a:srgbClr val="5B6B7F"/>
                </a:solidFill>
                <a:latin typeface="Segoe UI"/>
              </a:rPr>
              <a:t>Ministry of Statistics &amp; Programme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3200" b="1">
                <a:solidFill>
                  <a:srgbClr val="0B2545"/>
                </a:solidFill>
                <a:latin typeface="Segoe UI"/>
              </a:rPr>
              <a:t>PRAKALP-DRISHTI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Segoe UI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384048" y="1115568"/>
            <a:ext cx="11411712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Half of India's project delay is invisible to the dashboard that monitors it.</a:t>
            </a:r>
            <a:r>
              <a:rPr sz="1250" b="0">
                <a:solidFill>
                  <a:srgbClr val="C9D6E4"/>
                </a:solidFill>
                <a:latin typeface="Segoe UI"/>
              </a:rPr>
              <a:t>   We measured it — and built the layer that ends it.</a:t>
            </a:r>
          </a:p>
        </p:txBody>
      </p:sp>
      <p:pic>
        <p:nvPicPr>
          <p:cNvPr id="15363" name="Picture 15362" descr="chart_camoufl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737360"/>
            <a:ext cx="5961888" cy="2065834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384048" y="3877056"/>
            <a:ext cx="5961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1">
                <a:solidFill>
                  <a:srgbClr val="5B6B7F"/>
                </a:solidFill>
                <a:latin typeface="Segoe UI"/>
              </a:rPr>
              <a:t>When a deadline slips it is formally revised — and the project resets to "on schedule". Recomputed against the original Cabinet-approved date on the 2,207-project MoSPI corpus.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528816" y="1737360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871E"/>
                </a:solidFill>
                <a:latin typeface="Segoe UI"/>
              </a:rPr>
              <a:t>PROPOSED SOLUTION  —  A DECISION LAYER OVER PAIMANA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528816" y="1956816"/>
            <a:ext cx="52852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>
                <a:solidFill>
                  <a:srgbClr val="E8871E"/>
                </a:solidFill>
                <a:latin typeface="Segoe UI"/>
              </a:rPr>
              <a:t>1. </a:t>
            </a:r>
            <a:r>
              <a:rPr sz="980" b="1">
                <a:solidFill>
                  <a:srgbClr val="0B2545"/>
                </a:solidFill>
                <a:latin typeface="Segoe UI"/>
              </a:rPr>
              <a:t>KAAL-CHAKRA — </a:t>
            </a:r>
            <a:r>
              <a:rPr sz="980" b="0">
                <a:solidFill>
                  <a:srgbClr val="22303F"/>
                </a:solidFill>
                <a:latin typeface="Segoe UI"/>
              </a:rPr>
              <a:t>completion as a calibrated P10–P95 band, not a promised date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>
                <a:solidFill>
                  <a:srgbClr val="E8871E"/>
                </a:solidFill>
                <a:latin typeface="Segoe UI"/>
              </a:rPr>
              <a:t>2. </a:t>
            </a:r>
            <a:r>
              <a:rPr sz="980" b="1">
                <a:solidFill>
                  <a:srgbClr val="0B2545"/>
                </a:solidFill>
                <a:latin typeface="Segoe UI"/>
              </a:rPr>
              <a:t>SETU-GRAPH — </a:t>
            </a:r>
            <a:r>
              <a:rPr sz="980" b="0">
                <a:solidFill>
                  <a:srgbClr val="22303F"/>
                </a:solidFill>
                <a:latin typeface="Segoe UI"/>
              </a:rPr>
              <a:t>cross-ministry dependency DAG; slack-absorbed vs propagating delay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>
                <a:solidFill>
                  <a:srgbClr val="E8871E"/>
                </a:solidFill>
                <a:latin typeface="Segoe UI"/>
              </a:rPr>
              <a:t>3. </a:t>
            </a:r>
            <a:r>
              <a:rPr sz="980" b="1">
                <a:solidFill>
                  <a:srgbClr val="0B2545"/>
                </a:solidFill>
                <a:latin typeface="Segoe UI"/>
              </a:rPr>
              <a:t>VITTA-VYUHA — </a:t>
            </a:r>
            <a:r>
              <a:rPr sz="980" b="0">
                <a:solidFill>
                  <a:srgbClr val="22303F"/>
                </a:solidFill>
                <a:latin typeface="Segoe UI"/>
              </a:rPr>
              <a:t>capital allocation as a stochastic LP under the 10% NER floor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>
                <a:solidFill>
                  <a:srgbClr val="E8871E"/>
                </a:solidFill>
                <a:latin typeface="Segoe UI"/>
              </a:rPr>
              <a:t>4. </a:t>
            </a:r>
            <a:r>
              <a:rPr sz="980" b="1">
                <a:solidFill>
                  <a:srgbClr val="0B2545"/>
                </a:solidFill>
                <a:latin typeface="Segoe UI"/>
              </a:rPr>
              <a:t>PRATIBIMB / KAAL-DARPAN — </a:t>
            </a:r>
            <a:r>
              <a:rPr sz="980" b="0">
                <a:solidFill>
                  <a:srgbClr val="22303F"/>
                </a:solidFill>
                <a:latin typeface="Segoe UI"/>
              </a:rPr>
              <a:t>dated satellite epochs bound to statutory progress reports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>
                <a:solidFill>
                  <a:srgbClr val="E8871E"/>
                </a:solidFill>
                <a:latin typeface="Segoe UI"/>
              </a:rPr>
              <a:t>5. </a:t>
            </a:r>
            <a:r>
              <a:rPr sz="980" b="1">
                <a:solidFill>
                  <a:srgbClr val="0B2545"/>
                </a:solidFill>
                <a:latin typeface="Segoe UI"/>
              </a:rPr>
              <a:t>PRAGATI-SAARTHI — </a:t>
            </a:r>
            <a:r>
              <a:rPr sz="980" b="0">
                <a:solidFill>
                  <a:srgbClr val="22303F"/>
                </a:solidFill>
                <a:latin typeface="Segoe UI"/>
              </a:rPr>
              <a:t>bilingual briefings; every figure carries a Merkle proof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6528816" y="3163824"/>
            <a:ext cx="5285232" cy="1152144"/>
          </a:xfrm>
          <a:prstGeom prst="rect">
            <a:avLst/>
          </a:prstGeom>
          <a:solidFill>
            <a:srgbClr val="FDF3E6"/>
          </a:solidFill>
          <a:ln w="11430">
            <a:solidFill>
              <a:srgbClr val="E88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60" b="1" i="0">
                <a:solidFill>
                  <a:srgbClr val="8A4B00"/>
                </a:solidFill>
                <a:latin typeface="Segoe UI"/>
              </a:rPr>
              <a:t>FLAGSHIP CASE  —  WESTERN DEDICATED FREIGHT CORRIDOR (ID 705237)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E8871E"/>
                </a:solidFill>
                <a:latin typeface="Segoe UI"/>
              </a:rPr>
              <a:t>▸ </a:t>
            </a:r>
            <a:r>
              <a:rPr sz="800" b="1">
                <a:solidFill>
                  <a:srgbClr val="22303F"/>
                </a:solidFill>
                <a:latin typeface="Segoe UI"/>
              </a:rPr>
              <a:t>Sanctioned Feb 2008</a:t>
            </a:r>
            <a:r>
              <a:rPr sz="800" b="0">
                <a:solidFill>
                  <a:srgbClr val="5B6B7F"/>
                </a:solidFill>
                <a:latin typeface="Segoe UI"/>
              </a:rPr>
              <a:t> — original completion 31 Mar 2022, since revised to 31 Dec 2025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E8871E"/>
                </a:solidFill>
                <a:latin typeface="Segoe UI"/>
              </a:rPr>
              <a:t>▸ </a:t>
            </a:r>
            <a:r>
              <a:rPr sz="800" b="1">
                <a:solidFill>
                  <a:srgbClr val="22303F"/>
                </a:solidFill>
                <a:latin typeface="Segoe UI"/>
              </a:rPr>
              <a:t>Cost ₹51,101 Cr → ₹1,24,005 Cr</a:t>
            </a:r>
            <a:r>
              <a:rPr sz="800" b="0">
                <a:solidFill>
                  <a:srgbClr val="5B6B7F"/>
                </a:solidFill>
                <a:latin typeface="Segoe UI"/>
              </a:rPr>
              <a:t> — an escalation of ₹72,904 Cr (+142.7%)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E8871E"/>
                </a:solidFill>
                <a:latin typeface="Segoe UI"/>
              </a:rPr>
              <a:t>▸ </a:t>
            </a:r>
            <a:r>
              <a:rPr sz="800" b="1">
                <a:solidFill>
                  <a:srgbClr val="22303F"/>
                </a:solidFill>
                <a:latin typeface="Segoe UI"/>
              </a:rPr>
              <a:t>Reports 96% physical progress</a:t>
            </a:r>
            <a:r>
              <a:rPr sz="800" b="0">
                <a:solidFill>
                  <a:srgbClr val="5B6B7F"/>
                </a:solidFill>
                <a:latin typeface="Segoe UI"/>
              </a:rPr>
              <a:t> — while the official completion date has moved 45 months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E8871E"/>
                </a:solidFill>
                <a:latin typeface="Segoe UI"/>
              </a:rPr>
              <a:t>▸ </a:t>
            </a:r>
            <a:r>
              <a:rPr sz="800" b="1">
                <a:solidFill>
                  <a:srgbClr val="22303F"/>
                </a:solidFill>
                <a:latin typeface="Segoe UI"/>
              </a:rPr>
              <a:t>Model output</a:t>
            </a:r>
            <a:r>
              <a:rPr sz="800" b="0">
                <a:solidFill>
                  <a:srgbClr val="5B6B7F"/>
                </a:solidFill>
                <a:latin typeface="Segoe UI"/>
              </a:rPr>
              <a:t> — 7.3% probability the original Cabinet target was ever achievable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384048" y="4370832"/>
            <a:ext cx="3648456" cy="188366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5486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80" b="1" i="0">
                <a:solidFill>
                  <a:srgbClr val="0B2545"/>
                </a:solidFill>
                <a:latin typeface="Segoe UI"/>
              </a:rPr>
              <a:t>HOW IT ADDRESSES THE PROBLEM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0B2545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Restores the original baseline as the yardstick — recovers 629 hidden projects worth ₹14.60 L Cr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0B2545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Replaces a single deterministic date with an interval an officer can actually provision against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0B2545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Adds independent physical corroboration wherever optical imagery can genuinely see the work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0B2545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Turns "which project is worst" into "where does the next ₹1 Cr buy the most completion"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4233672" y="4370832"/>
            <a:ext cx="3648456" cy="188366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5486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80" b="1" i="0">
                <a:solidFill>
                  <a:srgbClr val="1D4E7A"/>
                </a:solidFill>
                <a:latin typeface="Segoe UI"/>
              </a:rPr>
              <a:t>INNOVATION &amp; UNIQUENESS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Rebaselining-aware delay accounting — a metric no monitoring dashboard currently computes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Evidence verdicts, never a satellite "completion %": surface change vs reported progress correlates at r = 0.007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Corpus sealed as an RFC 6962 Merkle root; every briefing number is independently verifiable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Runs air-gapped by default — the sovereign configuration is the one with no outbound calls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8083296" y="4370832"/>
            <a:ext cx="3648456" cy="188366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 bIns="54864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80" b="1" i="0">
                <a:solidFill>
                  <a:srgbClr val="7A1E22"/>
                </a:solidFill>
                <a:latin typeface="Segoe UI"/>
              </a:rPr>
              <a:t>WHAT WE REFUSE TO CLAIM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7A1E22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Sub-metre change detection — measured GSD is 2.08–2.35 m/px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7A1E22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NDVI / NDBI / NDWI — the basemap carries RGB only; no NIR or SWIR band exists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7A1E22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A "fine-tuned" Prithvi model — no labelled Indian construction-stage corpus exists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00" b="0">
                <a:solidFill>
                  <a:srgbClr val="7A1E22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MILP — every decision variable is continuous, so it is an LP and is named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Segoe UI"/>
              </a:rPr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84048" y="1060704"/>
            <a:ext cx="11411712" cy="40233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One read seam, five engines, and a proof on every number.</a:t>
            </a:r>
            <a:r>
              <a:rPr sz="1200" b="0">
                <a:solidFill>
                  <a:srgbClr val="C9D6E4"/>
                </a:solidFill>
                <a:latin typeface="Segoe UI"/>
              </a:rPr>
              <a:t>   Postgres writes · pandas reads · Merkle signs.</a:t>
            </a:r>
          </a:p>
        </p:txBody>
      </p:sp>
      <p:pic>
        <p:nvPicPr>
          <p:cNvPr id="17411" name="Picture 17410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1554480"/>
            <a:ext cx="9235440" cy="4036443"/>
          </a:xfrm>
          <a:prstGeom prst="rect">
            <a:avLst/>
          </a:prstGeom>
        </p:spPr>
      </p:pic>
      <p:sp>
        <p:nvSpPr>
          <p:cNvPr id="17412" name="Rectangle 17411"/>
          <p:cNvSpPr/>
          <p:nvPr/>
        </p:nvSpPr>
        <p:spPr>
          <a:xfrm>
            <a:off x="384048" y="5614416"/>
            <a:ext cx="11411712" cy="640080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54864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90" b="1">
                <a:solidFill>
                  <a:srgbClr val="E8871E"/>
                </a:solidFill>
                <a:latin typeface="Segoe UI"/>
              </a:rPr>
              <a:t>STACK   </a:t>
            </a:r>
            <a:r>
              <a:rPr sz="890" b="0">
                <a:solidFill>
                  <a:srgbClr val="22303F"/>
                </a:solidFill>
                <a:latin typeface="Segoe UI"/>
              </a:rPr>
              <a:t>Python 3 · FastAPI · pandas / NumPy · SciPy (L-BFGS-B, HiGHS) · scikit-learn · NetworkX · OpenCV · Pillow · scikit-image · React 18 + Vite · Leaflet · Recharts · Supabase PostgreSQL (ap-south-1) · pytest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E8871E"/>
                </a:solidFill>
                <a:latin typeface="Segoe UI"/>
              </a:rPr>
              <a:t>METHOD   </a:t>
            </a:r>
            <a:r>
              <a:rPr sz="890" b="0">
                <a:solidFill>
                  <a:srgbClr val="22303F"/>
                </a:solidFill>
                <a:latin typeface="Segoe UI"/>
              </a:rPr>
              <a:t>Censored-MLE AFT with CV-selected shrinkage → split-conformal calibration → Tarjan/Max-Plus float algebra → HiGHS simplex with CVaR₉₀ → RRN-normalised dual-epoch optical differencing → RFC 6962 Merkle attestation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Segoe UI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84048" y="1060704"/>
            <a:ext cx="11411712" cy="40233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This is not a proposal — it is running.</a:t>
            </a:r>
            <a:r>
              <a:rPr sz="1200" b="0">
                <a:solidFill>
                  <a:srgbClr val="C9D6E4"/>
                </a:solidFill>
                <a:latin typeface="Segoe UI"/>
              </a:rPr>
              <a:t>   87 endpoints, 476/476 assertions green in CI, on the real 2,207-project corpus.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84048" y="1572768"/>
            <a:ext cx="2121408" cy="106070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t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0B2545"/>
                </a:solidFill>
                <a:latin typeface="Segoe UI"/>
              </a:rPr>
              <a:t>2,207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B6B7F"/>
                </a:solidFill>
                <a:latin typeface="Segoe UI"/>
              </a:rPr>
              <a:t>projects, sealed as a
Merkle root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2688336" y="1572768"/>
            <a:ext cx="2121408" cy="106070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t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D4E7A"/>
                </a:solidFill>
                <a:latin typeface="Segoe UI"/>
              </a:rPr>
              <a:t>93.3%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B6B7F"/>
                </a:solidFill>
                <a:latin typeface="Segoe UI"/>
              </a:rPr>
              <a:t>measured conformal
coverage (450 held-out)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992624" y="1572768"/>
            <a:ext cx="2121408" cy="106070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t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D4E7A"/>
                </a:solidFill>
                <a:latin typeface="Segoe UI"/>
              </a:rPr>
              <a:t>476/476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B6B7F"/>
                </a:solidFill>
                <a:latin typeface="Segoe UI"/>
              </a:rPr>
              <a:t>assertions, 19 suites,
enforced in CI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7296912" y="1572768"/>
            <a:ext cx="2121408" cy="106070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t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D4E7A"/>
                </a:solidFill>
                <a:latin typeface="Segoe UI"/>
              </a:rPr>
              <a:t>12.2%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B6B7F"/>
                </a:solidFill>
                <a:latin typeface="Segoe UI"/>
              </a:rPr>
              <a:t>MAE lift over the
sector-mean baseline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9601200" y="1572768"/>
            <a:ext cx="2121408" cy="106070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2296" tIns="6400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B7F4C"/>
                </a:solidFill>
                <a:latin typeface="Segoe UI"/>
              </a:rPr>
              <a:t>27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B6B7F"/>
                </a:solidFill>
                <a:latin typeface="Segoe UI"/>
              </a:rPr>
              <a:t>dated satellite epochs
resolved, 5 corridors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2798064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871E"/>
                </a:solidFill>
                <a:latin typeface="Segoe UI"/>
              </a:rPr>
              <a:t>WORKING PROTOTYPE  —  LIVE PUBLIC TRANSPARENCY PORTAL</a:t>
            </a:r>
          </a:p>
        </p:txBody>
      </p:sp>
      <p:pic>
        <p:nvPicPr>
          <p:cNvPr id="17417" name="Picture 17416" descr="nagrik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017520"/>
            <a:ext cx="5394960" cy="236029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84048" y="5468112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B6B7F"/>
                </a:solidFill>
                <a:latin typeface="Segoe UI"/>
              </a:rPr>
              <a:t>RTI §4(1)(b) citizen view. Schedule deviation is reported against the original target, and site coordinates are redacted for critical national infrastructure.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053328" y="2798064"/>
            <a:ext cx="5760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871E"/>
                </a:solidFill>
                <a:latin typeface="Segoe UI"/>
              </a:rPr>
              <a:t>CHALLENGES, RISKS AND HOW EACH IS HANDLED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053328" y="3017520"/>
            <a:ext cx="5742432" cy="731520"/>
          </a:xfrm>
          <a:prstGeom prst="rect">
            <a:avLst/>
          </a:prstGeom>
          <a:solidFill>
            <a:srgbClr val="F7F9FB"/>
          </a:solidFill>
          <a:ln w="7620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1272D"/>
                </a:solidFill>
                <a:latin typeface="Segoe UI"/>
              </a:rPr>
              <a:t>RISK   </a:t>
            </a:r>
            <a:r>
              <a:rPr sz="819" b="1">
                <a:solidFill>
                  <a:srgbClr val="22303F"/>
                </a:solidFill>
                <a:latin typeface="Segoe UI"/>
              </a:rPr>
              <a:t>Optical imagery cannot see tunnels, interiors or underground 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B7F4C"/>
                </a:solidFill>
                <a:latin typeface="Segoe UI"/>
              </a:rPr>
              <a:t>→ </a:t>
            </a:r>
            <a:r>
              <a:rPr sz="770" b="0">
                <a:solidFill>
                  <a:srgbClr val="22303F"/>
                </a:solidFill>
                <a:latin typeface="Segoe UI"/>
              </a:rPr>
              <a:t>The engine returns SENSOR_CANNOT_RESOLVE instead of a verdict. Sector and name tokens gate this before any comparison runs.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053328" y="3813048"/>
            <a:ext cx="5742432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1272D"/>
                </a:solidFill>
                <a:latin typeface="Segoe UI"/>
              </a:rPr>
              <a:t>RISK   </a:t>
            </a:r>
            <a:r>
              <a:rPr sz="819" b="1">
                <a:solidFill>
                  <a:srgbClr val="22303F"/>
                </a:solidFill>
                <a:latin typeface="Segoe UI"/>
              </a:rPr>
              <a:t>Only 7.4% of the corpus has an observed completion (160 of 2,148)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B7F4C"/>
                </a:solidFill>
                <a:latin typeface="Segoe UI"/>
              </a:rPr>
              <a:t>→ </a:t>
            </a:r>
            <a:r>
              <a:rPr sz="770" b="0">
                <a:solidFill>
                  <a:srgbClr val="22303F"/>
                </a:solidFill>
                <a:latin typeface="Segoe UI"/>
              </a:rPr>
              <a:t>Right-censored MLE uses the 1,988 unfinished projects as evidence rather than discarding them; each group publishes its event count and a prior-dominated tag.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053328" y="4608576"/>
            <a:ext cx="5742432" cy="731520"/>
          </a:xfrm>
          <a:prstGeom prst="rect">
            <a:avLst/>
          </a:prstGeom>
          <a:solidFill>
            <a:srgbClr val="F7F9FB"/>
          </a:solidFill>
          <a:ln w="7620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1272D"/>
                </a:solidFill>
                <a:latin typeface="Segoe UI"/>
              </a:rPr>
              <a:t>RISK   </a:t>
            </a:r>
            <a:r>
              <a:rPr sz="819" b="1">
                <a:solidFill>
                  <a:srgbClr val="22303F"/>
                </a:solidFill>
                <a:latin typeface="Segoe UI"/>
              </a:rPr>
              <a:t>Satellite change does not track reported progress (r = 0.007)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B7F4C"/>
                </a:solidFill>
                <a:latin typeface="Segoe UI"/>
              </a:rPr>
              <a:t>→ </a:t>
            </a:r>
            <a:r>
              <a:rPr sz="770" b="0">
                <a:solidFill>
                  <a:srgbClr val="22303F"/>
                </a:solidFill>
                <a:latin typeface="Segoe UI"/>
              </a:rPr>
              <a:t>So no completion % is ever derived from imagery. The output is an evidence verdict that asks for inspection, never an accusation.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053328" y="5404104"/>
            <a:ext cx="5742432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C1272D"/>
                </a:solidFill>
                <a:latin typeface="Segoe UI"/>
              </a:rPr>
              <a:t>RISK   </a:t>
            </a:r>
            <a:r>
              <a:rPr sz="819" b="1">
                <a:solidFill>
                  <a:srgbClr val="22303F"/>
                </a:solidFill>
                <a:latin typeface="Segoe UI"/>
              </a:rPr>
              <a:t>A cloud LLM would send project data off the network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B7F4C"/>
                </a:solidFill>
                <a:latin typeface="Segoe UI"/>
              </a:rPr>
              <a:t>→ </a:t>
            </a:r>
            <a:r>
              <a:rPr sz="770" b="0">
                <a:solidFill>
                  <a:srgbClr val="22303F"/>
                </a:solidFill>
                <a:latin typeface="Segoe UI"/>
              </a:rPr>
              <a:t>Air-gapped is the default; with no API key the copilot answers from locally computed Merkle-signed facts. Health endpoint discloses egress state.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Segoe UI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84048" y="1060704"/>
            <a:ext cx="11411712" cy="40233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₹14.60 Lakh Crore of delay returns to the monitoring view.</a:t>
            </a:r>
            <a:r>
              <a:rPr sz="1200" b="0">
                <a:solidFill>
                  <a:srgbClr val="C9D6E4"/>
                </a:solidFill>
                <a:latin typeface="Segoe UI"/>
              </a:rPr>
              <a:t>   And the claim now has a dated photograph beside it.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1298448" y="1554480"/>
            <a:ext cx="1005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871E"/>
                </a:solidFill>
                <a:latin typeface="Segoe UI"/>
              </a:rPr>
              <a:t>PHYSICAL CORROBORATION  —  BHOPAL METRO (PROJECT 702625), FOUR GENUINE DATED EPOCHS FROM 196 ARCHIVE RELEASES</a:t>
            </a:r>
          </a:p>
        </p:txBody>
      </p:sp>
      <p:pic>
        <p:nvPicPr>
          <p:cNvPr id="17412" name="Picture 17411" descr="epoch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1773936"/>
            <a:ext cx="9601200" cy="2732442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298448" y="45902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5B6B7F"/>
                </a:solidFill>
                <a:latin typeface="Segoe UI"/>
              </a:rPr>
              <a:t>Each epoch is a real, dated ESRI Wayback capture with its own SHA-256. Surface change is radiometrically normalised and vegetation-masked — it is reported as evidence of activity, never converted into a completion percentage.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84048" y="4992624"/>
            <a:ext cx="2697480" cy="1261872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B2545"/>
                </a:solidFill>
                <a:latin typeface="Segoe UI"/>
              </a:rPr>
              <a:t>GOVERNANCE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0B2545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629 projects (₹14.60 L Cr) restored to the delay register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0B2545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Cabinet briefings become independently verifiable, not disputable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264408" y="4992624"/>
            <a:ext cx="2697480" cy="1261872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D4E7A"/>
                </a:solidFill>
                <a:latin typeface="Segoe UI"/>
              </a:rPr>
              <a:t>ECONOMIC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Capital steered by marginal completion yield, not historical share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₹5.66 L Cr of escalation on 1,183 revised projects made visible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144768" y="4992624"/>
            <a:ext cx="2697480" cy="1261872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D4E7A"/>
                </a:solidFill>
                <a:latin typeface="Segoe UI"/>
              </a:rPr>
              <a:t>ADMINISTRATIVE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Inspection effort triaged to sites where evidence disagrees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D4E7A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Bilingual (English / CSTT Hindi) briefings generated in seconds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9025128" y="4992624"/>
            <a:ext cx="2697480" cy="1261872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B7F4C"/>
                </a:solidFill>
                <a:latin typeface="Segoe UI"/>
              </a:rPr>
              <a:t>CIVIC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B7F4C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RTI §4(1)(b) proactive disclosure to every citizen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1B7F4C"/>
                </a:solidFill>
                <a:latin typeface="Segoe UI"/>
              </a:rPr>
              <a:t>▸ </a:t>
            </a:r>
            <a:r>
              <a:rPr sz="800" b="0">
                <a:solidFill>
                  <a:srgbClr val="22303F"/>
                </a:solidFill>
                <a:latin typeface="Segoe UI"/>
              </a:rPr>
              <a:t>Statutory 10% North-Eastern floor enforced as a hard constraint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latin typeface="Segoe UI"/>
              </a:rPr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84048" y="1060704"/>
            <a:ext cx="11411712" cy="40233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Every method is standard, cited, and reproducible from the committed corpus.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84048" y="1572768"/>
            <a:ext cx="5596128" cy="2304288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9144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B2545"/>
                </a:solidFill>
                <a:latin typeface="Segoe UI"/>
              </a:rPr>
              <a:t>DATA SOURCES  (all official / open)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B2545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MoSPI · PAIMANA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Central Sector project CUF returns, ≥ ₹150 Cr — mospi.gov.in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B2545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ESRI World Imagery Wayback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dated optical archive; 196 releases probed, 2014–2026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B2545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India Meteorological Department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state rainfall departure from LPA (% of Long Period Average)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B2545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Election Commission of India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assembly election calendar, 2000–2026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B2545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DPIIT / RBI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WPI series — steel, cement, fuel &amp; bitumen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B2545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NSE / BSE disclosures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executing-PSU leverage and solvency indicators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6181344" y="1572768"/>
            <a:ext cx="5596128" cy="2304288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9144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D4E7A"/>
                </a:solidFill>
                <a:latin typeface="Segoe UI"/>
              </a:rPr>
              <a:t>METHOD REFERENCES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Romano, Patterson &amp; Candès (2019)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Conformalized Quantile Regression, NeurIPS — the P10–P95 calibration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Kalbfleisch &amp; Prentice (2002)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Statistical Analysis of Failure Time Data — log-logistic AFT under censoring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Rockafellar &amp; Uryasev (2000)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Optimization of Conditional Value-at-Risk — the CVaR₉₀ dial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Shapley (1953); Castro et al. (2009)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permutation Monte-Carlo Shapley for network criticality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Tarjan (1972)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depth-first search and linear graph algorithms — SCC condensation to a DAG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Woebbecke (1995); Gitelson (2002)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ExG and VARI visible-band vegetation indices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RFC 6962 (Laurie, Langley &amp; Kasper)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Certificate Transparency Merkle tree — the audit trail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1D4E7A"/>
                </a:solidFill>
                <a:latin typeface="Segoe UI"/>
              </a:rPr>
              <a:t>▸ </a:t>
            </a:r>
            <a:r>
              <a:rPr sz="830" b="1">
                <a:solidFill>
                  <a:srgbClr val="22303F"/>
                </a:solidFill>
                <a:latin typeface="Segoe UI"/>
              </a:rPr>
              <a:t>RFC 8785</a:t>
            </a:r>
            <a:r>
              <a:rPr sz="830" b="0">
                <a:solidFill>
                  <a:srgbClr val="5B6B7F"/>
                </a:solidFill>
                <a:latin typeface="Segoe UI"/>
              </a:rPr>
              <a:t> — JSON Canonicalisation Scheme — deterministic row serialisation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84048" y="4005072"/>
            <a:ext cx="5596128" cy="151790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7A1E22"/>
                </a:solidFill>
                <a:latin typeface="Segoe UI"/>
              </a:rPr>
              <a:t>STATUTORY &amp; DOMAIN BASIS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7A1E22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RTI Act 2005 §4(1)(b)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proactive-disclosure duty, implemented as the NAGRIK portal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7A1E22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RFCTLARR Act 2013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land-compensation regime shift used as a structural break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7A1E22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CPWD GCC Clause 10CC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statutory price-escalation formula audited by SATYA-KAVACH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7A1E22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CCEA 20% re-appraisal threshold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the Cabinet trigger the bunching test examines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181344" y="4005072"/>
            <a:ext cx="5596128" cy="1517904"/>
          </a:xfrm>
          <a:prstGeom prst="rect">
            <a:avLst/>
          </a:prstGeom>
          <a:solidFill>
            <a:srgbClr val="F7F9FB"/>
          </a:solidFill>
          <a:ln w="9525">
            <a:solidFill>
              <a:srgbClr val="C3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8229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1B7F4C"/>
                </a:solidFill>
                <a:latin typeface="Segoe UI"/>
              </a:rPr>
              <a:t>VALIDATION ACTUALLY PERFORMED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1B7F4C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Calibration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93.3% empirical coverage on 450 held-out projects (84.7% uncalibrated)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1B7F4C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Leakage control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chronological train/test split; 12 outcome-derived columns excluded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1B7F4C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Honest ablation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monsoon, WPI, EO and graph features made MAE worse (16.24 → 17.90) and were dropped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</a:pPr>
            <a:r>
              <a:rPr sz="810" b="0">
                <a:solidFill>
                  <a:srgbClr val="1B7F4C"/>
                </a:solidFill>
                <a:latin typeface="Segoe UI"/>
              </a:rPr>
              <a:t>▸ </a:t>
            </a:r>
            <a:r>
              <a:rPr sz="810" b="1">
                <a:solidFill>
                  <a:srgbClr val="22303F"/>
                </a:solidFill>
                <a:latin typeface="Segoe UI"/>
              </a:rPr>
              <a:t>Regression safety</a:t>
            </a:r>
            <a:r>
              <a:rPr sz="810" b="0">
                <a:solidFill>
                  <a:srgbClr val="5B6B7F"/>
                </a:solidFill>
                <a:latin typeface="Segoe UI"/>
              </a:rPr>
              <a:t> — 476 assertions over 19 suites, enforced in GitHub Actions on every push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84048" y="5632704"/>
            <a:ext cx="11411712" cy="6217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6400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1">
                <a:solidFill>
                  <a:srgbClr val="E8871E"/>
                </a:solidFill>
                <a:latin typeface="Segoe UI"/>
              </a:rPr>
              <a:t>REPRODUCE ANY NUMBER   </a:t>
            </a:r>
            <a:r>
              <a:rPr sz="860" b="0">
                <a:solidFill>
                  <a:srgbClr val="E6ECF3"/>
                </a:solidFill>
                <a:latin typeface="Segoe UI"/>
              </a:rPr>
              <a:t>python analytics_engine/aft_survival.py  &amp;&amp;  python analytics_engine/conformal_calibration.py  &amp;&amp;  python tests/verify_features.py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B9C4D2"/>
                </a:solidFill>
                <a:latin typeface="Segoe UI"/>
              </a:rPr>
              <a:t>Corpus sealed at Merkle root </a:t>
            </a:r>
            <a:r>
              <a:rPr sz="780" b="1">
                <a:solidFill>
                  <a:srgbClr val="FFFFFF"/>
                </a:solidFill>
                <a:latin typeface="Segoe UI"/>
              </a:rPr>
              <a:t>e659bf58f2a62e7d7f530792b54b3159ad68a464e7cbf956c2f02bffb61558e2</a:t>
            </a:r>
            <a:r>
              <a:rPr sz="780" b="0">
                <a:solidFill>
                  <a:srgbClr val="B9C4D2"/>
                </a:solidFill>
                <a:latin typeface="Segoe UI"/>
              </a:rPr>
              <a:t>  over 2,207 canonically-serialised rows. Every artifact regenerates from the committed corpus under a fixed seed.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