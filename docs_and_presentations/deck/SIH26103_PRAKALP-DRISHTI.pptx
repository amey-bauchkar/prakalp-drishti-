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PAIMANA tracks 1,981 projects worth ₹42.78 lakh crore and records every slip faithfully — after it happens. 1,988 of the 2,103 projects in the public register are still running; nobody can say which one slips next. Here is one: Kurnool-IV transmission, ₹5,550 crore, a quarter built, not late by PAIMANA's own dates. Our model says: most likely finish November 2028, and only a 22 percent chance of meeting the September 2027 date. That is early warning before the slip. The band is wide because this sector has few finished projects to learn from — we show the honest range, and on 596 held-out projects that band covered the official date 79 percent of the time. What we deliver is a monthly add-on to IPMD's report: this window for every project, a cost estimate checked against the Ministry's own sector averages, a ranked list with the reason for each, and an English/Hindi brief where every sentence points to its record. The PS asked three questions; we answered each by measurement — including that AI beats plain statistics by only 2.6 percent on cost. We say that on purpose.</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Left to right. PAIMANA's public data: 2,207 projects, 25 fields. First we remove twelve columns that only exist after the outcome — revised cost, revised date, spending — because a model that sees them is reading the answer, not predicting it. Then we split by time: learn on projects up to 2020, test on 2020–21. Two models. Time: a survival model built for projects that have not finished, which gives the finish window — it covered the official date 79 percent of the time on 596 held-out projects, up from 51. Cost: boosting, checked against plain statistics and the sector average — 12 percent better than the sector average, only 2.6 percent better than OLS, and we say so. Both feed a ranked queue with a reason per project, and the officer's outputs into the monthly annex. Everything re-runs from a fixed seed with 152 automated checks.</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PAIMANA runs on NIC Cloud with MS SQL and SSRS and takes a monthly CUF feed — and NIC's own write-up names AI-driven forecasting as the next step. We sit beside it as one container and one database and return plain tables: the queue, the windows with reasons, the brief. Built: twenty screens, ninety-three endpoints, a hundred and fifty-two checks. Remaining: the monthly feed, the queue back-test, recalibration on real completion dates, NIC sign-on, Hindi review. Pilot: one ministry, one quarter. Four limits, before you ask: one snapshot, so windows are wide; weights set by policy, not yet tested; cost model tested to 2021, newer projects fall back to the sector average and say so; inputs self-reported, missing shown as missing. Two refusals: no sub-metre satellite claims, no fraud verdicts.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Three numbers, all on held-out projects. The finish window covered the official revised date 51 percent of the time before calibration and 79 percent after, against an 85 percent target — we show the gap. The typical error in the most-likely date fell from 100 months to 23. The cost-overrun estimate is 12 percent better than the sector-average forecast — and only slightly better than plain statistics, which we say. Below, what the officer gets: the 1,981-row report becomes a ranked list with a reason per project, and the escalation note drafts itself in English or Hindi. We claim no rupees saved; the pilot will measure officer time, escalations raised before the slip, and the hit-rate against real completions.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What we read: Ram Singh's 2010 paper on this very database; Flyvbjerg's reference-class forecasting — the plain statistics we compare against; the survival and calibration method papers; the Ministry's own PAIMANA documents. How to check us: the repository, the claims ledger with our corrections on record, and three commands that regenerate every number from seed 42. If any number does not match, that is our defect, and we stand by the code.</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statement 26103 — MoSPI's DIID, for IPMD. Our idea in six words: calibrated early warning for PAIMANA. Everything that follows was measured on the Ministry's own public register.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hyperlink" Target="https://prakalp-drishti.vercel.app" TargetMode="External"/><Relationship Id="rId9" Type="http://schemas.openxmlformats.org/officeDocument/2006/relationships/hyperlink" Target="https://github.com/amey-bauchkar/Prakalp-Drishti-" TargetMode="External"/><Relationship Id="rId10" Type="http://schemas.openxmlformats.org/officeDocument/2006/relationships/image" Target="../media/image7.png"/><Relationship Id="rId11" Type="http://schemas.openxmlformats.org/officeDocument/2006/relationships/image" Target="../media/image8.png"/><Relationship Id="rId12" Type="http://schemas.openxmlformats.org/officeDocument/2006/relationships/image" Target="../media/image9.png"/><Relationship Id="rId13" Type="http://schemas.openxmlformats.org/officeDocument/2006/relationships/image" Target="../media/image10.png"/><Relationship Id="rId14"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8.png"/><Relationship Id="rId12" Type="http://schemas.openxmlformats.org/officeDocument/2006/relationships/image" Target="../media/image19.png"/><Relationship Id="rId13" Type="http://schemas.openxmlformats.org/officeDocument/2006/relationships/image" Target="../media/image10.png"/><Relationship Id="rId14" Type="http://schemas.openxmlformats.org/officeDocument/2006/relationships/image" Target="../media/image20.png"/><Relationship Id="rId15" Type="http://schemas.openxmlformats.org/officeDocument/2006/relationships/image" Target="../media/image21.png"/><Relationship Id="rId16" Type="http://schemas.openxmlformats.org/officeDocument/2006/relationships/image" Target="../media/image22.png"/><Relationship Id="rId17" Type="http://schemas.openxmlformats.org/officeDocument/2006/relationships/image" Target="../media/image23.png"/><Relationship Id="rId18" Type="http://schemas.openxmlformats.org/officeDocument/2006/relationships/image" Target="../media/image24.png"/><Relationship Id="rId19" Type="http://schemas.openxmlformats.org/officeDocument/2006/relationships/image" Target="../media/image25.png"/><Relationship Id="rId20"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1.png"/><Relationship Id="rId9" Type="http://schemas.openxmlformats.org/officeDocument/2006/relationships/image" Target="../media/image32.png"/><Relationship Id="rId10" Type="http://schemas.openxmlformats.org/officeDocument/2006/relationships/image" Target="../media/image33.png"/><Relationship Id="rId11" Type="http://schemas.openxmlformats.org/officeDocument/2006/relationships/image" Target="../media/image34.png"/><Relationship Id="rId12" Type="http://schemas.openxmlformats.org/officeDocument/2006/relationships/image" Target="../media/image13.png"/><Relationship Id="rId13" Type="http://schemas.openxmlformats.org/officeDocument/2006/relationships/image" Target="../media/image3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36.png"/><Relationship Id="rId6" Type="http://schemas.openxmlformats.org/officeDocument/2006/relationships/image" Target="../media/image9.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40.png"/><Relationship Id="rId11" Type="http://schemas.openxmlformats.org/officeDocument/2006/relationships/image" Target="../media/image41.png"/><Relationship Id="rId12" Type="http://schemas.openxmlformats.org/officeDocument/2006/relationships/image" Target="../media/image42.png"/><Relationship Id="rId13" Type="http://schemas.openxmlformats.org/officeDocument/2006/relationships/image" Target="../media/image24.png"/><Relationship Id="rId14" Type="http://schemas.openxmlformats.org/officeDocument/2006/relationships/image" Target="../media/image4.png"/><Relationship Id="rId15" Type="http://schemas.openxmlformats.org/officeDocument/2006/relationships/image" Target="../media/image34.png"/><Relationship Id="rId16" Type="http://schemas.openxmlformats.org/officeDocument/2006/relationships/image" Target="../media/image11.png"/><Relationship Id="rId17" Type="http://schemas.openxmlformats.org/officeDocument/2006/relationships/image" Target="../media/image4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44.png"/><Relationship Id="rId5" Type="http://schemas.openxmlformats.org/officeDocument/2006/relationships/hyperlink" Target="https://www.epw.in/journal/2010/21/special-articles/delays-and-cost-overruns-infrastructure-projects-extent-causes-and" TargetMode="External"/><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hyperlink" Target="https://doi.org/10.1177/875697280603700302" TargetMode="External"/><Relationship Id="rId9" Type="http://schemas.openxmlformats.org/officeDocument/2006/relationships/image" Target="../media/image47.png"/><Relationship Id="rId10" Type="http://schemas.openxmlformats.org/officeDocument/2006/relationships/hyperlink" Target="https://doi.org/10.1002/sim.4780111409" TargetMode="External"/><Relationship Id="rId11" Type="http://schemas.openxmlformats.org/officeDocument/2006/relationships/image" Target="../media/image48.png"/><Relationship Id="rId12" Type="http://schemas.openxmlformats.org/officeDocument/2006/relationships/hyperlink" Target="https://arxiv.org/abs/1905.03222" TargetMode="External"/><Relationship Id="rId13" Type="http://schemas.openxmlformats.org/officeDocument/2006/relationships/image" Target="../media/image22.png"/><Relationship Id="rId14" Type="http://schemas.openxmlformats.org/officeDocument/2006/relationships/hyperlink" Target="https://doi.org/10.1016/j.jeconom.2007.05.005" TargetMode="External"/><Relationship Id="rId15" Type="http://schemas.openxmlformats.org/officeDocument/2006/relationships/image" Target="../media/image27.png"/><Relationship Id="rId16" Type="http://schemas.openxmlformats.org/officeDocument/2006/relationships/hyperlink" Target="https://informatics.nic.in/files/websites/october-2025/paimana-portal.php" TargetMode="External"/><Relationship Id="rId17" Type="http://schemas.openxmlformats.org/officeDocument/2006/relationships/image" Target="../media/image49.png"/><Relationship Id="rId18" Type="http://schemas.openxmlformats.org/officeDocument/2006/relationships/image" Target="../media/image50.png"/><Relationship Id="rId19" Type="http://schemas.openxmlformats.org/officeDocument/2006/relationships/image" Target="../media/image26.png"/><Relationship Id="rId20" Type="http://schemas.openxmlformats.org/officeDocument/2006/relationships/image" Target="../media/image51.png"/><Relationship Id="rId21" Type="http://schemas.openxmlformats.org/officeDocument/2006/relationships/hyperlink" Target="https://prakalp-drishti.vercel.app" TargetMode="External"/><Relationship Id="rId22" Type="http://schemas.openxmlformats.org/officeDocument/2006/relationships/hyperlink" Target="https://github.com/amey-bauchkar/Prakalp-Drisht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endParaRPr lang="en-US" dirty="0"/>
          </a:p>
          <a:p>
            <a:pPr>
              <a:spcAft>
                <a:spcPts val="600"/>
              </a:spcAft>
            </a:pPr>
            <a:r>
              <a:rPr sz="2000">
                <a:solidFill>
                  <a:srgbClr val="16202A"/>
                </a:solidFill>
                <a:latin typeface="Calibri"/>
              </a:rPr>
              <a:t>Problem Statement ID – SIH26103</a:t>
            </a:r>
          </a:p>
          <a:p>
            <a:pPr>
              <a:spcAft>
                <a:spcPts val="600"/>
              </a:spcAft>
            </a:pPr>
            <a:r>
              <a:rPr sz="2000">
                <a:solidFill>
                  <a:srgbClr val="16202A"/>
                </a:solidFill>
                <a:latin typeface="Calibri"/>
              </a:rPr>
              <a:t>Problem Statement Title – Use case on web-based integrated project-monitoring platform</a:t>
            </a:r>
          </a:p>
          <a:p>
            <a:pPr>
              <a:spcAft>
                <a:spcPts val="600"/>
              </a:spcAft>
            </a:pPr>
            <a:r>
              <a:rPr sz="2000">
                <a:solidFill>
                  <a:srgbClr val="16202A"/>
                </a:solidFill>
                <a:latin typeface="Calibri"/>
              </a:rPr>
              <a:t>Theme – Smart Automation</a:t>
            </a:r>
          </a:p>
          <a:p>
            <a:pPr>
              <a:spcAft>
                <a:spcPts val="600"/>
              </a:spcAft>
            </a:pPr>
            <a:r>
              <a:rPr sz="2000">
                <a:solidFill>
                  <a:srgbClr val="16202A"/>
                </a:solidFill>
                <a:latin typeface="Calibri"/>
              </a:rPr>
              <a:t>PS Category – Software</a:t>
            </a:r>
          </a:p>
          <a:p>
            <a:pPr>
              <a:spcAft>
                <a:spcPts val="600"/>
              </a:spcAft>
            </a:pPr>
            <a:r>
              <a:rPr sz="2000">
                <a:solidFill>
                  <a:srgbClr val="16202A"/>
                </a:solidFill>
                <a:latin typeface="Calibri"/>
              </a:rPr>
              <a:t>Team ID – </a:t>
            </a:r>
          </a:p>
          <a:p>
            <a:pPr>
              <a:spcAft>
                <a:spcPts val="600"/>
              </a:spcAft>
            </a:pPr>
            <a:r>
              <a:rPr sz="2000">
                <a:solidFill>
                  <a:srgbClr val="16202A"/>
                </a:solidFill>
                <a:latin typeface="Calibri"/>
              </a:rPr>
              <a:t>Team Name – BUBBLESORT</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TextBox 37"/>
          <p:cNvSpPr txBox="1"/>
          <p:nvPr/>
        </p:nvSpPr>
        <p:spPr>
          <a:xfrm>
            <a:off x="329184" y="5760720"/>
            <a:ext cx="7680960" cy="457200"/>
          </a:xfrm>
          <a:prstGeom prst="rect">
            <a:avLst/>
          </a:prstGeom>
          <a:noFill/>
        </p:spPr>
        <p:txBody>
          <a:bodyPr wrap="square" anchor="t" lIns="0" rIns="0" tIns="0" bIns="0">
            <a:spAutoFit/>
          </a:bodyPr>
          <a:lstStyle/>
          <a:p>
            <a:pPr algn="l">
              <a:lnSpc>
                <a:spcPct val="100000"/>
              </a:lnSpc>
            </a:pPr>
            <a:r>
              <a:rPr sz="2000" b="1" i="0">
                <a:solidFill>
                  <a:srgbClr val="0F2A44"/>
                </a:solidFill>
                <a:latin typeface="Calibri"/>
              </a:rPr>
              <a:t>PRAKALP-DRISHTI</a:t>
            </a:r>
            <a:r>
              <a:rPr sz="2000" b="1" i="0">
                <a:solidFill>
                  <a:srgbClr val="1F5F73"/>
                </a:solidFill>
                <a:latin typeface="Calibri"/>
              </a:rPr>
              <a:t>  —  calibrated early warning for PAIMANA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1">
                <a:latin typeface="Calibri"/>
              </a:rPr>
              <a:t>BUBBLESORT</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274320" y="6446520"/>
            <a:ext cx="4114800" cy="237744"/>
          </a:xfrm>
          <a:prstGeom prst="rect">
            <a:avLst/>
          </a:prstGeom>
          <a:noFill/>
        </p:spPr>
        <p:txBody>
          <a:bodyPr wrap="square" anchor="t" lIns="0" rIns="0" tIns="0" bIns="0">
            <a:spAutoFit/>
          </a:bodyPr>
          <a:lstStyle/>
          <a:p>
            <a:pPr algn="l">
              <a:lnSpc>
                <a:spcPct val="100000"/>
              </a:lnSpc>
            </a:pPr>
            <a:r>
              <a:rPr sz="1000" b="1" i="0">
                <a:solidFill>
                  <a:srgbClr val="FFFFFF"/>
                </a:solidFill>
                <a:latin typeface="Calibri"/>
              </a:rPr>
              <a:t>MEASURED, NOT PROMISED  ·  BUILT BESIDE PAIMANA</a:t>
            </a:r>
          </a:p>
        </p:txBody>
      </p:sp>
      <p:sp>
        <p:nvSpPr>
          <p:cNvPr id="15363" name="TextBox 15362"/>
          <p:cNvSpPr txBox="1"/>
          <p:nvPr/>
        </p:nvSpPr>
        <p:spPr>
          <a:xfrm>
            <a:off x="457200" y="1152144"/>
            <a:ext cx="11292840" cy="329184"/>
          </a:xfrm>
          <a:prstGeom prst="rect">
            <a:avLst/>
          </a:prstGeom>
          <a:noFill/>
        </p:spPr>
        <p:txBody>
          <a:bodyPr wrap="square" anchor="t" lIns="0" rIns="0" tIns="0" bIns="0">
            <a:spAutoFit/>
          </a:bodyPr>
          <a:lstStyle/>
          <a:p>
            <a:pPr algn="ctr">
              <a:lnSpc>
                <a:spcPct val="100000"/>
              </a:lnSpc>
            </a:pPr>
            <a:r>
              <a:rPr sz="1600" b="1" i="0">
                <a:solidFill>
                  <a:srgbClr val="0F2A44"/>
                </a:solidFill>
                <a:latin typeface="Calibri"/>
              </a:rPr>
              <a:t>PRAKALP-DRISHTI</a:t>
            </a:r>
            <a:r>
              <a:rPr sz="1600" b="1" i="0">
                <a:solidFill>
                  <a:srgbClr val="1F5F73"/>
                </a:solidFill>
                <a:latin typeface="Calibri"/>
              </a:rPr>
              <a:t>  —  tells IPMD which PAIMANA projects will slip, when, and how sure we are</a:t>
            </a:r>
          </a:p>
        </p:txBody>
      </p:sp>
      <p:sp>
        <p:nvSpPr>
          <p:cNvPr id="15364" name="Rounded Rectangle 15363"/>
          <p:cNvSpPr/>
          <p:nvPr/>
        </p:nvSpPr>
        <p:spPr>
          <a:xfrm>
            <a:off x="274320" y="1572768"/>
            <a:ext cx="3017520" cy="1152144"/>
          </a:xfrm>
          <a:prstGeom prst="roundRect">
            <a:avLst>
              <a:gd name="adj" fmla="val 11904"/>
            </a:avLst>
          </a:prstGeom>
          <a:solidFill>
            <a:srgbClr val="FD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65" name="Oval 15364"/>
          <p:cNvSpPr/>
          <p:nvPr/>
        </p:nvSpPr>
        <p:spPr>
          <a:xfrm>
            <a:off x="402336" y="1719072"/>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366" name="Picture 15365" descr="alert-triangle.png"/>
          <p:cNvPicPr>
            <a:picLocks noChangeAspect="1"/>
          </p:cNvPicPr>
          <p:nvPr/>
        </p:nvPicPr>
        <p:blipFill>
          <a:blip r:embed="rId4"/>
          <a:stretch>
            <a:fillRect/>
          </a:stretch>
        </p:blipFill>
        <p:spPr>
          <a:xfrm>
            <a:off x="502920" y="1819655"/>
            <a:ext cx="256032" cy="256032"/>
          </a:xfrm>
          <a:prstGeom prst="rect">
            <a:avLst/>
          </a:prstGeom>
        </p:spPr>
      </p:pic>
      <p:sp>
        <p:nvSpPr>
          <p:cNvPr id="15367" name="TextBox 15366"/>
          <p:cNvSpPr txBox="1"/>
          <p:nvPr/>
        </p:nvSpPr>
        <p:spPr>
          <a:xfrm>
            <a:off x="987552" y="1682495"/>
            <a:ext cx="2194560" cy="237744"/>
          </a:xfrm>
          <a:prstGeom prst="rect">
            <a:avLst/>
          </a:prstGeom>
          <a:noFill/>
        </p:spPr>
        <p:txBody>
          <a:bodyPr wrap="square" anchor="t" lIns="0" rIns="0" tIns="0" bIns="0">
            <a:spAutoFit/>
          </a:bodyPr>
          <a:lstStyle/>
          <a:p>
            <a:pPr algn="l">
              <a:lnSpc>
                <a:spcPct val="100000"/>
              </a:lnSpc>
            </a:pPr>
            <a:r>
              <a:rPr sz="1200" b="1" i="0">
                <a:solidFill>
                  <a:srgbClr val="C0392B"/>
                </a:solidFill>
                <a:latin typeface="Calibri"/>
              </a:rPr>
              <a:t>Real-world issue</a:t>
            </a:r>
          </a:p>
        </p:txBody>
      </p:sp>
      <p:sp>
        <p:nvSpPr>
          <p:cNvPr id="15368" name="TextBox 15367"/>
          <p:cNvSpPr txBox="1"/>
          <p:nvPr/>
        </p:nvSpPr>
        <p:spPr>
          <a:xfrm>
            <a:off x="987552" y="1938528"/>
            <a:ext cx="2194560" cy="731520"/>
          </a:xfrm>
          <a:prstGeom prst="rect">
            <a:avLst/>
          </a:prstGeom>
          <a:noFill/>
        </p:spPr>
        <p:txBody>
          <a:bodyPr wrap="square" anchor="t" lIns="0" rIns="0" tIns="0" bIns="0">
            <a:spAutoFit/>
          </a:bodyPr>
          <a:lstStyle/>
          <a:p>
            <a:pPr algn="l">
              <a:lnSpc>
                <a:spcPct val="98000"/>
              </a:lnSpc>
            </a:pPr>
            <a:r>
              <a:rPr sz="1100" b="0" i="0">
                <a:solidFill>
                  <a:srgbClr val="16202A"/>
                </a:solidFill>
                <a:latin typeface="Calibri"/>
              </a:rPr>
              <a:t>PAIMANA records a delay </a:t>
            </a:r>
            <a:r>
              <a:rPr sz="1100" b="1" i="0">
                <a:solidFill>
                  <a:srgbClr val="16202A"/>
                </a:solidFill>
                <a:latin typeface="Calibri"/>
              </a:rPr>
              <a:t>after</a:t>
            </a:r>
            <a:r>
              <a:rPr sz="1100" b="0" i="0">
                <a:solidFill>
                  <a:srgbClr val="16202A"/>
                </a:solidFill>
                <a:latin typeface="Calibri"/>
              </a:rPr>
              <a:t> it happens. </a:t>
            </a:r>
            <a:r>
              <a:rPr sz="1100" b="1" i="0">
                <a:solidFill>
                  <a:srgbClr val="16202A"/>
                </a:solidFill>
                <a:latin typeface="Calibri"/>
              </a:rPr>
              <a:t>1,988 of 2,103</a:t>
            </a:r>
            <a:r>
              <a:rPr sz="1100" b="0" i="0">
                <a:solidFill>
                  <a:srgbClr val="16202A"/>
                </a:solidFill>
                <a:latin typeface="Calibri"/>
              </a:rPr>
              <a:t> projects are still running — nobody can say which one slips next.</a:t>
            </a:r>
          </a:p>
        </p:txBody>
      </p:sp>
      <p:sp>
        <p:nvSpPr>
          <p:cNvPr id="15369" name="Rounded Rectangle 15368"/>
          <p:cNvSpPr/>
          <p:nvPr/>
        </p:nvSpPr>
        <p:spPr>
          <a:xfrm>
            <a:off x="274320" y="2798064"/>
            <a:ext cx="3017520" cy="1060704"/>
          </a:xfrm>
          <a:prstGeom prst="roundRect">
            <a:avLst>
              <a:gd name="adj" fmla="val 12931"/>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70" name="Oval 15369"/>
          <p:cNvSpPr/>
          <p:nvPr/>
        </p:nvSpPr>
        <p:spPr>
          <a:xfrm>
            <a:off x="402336" y="2944368"/>
            <a:ext cx="457200" cy="457200"/>
          </a:xfrm>
          <a:prstGeom prst="ellipse">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371" name="Picture 15370" descr="cash.png"/>
          <p:cNvPicPr>
            <a:picLocks noChangeAspect="1"/>
          </p:cNvPicPr>
          <p:nvPr/>
        </p:nvPicPr>
        <p:blipFill>
          <a:blip r:embed="rId5"/>
          <a:stretch>
            <a:fillRect/>
          </a:stretch>
        </p:blipFill>
        <p:spPr>
          <a:xfrm>
            <a:off x="502920" y="3044952"/>
            <a:ext cx="256032" cy="256032"/>
          </a:xfrm>
          <a:prstGeom prst="rect">
            <a:avLst/>
          </a:prstGeom>
        </p:spPr>
      </p:pic>
      <p:sp>
        <p:nvSpPr>
          <p:cNvPr id="15372" name="TextBox 15371"/>
          <p:cNvSpPr txBox="1"/>
          <p:nvPr/>
        </p:nvSpPr>
        <p:spPr>
          <a:xfrm>
            <a:off x="987552" y="2907792"/>
            <a:ext cx="2194560" cy="237744"/>
          </a:xfrm>
          <a:prstGeom prst="rect">
            <a:avLst/>
          </a:prstGeom>
          <a:noFill/>
        </p:spPr>
        <p:txBody>
          <a:bodyPr wrap="square" anchor="t" lIns="0" rIns="0" tIns="0" bIns="0">
            <a:spAutoFit/>
          </a:bodyPr>
          <a:lstStyle/>
          <a:p>
            <a:pPr algn="l">
              <a:lnSpc>
                <a:spcPct val="100000"/>
              </a:lnSpc>
            </a:pPr>
            <a:r>
              <a:rPr sz="1200" b="1" i="0">
                <a:solidFill>
                  <a:srgbClr val="D98E04"/>
                </a:solidFill>
                <a:latin typeface="Calibri"/>
              </a:rPr>
              <a:t>Why it matters</a:t>
            </a:r>
          </a:p>
        </p:txBody>
      </p:sp>
      <p:sp>
        <p:nvSpPr>
          <p:cNvPr id="15373" name="TextBox 15372"/>
          <p:cNvSpPr txBox="1"/>
          <p:nvPr/>
        </p:nvSpPr>
        <p:spPr>
          <a:xfrm>
            <a:off x="987552" y="3163824"/>
            <a:ext cx="2194560" cy="640080"/>
          </a:xfrm>
          <a:prstGeom prst="rect">
            <a:avLst/>
          </a:prstGeom>
          <a:noFill/>
        </p:spPr>
        <p:txBody>
          <a:bodyPr wrap="square" anchor="t" lIns="0" rIns="0" tIns="0" bIns="0">
            <a:spAutoFit/>
          </a:bodyPr>
          <a:lstStyle/>
          <a:p>
            <a:pPr algn="l">
              <a:lnSpc>
                <a:spcPct val="98000"/>
              </a:lnSpc>
            </a:pPr>
            <a:r>
              <a:rPr sz="1100" b="1" i="0">
                <a:solidFill>
                  <a:srgbClr val="16202A"/>
                </a:solidFill>
                <a:latin typeface="Calibri"/>
              </a:rPr>
              <a:t>1,981 ongoing projects</a:t>
            </a:r>
            <a:r>
              <a:rPr sz="1100" b="0" i="0">
                <a:solidFill>
                  <a:srgbClr val="16202A"/>
                </a:solidFill>
                <a:latin typeface="Calibri"/>
              </a:rPr>
              <a:t>; cost already up from </a:t>
            </a:r>
            <a:r>
              <a:rPr sz="1100" b="1" i="0">
                <a:solidFill>
                  <a:srgbClr val="16202A"/>
                </a:solidFill>
                <a:latin typeface="Calibri"/>
              </a:rPr>
              <a:t>₹37.13 to ₹42.78 lakh crore</a:t>
            </a:r>
            <a:r>
              <a:rPr sz="1100" b="0" i="0">
                <a:solidFill>
                  <a:srgbClr val="16202A"/>
                </a:solidFill>
                <a:latin typeface="Calibri"/>
              </a:rPr>
              <a:t>. Every month of warning is time to act.</a:t>
            </a:r>
          </a:p>
        </p:txBody>
      </p:sp>
      <p:sp>
        <p:nvSpPr>
          <p:cNvPr id="15374" name="Rounded Rectangle 15373"/>
          <p:cNvSpPr/>
          <p:nvPr/>
        </p:nvSpPr>
        <p:spPr>
          <a:xfrm>
            <a:off x="274320" y="3931920"/>
            <a:ext cx="3017520" cy="1170432"/>
          </a:xfrm>
          <a:prstGeom prst="roundRect">
            <a:avLst>
              <a:gd name="adj" fmla="val 11718"/>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75" name="Oval 15374"/>
          <p:cNvSpPr/>
          <p:nvPr/>
        </p:nvSpPr>
        <p:spPr>
          <a:xfrm>
            <a:off x="402336" y="4078224"/>
            <a:ext cx="457200" cy="4572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376" name="Picture 15375" descr="bulb.png"/>
          <p:cNvPicPr>
            <a:picLocks noChangeAspect="1"/>
          </p:cNvPicPr>
          <p:nvPr/>
        </p:nvPicPr>
        <p:blipFill>
          <a:blip r:embed="rId6"/>
          <a:stretch>
            <a:fillRect/>
          </a:stretch>
        </p:blipFill>
        <p:spPr>
          <a:xfrm>
            <a:off x="502920" y="4178808"/>
            <a:ext cx="256032" cy="256032"/>
          </a:xfrm>
          <a:prstGeom prst="rect">
            <a:avLst/>
          </a:prstGeom>
        </p:spPr>
      </p:pic>
      <p:sp>
        <p:nvSpPr>
          <p:cNvPr id="15377" name="TextBox 15376"/>
          <p:cNvSpPr txBox="1"/>
          <p:nvPr/>
        </p:nvSpPr>
        <p:spPr>
          <a:xfrm>
            <a:off x="987552" y="4041648"/>
            <a:ext cx="2194560" cy="237744"/>
          </a:xfrm>
          <a:prstGeom prst="rect">
            <a:avLst/>
          </a:prstGeom>
          <a:noFill/>
        </p:spPr>
        <p:txBody>
          <a:bodyPr wrap="square" anchor="t" lIns="0" rIns="0" tIns="0" bIns="0">
            <a:spAutoFit/>
          </a:bodyPr>
          <a:lstStyle/>
          <a:p>
            <a:pPr algn="l">
              <a:lnSpc>
                <a:spcPct val="100000"/>
              </a:lnSpc>
            </a:pPr>
            <a:r>
              <a:rPr sz="1200" b="1" i="0">
                <a:solidFill>
                  <a:srgbClr val="2E8B57"/>
                </a:solidFill>
                <a:latin typeface="Calibri"/>
              </a:rPr>
              <a:t>Solution</a:t>
            </a:r>
          </a:p>
        </p:txBody>
      </p:sp>
      <p:sp>
        <p:nvSpPr>
          <p:cNvPr id="15378" name="TextBox 15377"/>
          <p:cNvSpPr txBox="1"/>
          <p:nvPr/>
        </p:nvSpPr>
        <p:spPr>
          <a:xfrm>
            <a:off x="987552" y="4297680"/>
            <a:ext cx="2194560" cy="749808"/>
          </a:xfrm>
          <a:prstGeom prst="rect">
            <a:avLst/>
          </a:prstGeom>
          <a:noFill/>
        </p:spPr>
        <p:txBody>
          <a:bodyPr wrap="square" anchor="t" lIns="0" rIns="0" tIns="0" bIns="0">
            <a:spAutoFit/>
          </a:bodyPr>
          <a:lstStyle/>
          <a:p>
            <a:pPr algn="l">
              <a:lnSpc>
                <a:spcPct val="98000"/>
              </a:lnSpc>
            </a:pPr>
            <a:r>
              <a:rPr sz="1100" b="0" i="0">
                <a:solidFill>
                  <a:srgbClr val="16202A"/>
                </a:solidFill>
                <a:latin typeface="Calibri"/>
              </a:rPr>
              <a:t>A monthly add-on to IPMD's report. For every ongoing project: a </a:t>
            </a:r>
            <a:r>
              <a:rPr sz="1100" b="1" i="0">
                <a:solidFill>
                  <a:srgbClr val="16202A"/>
                </a:solidFill>
                <a:latin typeface="Calibri"/>
              </a:rPr>
              <a:t>likely finish window</a:t>
            </a:r>
            <a:r>
              <a:rPr sz="1100" b="0" i="0">
                <a:solidFill>
                  <a:srgbClr val="16202A"/>
                </a:solidFill>
                <a:latin typeface="Calibri"/>
              </a:rPr>
              <a:t>, a </a:t>
            </a:r>
            <a:r>
              <a:rPr sz="1100" b="1" i="0">
                <a:solidFill>
                  <a:srgbClr val="16202A"/>
                </a:solidFill>
                <a:latin typeface="Calibri"/>
              </a:rPr>
              <a:t>cost-overrun estimate</a:t>
            </a:r>
            <a:r>
              <a:rPr sz="1100" b="0" i="0">
                <a:solidFill>
                  <a:srgbClr val="16202A"/>
                </a:solidFill>
                <a:latin typeface="Calibri"/>
              </a:rPr>
              <a:t>, and a </a:t>
            </a:r>
            <a:r>
              <a:rPr sz="1100" b="1" i="0">
                <a:solidFill>
                  <a:srgbClr val="16202A"/>
                </a:solidFill>
                <a:latin typeface="Calibri"/>
              </a:rPr>
              <a:t>ranked list of what to look at first</a:t>
            </a:r>
            <a:r>
              <a:rPr sz="1100" b="0" i="0">
                <a:solidFill>
                  <a:srgbClr val="16202A"/>
                </a:solidFill>
                <a:latin typeface="Calibri"/>
              </a:rPr>
              <a:t> — with the reason.</a:t>
            </a:r>
          </a:p>
        </p:txBody>
      </p:sp>
      <p:sp>
        <p:nvSpPr>
          <p:cNvPr id="15379" name="Rounded Rectangle 15378"/>
          <p:cNvSpPr/>
          <p:nvPr/>
        </p:nvSpPr>
        <p:spPr>
          <a:xfrm>
            <a:off x="274320" y="5175504"/>
            <a:ext cx="3017520" cy="1060704"/>
          </a:xfrm>
          <a:prstGeom prst="roundRect">
            <a:avLst>
              <a:gd name="adj" fmla="val 12931"/>
            </a:avLst>
          </a:prstGeom>
          <a:solidFill>
            <a:srgbClr val="FFFFFF"/>
          </a:solidFill>
          <a:ln w="9525">
            <a:solidFill>
              <a:srgbClr val="D6DD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80" name="Oval 15379"/>
          <p:cNvSpPr/>
          <p:nvPr/>
        </p:nvSpPr>
        <p:spPr>
          <a:xfrm>
            <a:off x="402336" y="5303520"/>
            <a:ext cx="457200" cy="457200"/>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381" name="Picture 15380" descr="cloud.png"/>
          <p:cNvPicPr>
            <a:picLocks noChangeAspect="1"/>
          </p:cNvPicPr>
          <p:nvPr/>
        </p:nvPicPr>
        <p:blipFill>
          <a:blip r:embed="rId7"/>
          <a:stretch>
            <a:fillRect/>
          </a:stretch>
        </p:blipFill>
        <p:spPr>
          <a:xfrm>
            <a:off x="502920" y="5404104"/>
            <a:ext cx="256032" cy="256032"/>
          </a:xfrm>
          <a:prstGeom prst="rect">
            <a:avLst/>
          </a:prstGeom>
        </p:spPr>
      </p:pic>
      <p:sp>
        <p:nvSpPr>
          <p:cNvPr id="15382" name="TextBox 15381"/>
          <p:cNvSpPr txBox="1"/>
          <p:nvPr/>
        </p:nvSpPr>
        <p:spPr>
          <a:xfrm>
            <a:off x="987552" y="5266944"/>
            <a:ext cx="2194560" cy="237744"/>
          </a:xfrm>
          <a:prstGeom prst="rect">
            <a:avLst/>
          </a:prstGeom>
          <a:noFill/>
        </p:spPr>
        <p:txBody>
          <a:bodyPr wrap="square" anchor="t" lIns="0" rIns="0" tIns="0" bIns="0">
            <a:spAutoFit/>
          </a:bodyPr>
          <a:lstStyle/>
          <a:p>
            <a:pPr algn="l">
              <a:lnSpc>
                <a:spcPct val="100000"/>
              </a:lnSpc>
            </a:pPr>
            <a:r>
              <a:rPr sz="1200" b="1" i="0">
                <a:solidFill>
                  <a:srgbClr val="0F2A44"/>
                </a:solidFill>
                <a:latin typeface="Calibri"/>
              </a:rPr>
              <a:t>Prototype</a:t>
            </a:r>
          </a:p>
        </p:txBody>
      </p:sp>
      <p:sp>
        <p:nvSpPr>
          <p:cNvPr id="15383" name="TextBox 15382"/>
          <p:cNvSpPr txBox="1"/>
          <p:nvPr/>
        </p:nvSpPr>
        <p:spPr>
          <a:xfrm>
            <a:off x="987552" y="5522976"/>
            <a:ext cx="2194560" cy="219456"/>
          </a:xfrm>
          <a:prstGeom prst="rect">
            <a:avLst/>
          </a:prstGeom>
          <a:noFill/>
        </p:spPr>
        <p:txBody>
          <a:bodyPr wrap="square" anchor="t" lIns="0" rIns="0" tIns="0" bIns="0">
            <a:spAutoFit/>
          </a:bodyPr>
          <a:lstStyle/>
          <a:p>
            <a:pPr algn="l">
              <a:lnSpc>
                <a:spcPct val="100000"/>
              </a:lnSpc>
            </a:pPr>
            <a:r>
              <a:rPr sz="1100" b="1" i="0">
                <a:solidFill>
                  <a:srgbClr val="1F5F73"/>
                </a:solidFill>
                <a:latin typeface="Calibri"/>
              </a:rPr>
              <a:t>Live  ▸  </a:t>
            </a:r>
            <a:r>
              <a:rPr sz="1100" b="0" i="0">
                <a:solidFill>
                  <a:srgbClr val="1F5F73"/>
                </a:solidFill>
                <a:latin typeface="Calibri"/>
                <a:hlinkClick r:id="rId8"/>
              </a:rPr>
              <a:t>prakalp-drishti.vercel.app</a:t>
            </a:r>
          </a:p>
        </p:txBody>
      </p:sp>
      <p:sp>
        <p:nvSpPr>
          <p:cNvPr id="15384" name="TextBox 15383"/>
          <p:cNvSpPr txBox="1"/>
          <p:nvPr/>
        </p:nvSpPr>
        <p:spPr>
          <a:xfrm>
            <a:off x="987552" y="5760720"/>
            <a:ext cx="2194560" cy="438912"/>
          </a:xfrm>
          <a:prstGeom prst="rect">
            <a:avLst/>
          </a:prstGeom>
          <a:noFill/>
        </p:spPr>
        <p:txBody>
          <a:bodyPr wrap="square" anchor="t" lIns="0" rIns="0" tIns="0" bIns="0">
            <a:spAutoFit/>
          </a:bodyPr>
          <a:lstStyle/>
          <a:p>
            <a:pPr algn="l">
              <a:lnSpc>
                <a:spcPct val="100000"/>
              </a:lnSpc>
            </a:pPr>
            <a:r>
              <a:rPr sz="1100" b="1" i="0">
                <a:solidFill>
                  <a:srgbClr val="1F5F73"/>
                </a:solidFill>
                <a:latin typeface="Calibri"/>
              </a:rPr>
              <a:t>Code  ▸  </a:t>
            </a:r>
            <a:r>
              <a:rPr sz="1000" b="0" i="0">
                <a:solidFill>
                  <a:srgbClr val="1F5F73"/>
                </a:solidFill>
                <a:latin typeface="Calibri"/>
                <a:hlinkClick r:id="rId9"/>
              </a:rPr>
              <a:t>github.com/amey-bauchkar/Prakalp-Drishti-</a:t>
            </a:r>
          </a:p>
        </p:txBody>
      </p:sp>
      <p:sp>
        <p:nvSpPr>
          <p:cNvPr id="15385" name="Rounded Rectangle 15384"/>
          <p:cNvSpPr/>
          <p:nvPr/>
        </p:nvSpPr>
        <p:spPr>
          <a:xfrm>
            <a:off x="3456432" y="1572768"/>
            <a:ext cx="5303520" cy="310896"/>
          </a:xfrm>
          <a:prstGeom prst="roundRect">
            <a:avLst>
              <a:gd name="adj" fmla="val 50000"/>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86" name="TextBox 15385"/>
          <p:cNvSpPr txBox="1"/>
          <p:nvPr/>
        </p:nvSpPr>
        <p:spPr>
          <a:xfrm>
            <a:off x="3602736" y="1618488"/>
            <a:ext cx="5010912" cy="219456"/>
          </a:xfrm>
          <a:prstGeom prst="rect">
            <a:avLst/>
          </a:prstGeom>
          <a:noFill/>
        </p:spPr>
        <p:txBody>
          <a:bodyPr wrap="square" anchor="t" lIns="0" rIns="0" tIns="0" bIns="0">
            <a:spAutoFit/>
          </a:bodyPr>
          <a:lstStyle/>
          <a:p>
            <a:pPr algn="l">
              <a:lnSpc>
                <a:spcPct val="100000"/>
              </a:lnSpc>
            </a:pPr>
            <a:r>
              <a:rPr sz="1100" b="1" i="0">
                <a:solidFill>
                  <a:srgbClr val="FFFFFF"/>
                </a:solidFill>
                <a:latin typeface="Calibri"/>
              </a:rPr>
              <a:t>Proposed Solution (Describe your Idea/Solution/Prototype)</a:t>
            </a:r>
          </a:p>
        </p:txBody>
      </p:sp>
      <p:sp>
        <p:nvSpPr>
          <p:cNvPr id="15387" name="Oval 15386"/>
          <p:cNvSpPr/>
          <p:nvPr/>
        </p:nvSpPr>
        <p:spPr>
          <a:xfrm>
            <a:off x="3502151" y="1956816"/>
            <a:ext cx="384048" cy="384048"/>
          </a:xfrm>
          <a:prstGeom prst="ellipse">
            <a:avLst/>
          </a:prstGeom>
          <a:solidFill>
            <a:srgbClr val="1F5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388" name="Picture 15387" descr="bolt.png"/>
          <p:cNvPicPr>
            <a:picLocks noChangeAspect="1"/>
          </p:cNvPicPr>
          <p:nvPr/>
        </p:nvPicPr>
        <p:blipFill>
          <a:blip r:embed="rId10"/>
          <a:stretch>
            <a:fillRect/>
          </a:stretch>
        </p:blipFill>
        <p:spPr>
          <a:xfrm>
            <a:off x="3586642" y="2041306"/>
            <a:ext cx="215066" cy="215066"/>
          </a:xfrm>
          <a:prstGeom prst="rect">
            <a:avLst/>
          </a:prstGeom>
        </p:spPr>
      </p:pic>
      <p:sp>
        <p:nvSpPr>
          <p:cNvPr id="15389" name="TextBox 15388"/>
          <p:cNvSpPr txBox="1"/>
          <p:nvPr/>
        </p:nvSpPr>
        <p:spPr>
          <a:xfrm>
            <a:off x="3986783" y="1938528"/>
            <a:ext cx="4736592" cy="420624"/>
          </a:xfrm>
          <a:prstGeom prst="rect">
            <a:avLst/>
          </a:prstGeom>
          <a:noFill/>
        </p:spPr>
        <p:txBody>
          <a:bodyPr wrap="square" anchor="t" lIns="0" rIns="0" tIns="0" bIns="0">
            <a:spAutoFit/>
          </a:bodyPr>
          <a:lstStyle/>
          <a:p>
            <a:pPr algn="l">
              <a:lnSpc>
                <a:spcPct val="98000"/>
              </a:lnSpc>
            </a:pPr>
            <a:r>
              <a:rPr sz="1100" b="0" i="0">
                <a:solidFill>
                  <a:srgbClr val="3C4A57"/>
                </a:solidFill>
                <a:latin typeface="Calibri"/>
              </a:rPr>
              <a:t>617185 · </a:t>
            </a:r>
            <a:r>
              <a:rPr sz="1100" b="1" i="0">
                <a:solidFill>
                  <a:srgbClr val="16202A"/>
                </a:solidFill>
                <a:latin typeface="Calibri"/>
              </a:rPr>
              <a:t>Kurnool-IV REZ transmission (POWERGRID)</a:t>
            </a:r>
            <a:r>
              <a:rPr sz="1100" b="0" i="0">
                <a:solidFill>
                  <a:srgbClr val="3C4A57"/>
                </a:solidFill>
                <a:latin typeface="Calibri"/>
              </a:rPr>
              <a:t> · ₹5,550 Cr</a:t>
            </a:r>
          </a:p>
          <a:p>
            <a:pPr algn="l">
              <a:lnSpc>
                <a:spcPct val="98000"/>
              </a:lnSpc>
            </a:pPr>
            <a:r>
              <a:rPr sz="1100" b="0" i="0">
                <a:solidFill>
                  <a:srgbClr val="3C4A57"/>
                </a:solidFill>
                <a:latin typeface="Calibri"/>
              </a:rPr>
              <a:t>25% built · sanctioned Mar 2025 · </a:t>
            </a:r>
            <a:r>
              <a:rPr sz="1100" b="1" i="0">
                <a:solidFill>
                  <a:srgbClr val="2E8B57"/>
                </a:solidFill>
                <a:latin typeface="Calibri"/>
              </a:rPr>
              <a:t>not yet late by PAIMANA's own dates</a:t>
            </a:r>
          </a:p>
        </p:txBody>
      </p:sp>
      <p:cxnSp>
        <p:nvCxnSpPr>
          <p:cNvPr id="15390" name="Connector 15389"/>
          <p:cNvCxnSpPr/>
          <p:nvPr/>
        </p:nvCxnSpPr>
        <p:spPr>
          <a:xfrm>
            <a:off x="3639312" y="3456432"/>
            <a:ext cx="4937760" cy="0"/>
          </a:xfrm>
          <a:prstGeom prst="line">
            <a:avLst/>
          </a:prstGeom>
          <a:ln w="12700">
            <a:solidFill>
              <a:srgbClr val="8A97A4"/>
            </a:solidFill>
          </a:ln>
        </p:spPr>
        <p:style>
          <a:lnRef idx="2">
            <a:schemeClr val="accent1"/>
          </a:lnRef>
          <a:fillRef idx="0">
            <a:schemeClr val="accent1"/>
          </a:fillRef>
          <a:effectRef idx="1">
            <a:schemeClr val="accent1"/>
          </a:effectRef>
          <a:fontRef idx="minor">
            <a:schemeClr val="tx1"/>
          </a:fontRef>
        </p:style>
      </p:cxnSp>
      <p:cxnSp>
        <p:nvCxnSpPr>
          <p:cNvPr id="15391" name="Connector 15390"/>
          <p:cNvCxnSpPr/>
          <p:nvPr/>
        </p:nvCxnSpPr>
        <p:spPr>
          <a:xfrm>
            <a:off x="3639312" y="3456432"/>
            <a:ext cx="0" cy="54864"/>
          </a:xfrm>
          <a:prstGeom prst="line">
            <a:avLst/>
          </a:prstGeom>
          <a:ln w="9525">
            <a:solidFill>
              <a:srgbClr val="8A97A4"/>
            </a:solidFill>
          </a:ln>
        </p:spPr>
        <p:style>
          <a:lnRef idx="2">
            <a:schemeClr val="accent1"/>
          </a:lnRef>
          <a:fillRef idx="0">
            <a:schemeClr val="accent1"/>
          </a:fillRef>
          <a:effectRef idx="1">
            <a:schemeClr val="accent1"/>
          </a:effectRef>
          <a:fontRef idx="minor">
            <a:schemeClr val="tx1"/>
          </a:fontRef>
        </p:style>
      </p:cxnSp>
      <p:sp>
        <p:nvSpPr>
          <p:cNvPr id="15392" name="TextBox 15391"/>
          <p:cNvSpPr txBox="1"/>
          <p:nvPr/>
        </p:nvSpPr>
        <p:spPr>
          <a:xfrm>
            <a:off x="3364992" y="3502151"/>
            <a:ext cx="548640" cy="182880"/>
          </a:xfrm>
          <a:prstGeom prst="rect">
            <a:avLst/>
          </a:prstGeom>
          <a:noFill/>
        </p:spPr>
        <p:txBody>
          <a:bodyPr wrap="square" anchor="t" lIns="0" rIns="0" tIns="0" bIns="0">
            <a:spAutoFit/>
          </a:bodyPr>
          <a:lstStyle/>
          <a:p>
            <a:pPr algn="ctr">
              <a:lnSpc>
                <a:spcPct val="100000"/>
              </a:lnSpc>
            </a:pPr>
            <a:r>
              <a:rPr sz="1000" b="0" i="0">
                <a:solidFill>
                  <a:srgbClr val="8A97A4"/>
                </a:solidFill>
                <a:latin typeface="Calibri"/>
              </a:rPr>
              <a:t>2025</a:t>
            </a:r>
          </a:p>
        </p:txBody>
      </p:sp>
      <p:cxnSp>
        <p:nvCxnSpPr>
          <p:cNvPr id="15393" name="Connector 15392"/>
          <p:cNvCxnSpPr/>
          <p:nvPr/>
        </p:nvCxnSpPr>
        <p:spPr>
          <a:xfrm>
            <a:off x="4187952" y="3456432"/>
            <a:ext cx="0" cy="54864"/>
          </a:xfrm>
          <a:prstGeom prst="line">
            <a:avLst/>
          </a:prstGeom>
          <a:ln w="9525">
            <a:solidFill>
              <a:srgbClr val="8A97A4"/>
            </a:solidFill>
          </a:ln>
        </p:spPr>
        <p:style>
          <a:lnRef idx="2">
            <a:schemeClr val="accent1"/>
          </a:lnRef>
          <a:fillRef idx="0">
            <a:schemeClr val="accent1"/>
          </a:fillRef>
          <a:effectRef idx="1">
            <a:schemeClr val="accent1"/>
          </a:effectRef>
          <a:fontRef idx="minor">
            <a:schemeClr val="tx1"/>
          </a:fontRef>
        </p:style>
      </p:cxnSp>
      <p:sp>
        <p:nvSpPr>
          <p:cNvPr id="15394" name="TextBox 15393"/>
          <p:cNvSpPr txBox="1"/>
          <p:nvPr/>
        </p:nvSpPr>
        <p:spPr>
          <a:xfrm>
            <a:off x="3913632" y="3502151"/>
            <a:ext cx="548640" cy="182880"/>
          </a:xfrm>
          <a:prstGeom prst="rect">
            <a:avLst/>
          </a:prstGeom>
          <a:noFill/>
        </p:spPr>
        <p:txBody>
          <a:bodyPr wrap="square" anchor="t" lIns="0" rIns="0" tIns="0" bIns="0">
            <a:spAutoFit/>
          </a:bodyPr>
          <a:lstStyle/>
          <a:p>
            <a:pPr algn="ctr">
              <a:lnSpc>
                <a:spcPct val="100000"/>
              </a:lnSpc>
            </a:pPr>
            <a:r>
              <a:rPr sz="1000" b="0" i="0">
                <a:solidFill>
                  <a:srgbClr val="8A97A4"/>
                </a:solidFill>
                <a:latin typeface="Calibri"/>
              </a:rPr>
              <a:t>2026</a:t>
            </a:r>
          </a:p>
        </p:txBody>
      </p:sp>
      <p:cxnSp>
        <p:nvCxnSpPr>
          <p:cNvPr id="15395" name="Connector 15394"/>
          <p:cNvCxnSpPr/>
          <p:nvPr/>
        </p:nvCxnSpPr>
        <p:spPr>
          <a:xfrm>
            <a:off x="4736592" y="3456432"/>
            <a:ext cx="0" cy="54864"/>
          </a:xfrm>
          <a:prstGeom prst="line">
            <a:avLst/>
          </a:prstGeom>
          <a:ln w="9525">
            <a:solidFill>
              <a:srgbClr val="8A97A4"/>
            </a:solidFill>
          </a:ln>
        </p:spPr>
        <p:style>
          <a:lnRef idx="2">
            <a:schemeClr val="accent1"/>
          </a:lnRef>
          <a:fillRef idx="0">
            <a:schemeClr val="accent1"/>
          </a:fillRef>
          <a:effectRef idx="1">
            <a:schemeClr val="accent1"/>
          </a:effectRef>
          <a:fontRef idx="minor">
            <a:schemeClr val="tx1"/>
          </a:fontRef>
        </p:style>
      </p:cxnSp>
      <p:sp>
        <p:nvSpPr>
          <p:cNvPr id="15396" name="TextBox 15395"/>
          <p:cNvSpPr txBox="1"/>
          <p:nvPr/>
        </p:nvSpPr>
        <p:spPr>
          <a:xfrm>
            <a:off x="4462272" y="3502151"/>
            <a:ext cx="548640" cy="182880"/>
          </a:xfrm>
          <a:prstGeom prst="rect">
            <a:avLst/>
          </a:prstGeom>
          <a:noFill/>
        </p:spPr>
        <p:txBody>
          <a:bodyPr wrap="square" anchor="t" lIns="0" rIns="0" tIns="0" bIns="0">
            <a:spAutoFit/>
          </a:bodyPr>
          <a:lstStyle/>
          <a:p>
            <a:pPr algn="ctr">
              <a:lnSpc>
                <a:spcPct val="100000"/>
              </a:lnSpc>
            </a:pPr>
            <a:r>
              <a:rPr sz="1000" b="0" i="0">
                <a:solidFill>
                  <a:srgbClr val="8A97A4"/>
                </a:solidFill>
                <a:latin typeface="Calibri"/>
              </a:rPr>
              <a:t>2027</a:t>
            </a:r>
          </a:p>
        </p:txBody>
      </p:sp>
      <p:cxnSp>
        <p:nvCxnSpPr>
          <p:cNvPr id="15397" name="Connector 15396"/>
          <p:cNvCxnSpPr/>
          <p:nvPr/>
        </p:nvCxnSpPr>
        <p:spPr>
          <a:xfrm>
            <a:off x="5285232" y="3456432"/>
            <a:ext cx="0" cy="54864"/>
          </a:xfrm>
          <a:prstGeom prst="line">
            <a:avLst/>
          </a:prstGeom>
          <a:ln w="9525">
            <a:solidFill>
              <a:srgbClr val="8A97A4"/>
            </a:solidFill>
          </a:ln>
        </p:spPr>
        <p:style>
          <a:lnRef idx="2">
            <a:schemeClr val="accent1"/>
          </a:lnRef>
          <a:fillRef idx="0">
            <a:schemeClr val="accent1"/>
          </a:fillRef>
          <a:effectRef idx="1">
            <a:schemeClr val="accent1"/>
          </a:effectRef>
          <a:fontRef idx="minor">
            <a:schemeClr val="tx1"/>
          </a:fontRef>
        </p:style>
      </p:cxnSp>
      <p:sp>
        <p:nvSpPr>
          <p:cNvPr id="15398" name="TextBox 15397"/>
          <p:cNvSpPr txBox="1"/>
          <p:nvPr/>
        </p:nvSpPr>
        <p:spPr>
          <a:xfrm>
            <a:off x="5010912" y="3502151"/>
            <a:ext cx="548640" cy="182880"/>
          </a:xfrm>
          <a:prstGeom prst="rect">
            <a:avLst/>
          </a:prstGeom>
          <a:noFill/>
        </p:spPr>
        <p:txBody>
          <a:bodyPr wrap="square" anchor="t" lIns="0" rIns="0" tIns="0" bIns="0">
            <a:spAutoFit/>
          </a:bodyPr>
          <a:lstStyle/>
          <a:p>
            <a:pPr algn="ctr">
              <a:lnSpc>
                <a:spcPct val="100000"/>
              </a:lnSpc>
            </a:pPr>
            <a:r>
              <a:rPr sz="1000" b="0" i="0">
                <a:solidFill>
                  <a:srgbClr val="8A97A4"/>
                </a:solidFill>
                <a:latin typeface="Calibri"/>
              </a:rPr>
              <a:t>2028</a:t>
            </a:r>
          </a:p>
        </p:txBody>
      </p:sp>
      <p:cxnSp>
        <p:nvCxnSpPr>
          <p:cNvPr id="15399" name="Connector 15398"/>
          <p:cNvCxnSpPr/>
          <p:nvPr/>
        </p:nvCxnSpPr>
        <p:spPr>
          <a:xfrm>
            <a:off x="5833872" y="3456432"/>
            <a:ext cx="0" cy="54864"/>
          </a:xfrm>
          <a:prstGeom prst="line">
            <a:avLst/>
          </a:prstGeom>
          <a:ln w="9525">
            <a:solidFill>
              <a:srgbClr val="8A97A4"/>
            </a:solidFill>
          </a:ln>
        </p:spPr>
        <p:style>
          <a:lnRef idx="2">
            <a:schemeClr val="accent1"/>
          </a:lnRef>
          <a:fillRef idx="0">
            <a:schemeClr val="accent1"/>
          </a:fillRef>
          <a:effectRef idx="1">
            <a:schemeClr val="accent1"/>
          </a:effectRef>
          <a:fontRef idx="minor">
            <a:schemeClr val="tx1"/>
          </a:fontRef>
        </p:style>
      </p:cxnSp>
      <p:sp>
        <p:nvSpPr>
          <p:cNvPr id="15400" name="TextBox 15399"/>
          <p:cNvSpPr txBox="1"/>
          <p:nvPr/>
        </p:nvSpPr>
        <p:spPr>
          <a:xfrm>
            <a:off x="5559552" y="3502151"/>
            <a:ext cx="548640" cy="182880"/>
          </a:xfrm>
          <a:prstGeom prst="rect">
            <a:avLst/>
          </a:prstGeom>
          <a:noFill/>
        </p:spPr>
        <p:txBody>
          <a:bodyPr wrap="square" anchor="t" lIns="0" rIns="0" tIns="0" bIns="0">
            <a:spAutoFit/>
          </a:bodyPr>
          <a:lstStyle/>
          <a:p>
            <a:pPr algn="ctr">
              <a:lnSpc>
                <a:spcPct val="100000"/>
              </a:lnSpc>
            </a:pPr>
            <a:r>
              <a:rPr sz="1000" b="0" i="0">
                <a:solidFill>
                  <a:srgbClr val="8A97A4"/>
                </a:solidFill>
                <a:latin typeface="Calibri"/>
              </a:rPr>
              <a:t>2029</a:t>
            </a:r>
          </a:p>
        </p:txBody>
      </p:sp>
      <p:cxnSp>
        <p:nvCxnSpPr>
          <p:cNvPr id="15401" name="Connector 15400"/>
          <p:cNvCxnSpPr/>
          <p:nvPr/>
        </p:nvCxnSpPr>
        <p:spPr>
          <a:xfrm>
            <a:off x="6382512" y="3456432"/>
            <a:ext cx="0" cy="54864"/>
          </a:xfrm>
          <a:prstGeom prst="line">
            <a:avLst/>
          </a:prstGeom>
          <a:ln w="9525">
            <a:solidFill>
              <a:srgbClr val="8A97A4"/>
            </a:solidFill>
          </a:ln>
        </p:spPr>
        <p:style>
          <a:lnRef idx="2">
            <a:schemeClr val="accent1"/>
          </a:lnRef>
          <a:fillRef idx="0">
            <a:schemeClr val="accent1"/>
          </a:fillRef>
          <a:effectRef idx="1">
            <a:schemeClr val="accent1"/>
          </a:effectRef>
          <a:fontRef idx="minor">
            <a:schemeClr val="tx1"/>
          </a:fontRef>
        </p:style>
      </p:cxnSp>
      <p:sp>
        <p:nvSpPr>
          <p:cNvPr id="15402" name="TextBox 15401"/>
          <p:cNvSpPr txBox="1"/>
          <p:nvPr/>
        </p:nvSpPr>
        <p:spPr>
          <a:xfrm>
            <a:off x="6108192" y="3502151"/>
            <a:ext cx="548640" cy="182880"/>
          </a:xfrm>
          <a:prstGeom prst="rect">
            <a:avLst/>
          </a:prstGeom>
          <a:noFill/>
        </p:spPr>
        <p:txBody>
          <a:bodyPr wrap="square" anchor="t" lIns="0" rIns="0" tIns="0" bIns="0">
            <a:spAutoFit/>
          </a:bodyPr>
          <a:lstStyle/>
          <a:p>
            <a:pPr algn="ctr">
              <a:lnSpc>
                <a:spcPct val="100000"/>
              </a:lnSpc>
            </a:pPr>
            <a:r>
              <a:rPr sz="1000" b="0" i="0">
                <a:solidFill>
                  <a:srgbClr val="8A97A4"/>
                </a:solidFill>
                <a:latin typeface="Calibri"/>
              </a:rPr>
              <a:t>2030</a:t>
            </a:r>
          </a:p>
        </p:txBody>
      </p:sp>
      <p:cxnSp>
        <p:nvCxnSpPr>
          <p:cNvPr id="15403" name="Connector 15402"/>
          <p:cNvCxnSpPr/>
          <p:nvPr/>
        </p:nvCxnSpPr>
        <p:spPr>
          <a:xfrm>
            <a:off x="6931152" y="3456432"/>
            <a:ext cx="0" cy="54864"/>
          </a:xfrm>
          <a:prstGeom prst="line">
            <a:avLst/>
          </a:prstGeom>
          <a:ln w="9525">
            <a:solidFill>
              <a:srgbClr val="8A97A4"/>
            </a:solidFill>
          </a:ln>
        </p:spPr>
        <p:style>
          <a:lnRef idx="2">
            <a:schemeClr val="accent1"/>
          </a:lnRef>
          <a:fillRef idx="0">
            <a:schemeClr val="accent1"/>
          </a:fillRef>
          <a:effectRef idx="1">
            <a:schemeClr val="accent1"/>
          </a:effectRef>
          <a:fontRef idx="minor">
            <a:schemeClr val="tx1"/>
          </a:fontRef>
        </p:style>
      </p:cxnSp>
      <p:sp>
        <p:nvSpPr>
          <p:cNvPr id="15404" name="TextBox 15403"/>
          <p:cNvSpPr txBox="1"/>
          <p:nvPr/>
        </p:nvSpPr>
        <p:spPr>
          <a:xfrm>
            <a:off x="6656832" y="3502151"/>
            <a:ext cx="548640" cy="182880"/>
          </a:xfrm>
          <a:prstGeom prst="rect">
            <a:avLst/>
          </a:prstGeom>
          <a:noFill/>
        </p:spPr>
        <p:txBody>
          <a:bodyPr wrap="square" anchor="t" lIns="0" rIns="0" tIns="0" bIns="0">
            <a:spAutoFit/>
          </a:bodyPr>
          <a:lstStyle/>
          <a:p>
            <a:pPr algn="ctr">
              <a:lnSpc>
                <a:spcPct val="100000"/>
              </a:lnSpc>
            </a:pPr>
            <a:r>
              <a:rPr sz="1000" b="0" i="0">
                <a:solidFill>
                  <a:srgbClr val="8A97A4"/>
                </a:solidFill>
                <a:latin typeface="Calibri"/>
              </a:rPr>
              <a:t>2031</a:t>
            </a:r>
          </a:p>
        </p:txBody>
      </p:sp>
      <p:cxnSp>
        <p:nvCxnSpPr>
          <p:cNvPr id="15405" name="Connector 15404"/>
          <p:cNvCxnSpPr/>
          <p:nvPr/>
        </p:nvCxnSpPr>
        <p:spPr>
          <a:xfrm>
            <a:off x="7479792" y="3456432"/>
            <a:ext cx="0" cy="54864"/>
          </a:xfrm>
          <a:prstGeom prst="line">
            <a:avLst/>
          </a:prstGeom>
          <a:ln w="9525">
            <a:solidFill>
              <a:srgbClr val="8A97A4"/>
            </a:solidFill>
          </a:ln>
        </p:spPr>
        <p:style>
          <a:lnRef idx="2">
            <a:schemeClr val="accent1"/>
          </a:lnRef>
          <a:fillRef idx="0">
            <a:schemeClr val="accent1"/>
          </a:fillRef>
          <a:effectRef idx="1">
            <a:schemeClr val="accent1"/>
          </a:effectRef>
          <a:fontRef idx="minor">
            <a:schemeClr val="tx1"/>
          </a:fontRef>
        </p:style>
      </p:cxnSp>
      <p:sp>
        <p:nvSpPr>
          <p:cNvPr id="15406" name="TextBox 15405"/>
          <p:cNvSpPr txBox="1"/>
          <p:nvPr/>
        </p:nvSpPr>
        <p:spPr>
          <a:xfrm>
            <a:off x="7205472" y="3502151"/>
            <a:ext cx="548640" cy="182880"/>
          </a:xfrm>
          <a:prstGeom prst="rect">
            <a:avLst/>
          </a:prstGeom>
          <a:noFill/>
        </p:spPr>
        <p:txBody>
          <a:bodyPr wrap="square" anchor="t" lIns="0" rIns="0" tIns="0" bIns="0">
            <a:spAutoFit/>
          </a:bodyPr>
          <a:lstStyle/>
          <a:p>
            <a:pPr algn="ctr">
              <a:lnSpc>
                <a:spcPct val="100000"/>
              </a:lnSpc>
            </a:pPr>
            <a:r>
              <a:rPr sz="1000" b="0" i="0">
                <a:solidFill>
                  <a:srgbClr val="8A97A4"/>
                </a:solidFill>
                <a:latin typeface="Calibri"/>
              </a:rPr>
              <a:t>2032</a:t>
            </a:r>
          </a:p>
        </p:txBody>
      </p:sp>
      <p:cxnSp>
        <p:nvCxnSpPr>
          <p:cNvPr id="15407" name="Connector 15406"/>
          <p:cNvCxnSpPr/>
          <p:nvPr/>
        </p:nvCxnSpPr>
        <p:spPr>
          <a:xfrm>
            <a:off x="8028432" y="3456432"/>
            <a:ext cx="0" cy="54864"/>
          </a:xfrm>
          <a:prstGeom prst="line">
            <a:avLst/>
          </a:prstGeom>
          <a:ln w="9525">
            <a:solidFill>
              <a:srgbClr val="8A97A4"/>
            </a:solidFill>
          </a:ln>
        </p:spPr>
        <p:style>
          <a:lnRef idx="2">
            <a:schemeClr val="accent1"/>
          </a:lnRef>
          <a:fillRef idx="0">
            <a:schemeClr val="accent1"/>
          </a:fillRef>
          <a:effectRef idx="1">
            <a:schemeClr val="accent1"/>
          </a:effectRef>
          <a:fontRef idx="minor">
            <a:schemeClr val="tx1"/>
          </a:fontRef>
        </p:style>
      </p:cxnSp>
      <p:sp>
        <p:nvSpPr>
          <p:cNvPr id="15408" name="TextBox 15407"/>
          <p:cNvSpPr txBox="1"/>
          <p:nvPr/>
        </p:nvSpPr>
        <p:spPr>
          <a:xfrm>
            <a:off x="7754112" y="3502151"/>
            <a:ext cx="548640" cy="182880"/>
          </a:xfrm>
          <a:prstGeom prst="rect">
            <a:avLst/>
          </a:prstGeom>
          <a:noFill/>
        </p:spPr>
        <p:txBody>
          <a:bodyPr wrap="square" anchor="t" lIns="0" rIns="0" tIns="0" bIns="0">
            <a:spAutoFit/>
          </a:bodyPr>
          <a:lstStyle/>
          <a:p>
            <a:pPr algn="ctr">
              <a:lnSpc>
                <a:spcPct val="100000"/>
              </a:lnSpc>
            </a:pPr>
            <a:r>
              <a:rPr sz="1000" b="0" i="0">
                <a:solidFill>
                  <a:srgbClr val="8A97A4"/>
                </a:solidFill>
                <a:latin typeface="Calibri"/>
              </a:rPr>
              <a:t>2033</a:t>
            </a:r>
          </a:p>
        </p:txBody>
      </p:sp>
      <p:sp>
        <p:nvSpPr>
          <p:cNvPr id="15409" name="Rounded Rectangle 15408"/>
          <p:cNvSpPr/>
          <p:nvPr/>
        </p:nvSpPr>
        <p:spPr>
          <a:xfrm>
            <a:off x="4791418" y="3127248"/>
            <a:ext cx="3217486" cy="329184"/>
          </a:xfrm>
          <a:prstGeom prst="roundRect">
            <a:avLst>
              <a:gd name="adj" fmla="val 16666"/>
            </a:avLst>
          </a:prstGeom>
          <a:solidFill>
            <a:srgbClr val="CFE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10" name="Rounded Rectangle 15409"/>
          <p:cNvSpPr/>
          <p:nvPr/>
        </p:nvSpPr>
        <p:spPr>
          <a:xfrm>
            <a:off x="4791418" y="3127248"/>
            <a:ext cx="2609138" cy="329184"/>
          </a:xfrm>
          <a:prstGeom prst="roundRect">
            <a:avLst>
              <a:gd name="adj" fmla="val 16666"/>
            </a:avLst>
          </a:prstGeom>
          <a:solidFill>
            <a:srgbClr val="A9C7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11" name="TextBox 15410"/>
          <p:cNvSpPr txBox="1"/>
          <p:nvPr/>
        </p:nvSpPr>
        <p:spPr>
          <a:xfrm>
            <a:off x="6037593" y="3172968"/>
            <a:ext cx="2377440" cy="237744"/>
          </a:xfrm>
          <a:prstGeom prst="rect">
            <a:avLst/>
          </a:prstGeom>
          <a:noFill/>
        </p:spPr>
        <p:txBody>
          <a:bodyPr wrap="square" anchor="t" lIns="0" rIns="0" tIns="0" bIns="0">
            <a:spAutoFit/>
          </a:bodyPr>
          <a:lstStyle/>
          <a:p>
            <a:pPr algn="l">
              <a:lnSpc>
                <a:spcPct val="100000"/>
              </a:lnSpc>
            </a:pPr>
            <a:r>
              <a:rPr sz="1000" b="1" i="0">
                <a:solidFill>
                  <a:srgbClr val="0F2A44"/>
                </a:solidFill>
                <a:latin typeface="Calibri"/>
              </a:rPr>
              <a:t>what we add: the finish window</a:t>
            </a:r>
          </a:p>
        </p:txBody>
      </p:sp>
      <p:cxnSp>
        <p:nvCxnSpPr>
          <p:cNvPr id="15412" name="Connector 15411"/>
          <p:cNvCxnSpPr/>
          <p:nvPr/>
        </p:nvCxnSpPr>
        <p:spPr>
          <a:xfrm>
            <a:off x="4857510" y="2889503"/>
            <a:ext cx="0" cy="566929"/>
          </a:xfrm>
          <a:prstGeom prst="line">
            <a:avLst/>
          </a:prstGeom>
          <a:ln w="19050">
            <a:solidFill>
              <a:srgbClr val="C0392B"/>
            </a:solidFill>
            <a:prstDash val="dash"/>
          </a:ln>
        </p:spPr>
        <p:style>
          <a:lnRef idx="2">
            <a:schemeClr val="accent1"/>
          </a:lnRef>
          <a:fillRef idx="0">
            <a:schemeClr val="accent1"/>
          </a:fillRef>
          <a:effectRef idx="1">
            <a:schemeClr val="accent1"/>
          </a:effectRef>
          <a:fontRef idx="minor">
            <a:schemeClr val="tx1"/>
          </a:fontRef>
        </p:style>
      </p:cxnSp>
      <p:cxnSp>
        <p:nvCxnSpPr>
          <p:cNvPr id="15413" name="Connector 15412"/>
          <p:cNvCxnSpPr/>
          <p:nvPr/>
        </p:nvCxnSpPr>
        <p:spPr>
          <a:xfrm>
            <a:off x="5144410" y="2889503"/>
            <a:ext cx="0" cy="566929"/>
          </a:xfrm>
          <a:prstGeom prst="line">
            <a:avLst/>
          </a:prstGeom>
          <a:ln w="19050">
            <a:solidFill>
              <a:srgbClr val="C0392B"/>
            </a:solidFill>
            <a:prstDash val="dash"/>
          </a:ln>
        </p:spPr>
        <p:style>
          <a:lnRef idx="2">
            <a:schemeClr val="accent1"/>
          </a:lnRef>
          <a:fillRef idx="0">
            <a:schemeClr val="accent1"/>
          </a:fillRef>
          <a:effectRef idx="1">
            <a:schemeClr val="accent1"/>
          </a:effectRef>
          <a:fontRef idx="minor">
            <a:schemeClr val="tx1"/>
          </a:fontRef>
        </p:style>
      </p:cxnSp>
      <p:sp>
        <p:nvSpPr>
          <p:cNvPr id="15414" name="TextBox 15413"/>
          <p:cNvSpPr txBox="1"/>
          <p:nvPr/>
        </p:nvSpPr>
        <p:spPr>
          <a:xfrm>
            <a:off x="3639312" y="2450592"/>
            <a:ext cx="2651760" cy="365760"/>
          </a:xfrm>
          <a:prstGeom prst="rect">
            <a:avLst/>
          </a:prstGeom>
          <a:noFill/>
        </p:spPr>
        <p:txBody>
          <a:bodyPr wrap="square" anchor="t" lIns="0" rIns="0" tIns="0" bIns="0">
            <a:spAutoFit/>
          </a:bodyPr>
          <a:lstStyle/>
          <a:p>
            <a:pPr algn="l">
              <a:lnSpc>
                <a:spcPct val="95000"/>
              </a:lnSpc>
            </a:pPr>
            <a:r>
              <a:rPr sz="1000" b="1" i="0">
                <a:solidFill>
                  <a:srgbClr val="C0392B"/>
                </a:solidFill>
                <a:latin typeface="Calibri"/>
              </a:rPr>
              <a:t>PAIMANA's own dates (red):</a:t>
            </a:r>
          </a:p>
          <a:p>
            <a:pPr algn="l">
              <a:lnSpc>
                <a:spcPct val="95000"/>
              </a:lnSpc>
            </a:pPr>
            <a:r>
              <a:rPr sz="1000" b="0" i="0">
                <a:solidFill>
                  <a:srgbClr val="C0392B"/>
                </a:solidFill>
                <a:latin typeface="Calibri"/>
              </a:rPr>
              <a:t>original 23 Mar 2027 · revised 30 Sep 2027</a:t>
            </a:r>
          </a:p>
        </p:txBody>
      </p:sp>
      <p:sp>
        <p:nvSpPr>
          <p:cNvPr id="15415" name="Oval 15414"/>
          <p:cNvSpPr/>
          <p:nvPr/>
        </p:nvSpPr>
        <p:spPr>
          <a:xfrm>
            <a:off x="5571249" y="2907791"/>
            <a:ext cx="384048" cy="384048"/>
          </a:xfrm>
          <a:prstGeom prst="ellipse">
            <a:avLst/>
          </a:prstGeom>
          <a:solidFill>
            <a:srgbClr val="1F5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416" name="Picture 15415" descr="clock.png"/>
          <p:cNvPicPr>
            <a:picLocks noChangeAspect="1"/>
          </p:cNvPicPr>
          <p:nvPr/>
        </p:nvPicPr>
        <p:blipFill>
          <a:blip r:embed="rId11"/>
          <a:stretch>
            <a:fillRect/>
          </a:stretch>
        </p:blipFill>
        <p:spPr>
          <a:xfrm>
            <a:off x="5655740" y="2992282"/>
            <a:ext cx="215066" cy="215066"/>
          </a:xfrm>
          <a:prstGeom prst="rect">
            <a:avLst/>
          </a:prstGeom>
        </p:spPr>
      </p:pic>
      <p:sp>
        <p:nvSpPr>
          <p:cNvPr id="15417" name="Oval 15416"/>
          <p:cNvSpPr/>
          <p:nvPr/>
        </p:nvSpPr>
        <p:spPr>
          <a:xfrm>
            <a:off x="6291072" y="2432304"/>
            <a:ext cx="566928" cy="56692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18" name="TextBox 15417"/>
          <p:cNvSpPr txBox="1"/>
          <p:nvPr/>
        </p:nvSpPr>
        <p:spPr>
          <a:xfrm>
            <a:off x="6291072" y="2578608"/>
            <a:ext cx="566928" cy="274320"/>
          </a:xfrm>
          <a:prstGeom prst="rect">
            <a:avLst/>
          </a:prstGeom>
          <a:noFill/>
        </p:spPr>
        <p:txBody>
          <a:bodyPr wrap="square" anchor="t" lIns="0" rIns="0" tIns="0" bIns="0">
            <a:spAutoFit/>
          </a:bodyPr>
          <a:lstStyle/>
          <a:p>
            <a:pPr algn="ctr">
              <a:lnSpc>
                <a:spcPct val="100000"/>
              </a:lnSpc>
            </a:pPr>
            <a:r>
              <a:rPr sz="1400" b="1" i="0">
                <a:solidFill>
                  <a:srgbClr val="FFFFFF"/>
                </a:solidFill>
                <a:latin typeface="Calibri"/>
              </a:rPr>
              <a:t>22%</a:t>
            </a:r>
          </a:p>
        </p:txBody>
      </p:sp>
      <p:sp>
        <p:nvSpPr>
          <p:cNvPr id="15419" name="TextBox 15418"/>
          <p:cNvSpPr txBox="1"/>
          <p:nvPr/>
        </p:nvSpPr>
        <p:spPr>
          <a:xfrm>
            <a:off x="6931152" y="2468880"/>
            <a:ext cx="1691640" cy="457200"/>
          </a:xfrm>
          <a:prstGeom prst="rect">
            <a:avLst/>
          </a:prstGeom>
          <a:noFill/>
        </p:spPr>
        <p:txBody>
          <a:bodyPr wrap="square" anchor="t" lIns="0" rIns="0" tIns="0" bIns="0">
            <a:spAutoFit/>
          </a:bodyPr>
          <a:lstStyle/>
          <a:p>
            <a:pPr algn="l">
              <a:lnSpc>
                <a:spcPct val="97000"/>
              </a:lnSpc>
            </a:pPr>
            <a:r>
              <a:rPr sz="1100" b="1" i="0">
                <a:solidFill>
                  <a:srgbClr val="C0392B"/>
                </a:solidFill>
                <a:latin typeface="Calibri"/>
              </a:rPr>
              <a:t>chance it finishes by PAIMANA's Sep 2027 date</a:t>
            </a:r>
          </a:p>
        </p:txBody>
      </p:sp>
      <p:cxnSp>
        <p:nvCxnSpPr>
          <p:cNvPr id="15420" name="Connector 15419"/>
          <p:cNvCxnSpPr/>
          <p:nvPr/>
        </p:nvCxnSpPr>
        <p:spPr>
          <a:xfrm>
            <a:off x="4791418" y="3127248"/>
            <a:ext cx="0" cy="329184"/>
          </a:xfrm>
          <a:prstGeom prst="line">
            <a:avLst/>
          </a:prstGeom>
          <a:ln w="12700">
            <a:solidFill>
              <a:srgbClr val="1F5F73"/>
            </a:solidFill>
          </a:ln>
        </p:spPr>
        <p:style>
          <a:lnRef idx="2">
            <a:schemeClr val="accent1"/>
          </a:lnRef>
          <a:fillRef idx="0">
            <a:schemeClr val="accent1"/>
          </a:fillRef>
          <a:effectRef idx="1">
            <a:schemeClr val="accent1"/>
          </a:effectRef>
          <a:fontRef idx="minor">
            <a:schemeClr val="tx1"/>
          </a:fontRef>
        </p:style>
      </p:cxnSp>
      <p:cxnSp>
        <p:nvCxnSpPr>
          <p:cNvPr id="15421" name="Connector 15420"/>
          <p:cNvCxnSpPr/>
          <p:nvPr/>
        </p:nvCxnSpPr>
        <p:spPr>
          <a:xfrm>
            <a:off x="7400556" y="3127248"/>
            <a:ext cx="0" cy="329184"/>
          </a:xfrm>
          <a:prstGeom prst="line">
            <a:avLst/>
          </a:prstGeom>
          <a:ln w="12700">
            <a:solidFill>
              <a:srgbClr val="1F5F73"/>
            </a:solidFill>
          </a:ln>
        </p:spPr>
        <p:style>
          <a:lnRef idx="2">
            <a:schemeClr val="accent1"/>
          </a:lnRef>
          <a:fillRef idx="0">
            <a:schemeClr val="accent1"/>
          </a:fillRef>
          <a:effectRef idx="1">
            <a:schemeClr val="accent1"/>
          </a:effectRef>
          <a:fontRef idx="minor">
            <a:schemeClr val="tx1"/>
          </a:fontRef>
        </p:style>
      </p:cxnSp>
      <p:cxnSp>
        <p:nvCxnSpPr>
          <p:cNvPr id="15422" name="Connector 15421"/>
          <p:cNvCxnSpPr/>
          <p:nvPr/>
        </p:nvCxnSpPr>
        <p:spPr>
          <a:xfrm>
            <a:off x="8008904" y="3127248"/>
            <a:ext cx="0" cy="329184"/>
          </a:xfrm>
          <a:prstGeom prst="line">
            <a:avLst/>
          </a:prstGeom>
          <a:ln w="12700">
            <a:solidFill>
              <a:srgbClr val="1F5F73"/>
            </a:solidFill>
          </a:ln>
        </p:spPr>
        <p:style>
          <a:lnRef idx="2">
            <a:schemeClr val="accent1"/>
          </a:lnRef>
          <a:fillRef idx="0">
            <a:schemeClr val="accent1"/>
          </a:fillRef>
          <a:effectRef idx="1">
            <a:schemeClr val="accent1"/>
          </a:effectRef>
          <a:fontRef idx="minor">
            <a:schemeClr val="tx1"/>
          </a:fontRef>
        </p:style>
      </p:cxnSp>
      <p:sp>
        <p:nvSpPr>
          <p:cNvPr id="15423" name="TextBox 15422"/>
          <p:cNvSpPr txBox="1"/>
          <p:nvPr/>
        </p:nvSpPr>
        <p:spPr>
          <a:xfrm>
            <a:off x="3639312" y="3685031"/>
            <a:ext cx="4937760" cy="182880"/>
          </a:xfrm>
          <a:prstGeom prst="rect">
            <a:avLst/>
          </a:prstGeom>
          <a:noFill/>
        </p:spPr>
        <p:txBody>
          <a:bodyPr wrap="square" anchor="t" lIns="0" rIns="0" tIns="0" bIns="0">
            <a:spAutoFit/>
          </a:bodyPr>
          <a:lstStyle/>
          <a:p>
            <a:pPr algn="ctr">
              <a:lnSpc>
                <a:spcPct val="100000"/>
              </a:lnSpc>
            </a:pPr>
            <a:r>
              <a:rPr sz="1000" b="0" i="0">
                <a:solidFill>
                  <a:srgbClr val="3C4A57"/>
                </a:solidFill>
                <a:latin typeface="Calibri"/>
              </a:rPr>
              <a:t>P10 7 Feb 2027   ·   </a:t>
            </a:r>
            <a:r>
              <a:rPr sz="1000" b="1" i="0">
                <a:solidFill>
                  <a:srgbClr val="1F5F73"/>
                </a:solidFill>
                <a:latin typeface="Calibri"/>
              </a:rPr>
              <a:t>most likely (P50) 15 Nov 2028</a:t>
            </a:r>
            <a:r>
              <a:rPr sz="1000" b="0" i="0">
                <a:solidFill>
                  <a:srgbClr val="3C4A57"/>
                </a:solidFill>
                <a:latin typeface="Calibri"/>
              </a:rPr>
              <a:t>   ·   P80 10 Nov 2031   ·   P95 19 Dec 2032</a:t>
            </a:r>
          </a:p>
        </p:txBody>
      </p:sp>
      <p:sp>
        <p:nvSpPr>
          <p:cNvPr id="15424" name="TextBox 15423"/>
          <p:cNvSpPr txBox="1"/>
          <p:nvPr/>
        </p:nvSpPr>
        <p:spPr>
          <a:xfrm>
            <a:off x="3456432" y="3931920"/>
            <a:ext cx="5303520" cy="548640"/>
          </a:xfrm>
          <a:prstGeom prst="rect">
            <a:avLst/>
          </a:prstGeom>
          <a:noFill/>
        </p:spPr>
        <p:txBody>
          <a:bodyPr wrap="square" anchor="t" lIns="0" rIns="0" tIns="0" bIns="0">
            <a:spAutoFit/>
          </a:bodyPr>
          <a:lstStyle/>
          <a:p>
            <a:pPr algn="l">
              <a:lnSpc>
                <a:spcPct val="98000"/>
              </a:lnSpc>
            </a:pPr>
            <a:r>
              <a:rPr sz="1100" b="1" i="0">
                <a:solidFill>
                  <a:srgbClr val="16202A"/>
                </a:solidFill>
                <a:latin typeface="Calibri"/>
              </a:rPr>
              <a:t>Read it like this: </a:t>
            </a:r>
            <a:r>
              <a:rPr sz="1100" b="0" i="0">
                <a:solidFill>
                  <a:srgbClr val="16202A"/>
                </a:solidFill>
                <a:latin typeface="Calibri"/>
              </a:rPr>
              <a:t>most likely finish Nov 2028; the band holds 10–95% of outcomes. It is wide because the project is 25% built in 15 months on a 24-month plan, and this sector has few finished projects to learn from.</a:t>
            </a:r>
          </a:p>
        </p:txBody>
      </p:sp>
      <p:sp>
        <p:nvSpPr>
          <p:cNvPr id="15425" name="TextBox 15424"/>
          <p:cNvSpPr txBox="1"/>
          <p:nvPr/>
        </p:nvSpPr>
        <p:spPr>
          <a:xfrm>
            <a:off x="3456432" y="4480560"/>
            <a:ext cx="5303520" cy="384048"/>
          </a:xfrm>
          <a:prstGeom prst="rect">
            <a:avLst/>
          </a:prstGeom>
          <a:noFill/>
        </p:spPr>
        <p:txBody>
          <a:bodyPr wrap="square" anchor="t" lIns="0" rIns="0" tIns="0" bIns="0">
            <a:spAutoFit/>
          </a:bodyPr>
          <a:lstStyle/>
          <a:p>
            <a:pPr algn="l">
              <a:lnSpc>
                <a:spcPct val="98000"/>
              </a:lnSpc>
            </a:pPr>
            <a:r>
              <a:rPr sz="1000" b="1" i="0">
                <a:solidFill>
                  <a:srgbClr val="1F5F73"/>
                </a:solidFill>
                <a:latin typeface="Calibri"/>
              </a:rPr>
              <a:t>Tested on 596 held-out projects: </a:t>
            </a:r>
            <a:r>
              <a:rPr sz="1000" b="0" i="0">
                <a:solidFill>
                  <a:srgbClr val="1F5F73"/>
                </a:solidFill>
                <a:latin typeface="Calibri"/>
              </a:rPr>
              <a:t>the official revised date fell inside the band 79% of the time (51% before calibration).</a:t>
            </a:r>
          </a:p>
        </p:txBody>
      </p:sp>
      <p:sp>
        <p:nvSpPr>
          <p:cNvPr id="15426" name="Rounded Rectangle 15425"/>
          <p:cNvSpPr/>
          <p:nvPr/>
        </p:nvSpPr>
        <p:spPr>
          <a:xfrm>
            <a:off x="3456432" y="4901184"/>
            <a:ext cx="2834640" cy="310896"/>
          </a:xfrm>
          <a:prstGeom prst="roundRect">
            <a:avLst>
              <a:gd name="adj" fmla="val 50000"/>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27" name="TextBox 15426"/>
          <p:cNvSpPr txBox="1"/>
          <p:nvPr/>
        </p:nvSpPr>
        <p:spPr>
          <a:xfrm>
            <a:off x="3602736" y="4946904"/>
            <a:ext cx="2542032" cy="219456"/>
          </a:xfrm>
          <a:prstGeom prst="rect">
            <a:avLst/>
          </a:prstGeom>
          <a:noFill/>
        </p:spPr>
        <p:txBody>
          <a:bodyPr wrap="square" anchor="t" lIns="0" rIns="0" tIns="0" bIns="0">
            <a:spAutoFit/>
          </a:bodyPr>
          <a:lstStyle/>
          <a:p>
            <a:pPr algn="l">
              <a:lnSpc>
                <a:spcPct val="100000"/>
              </a:lnSpc>
            </a:pPr>
            <a:r>
              <a:rPr sz="1100" b="1" i="0">
                <a:solidFill>
                  <a:srgbClr val="FFFFFF"/>
                </a:solidFill>
                <a:latin typeface="Calibri"/>
              </a:rPr>
              <a:t>How it addresses the problem</a:t>
            </a:r>
          </a:p>
        </p:txBody>
      </p:sp>
      <p:sp>
        <p:nvSpPr>
          <p:cNvPr id="15428" name="Rounded Rectangle 15427"/>
          <p:cNvSpPr/>
          <p:nvPr/>
        </p:nvSpPr>
        <p:spPr>
          <a:xfrm>
            <a:off x="6428231" y="4919472"/>
            <a:ext cx="2331720" cy="274320"/>
          </a:xfrm>
          <a:prstGeom prst="roundRect">
            <a:avLst>
              <a:gd name="adj" fmla="val 50000"/>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29" name="TextBox 15428"/>
          <p:cNvSpPr txBox="1"/>
          <p:nvPr/>
        </p:nvSpPr>
        <p:spPr>
          <a:xfrm>
            <a:off x="6473952" y="4956048"/>
            <a:ext cx="2240280" cy="201168"/>
          </a:xfrm>
          <a:prstGeom prst="rect">
            <a:avLst/>
          </a:prstGeom>
          <a:noFill/>
        </p:spPr>
        <p:txBody>
          <a:bodyPr wrap="square" anchor="t" lIns="0" rIns="0" tIns="0" bIns="0">
            <a:spAutoFit/>
          </a:bodyPr>
          <a:lstStyle/>
          <a:p>
            <a:pPr algn="ctr">
              <a:lnSpc>
                <a:spcPct val="100000"/>
              </a:lnSpc>
            </a:pPr>
            <a:r>
              <a:rPr sz="1000" b="1" i="0">
                <a:solidFill>
                  <a:srgbClr val="0F2A44"/>
                </a:solidFill>
                <a:latin typeface="Calibri"/>
              </a:rPr>
              <a:t>Outcomes covered: a b c d e g h i · f partly</a:t>
            </a:r>
          </a:p>
        </p:txBody>
      </p:sp>
      <p:sp>
        <p:nvSpPr>
          <p:cNvPr id="15430" name="Oval 15429"/>
          <p:cNvSpPr/>
          <p:nvPr/>
        </p:nvSpPr>
        <p:spPr>
          <a:xfrm>
            <a:off x="3474720" y="5294376"/>
            <a:ext cx="256032" cy="256032"/>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31" name="TextBox 15430"/>
          <p:cNvSpPr txBox="1"/>
          <p:nvPr/>
        </p:nvSpPr>
        <p:spPr>
          <a:xfrm>
            <a:off x="3474720" y="5312664"/>
            <a:ext cx="256032" cy="219456"/>
          </a:xfrm>
          <a:prstGeom prst="rect">
            <a:avLst/>
          </a:prstGeom>
          <a:noFill/>
        </p:spPr>
        <p:txBody>
          <a:bodyPr wrap="square" anchor="t" lIns="0" rIns="0" tIns="0" bIns="0">
            <a:spAutoFit/>
          </a:bodyPr>
          <a:lstStyle/>
          <a:p>
            <a:pPr algn="ctr">
              <a:lnSpc>
                <a:spcPct val="100000"/>
              </a:lnSpc>
            </a:pPr>
            <a:r>
              <a:rPr sz="1100" b="1" i="0">
                <a:solidFill>
                  <a:srgbClr val="FFFFFF"/>
                </a:solidFill>
                <a:latin typeface="Calibri"/>
              </a:rPr>
              <a:t>a</a:t>
            </a:r>
          </a:p>
        </p:txBody>
      </p:sp>
      <p:sp>
        <p:nvSpPr>
          <p:cNvPr id="15432" name="TextBox 15431"/>
          <p:cNvSpPr txBox="1"/>
          <p:nvPr/>
        </p:nvSpPr>
        <p:spPr>
          <a:xfrm>
            <a:off x="3822191" y="5266944"/>
            <a:ext cx="4892040" cy="329184"/>
          </a:xfrm>
          <a:prstGeom prst="rect">
            <a:avLst/>
          </a:prstGeom>
          <a:noFill/>
        </p:spPr>
        <p:txBody>
          <a:bodyPr wrap="square" anchor="t" lIns="0" rIns="0" tIns="0" bIns="0">
            <a:spAutoFit/>
          </a:bodyPr>
          <a:lstStyle/>
          <a:p>
            <a:pPr algn="l">
              <a:lnSpc>
                <a:spcPct val="92000"/>
              </a:lnSpc>
            </a:pPr>
            <a:r>
              <a:rPr sz="1100" b="1" i="0">
                <a:solidFill>
                  <a:srgbClr val="16202A"/>
                </a:solidFill>
                <a:latin typeface="Calibri"/>
              </a:rPr>
              <a:t>Statistical and predictive models → </a:t>
            </a:r>
            <a:r>
              <a:rPr sz="1100" b="0" i="0">
                <a:solidFill>
                  <a:srgbClr val="3C4A57"/>
                </a:solidFill>
                <a:latin typeface="Calibri"/>
              </a:rPr>
              <a:t>three built (survival model for time; OLS and boosting for cost), tested on projects newer than the training data</a:t>
            </a:r>
          </a:p>
        </p:txBody>
      </p:sp>
      <p:sp>
        <p:nvSpPr>
          <p:cNvPr id="15433" name="Oval 15432"/>
          <p:cNvSpPr/>
          <p:nvPr/>
        </p:nvSpPr>
        <p:spPr>
          <a:xfrm>
            <a:off x="3474720" y="5623560"/>
            <a:ext cx="256032" cy="256032"/>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34" name="TextBox 15433"/>
          <p:cNvSpPr txBox="1"/>
          <p:nvPr/>
        </p:nvSpPr>
        <p:spPr>
          <a:xfrm>
            <a:off x="3474720" y="5641848"/>
            <a:ext cx="256032" cy="219456"/>
          </a:xfrm>
          <a:prstGeom prst="rect">
            <a:avLst/>
          </a:prstGeom>
          <a:noFill/>
        </p:spPr>
        <p:txBody>
          <a:bodyPr wrap="square" anchor="t" lIns="0" rIns="0" tIns="0" bIns="0">
            <a:spAutoFit/>
          </a:bodyPr>
          <a:lstStyle/>
          <a:p>
            <a:pPr algn="ctr">
              <a:lnSpc>
                <a:spcPct val="100000"/>
              </a:lnSpc>
            </a:pPr>
            <a:r>
              <a:rPr sz="1100" b="1" i="0">
                <a:solidFill>
                  <a:srgbClr val="FFFFFF"/>
                </a:solidFill>
                <a:latin typeface="Calibri"/>
              </a:rPr>
              <a:t>b</a:t>
            </a:r>
          </a:p>
        </p:txBody>
      </p:sp>
      <p:sp>
        <p:nvSpPr>
          <p:cNvPr id="15435" name="TextBox 15434"/>
          <p:cNvSpPr txBox="1"/>
          <p:nvPr/>
        </p:nvSpPr>
        <p:spPr>
          <a:xfrm>
            <a:off x="3822191" y="5596128"/>
            <a:ext cx="4892040" cy="329184"/>
          </a:xfrm>
          <a:prstGeom prst="rect">
            <a:avLst/>
          </a:prstGeom>
          <a:noFill/>
        </p:spPr>
        <p:txBody>
          <a:bodyPr wrap="square" anchor="t" lIns="0" rIns="0" tIns="0" bIns="0">
            <a:spAutoFit/>
          </a:bodyPr>
          <a:lstStyle/>
          <a:p>
            <a:pPr algn="l">
              <a:lnSpc>
                <a:spcPct val="92000"/>
              </a:lnSpc>
            </a:pPr>
            <a:r>
              <a:rPr sz="1100" b="1" i="0">
                <a:solidFill>
                  <a:srgbClr val="16202A"/>
                </a:solidFill>
                <a:latin typeface="Calibri"/>
              </a:rPr>
              <a:t>Does AI beat conventional statistics? → </a:t>
            </a:r>
            <a:r>
              <a:rPr sz="1100" b="0" i="0">
                <a:solidFill>
                  <a:srgbClr val="3C4A57"/>
                </a:solidFill>
                <a:latin typeface="Calibri"/>
              </a:rPr>
              <a:t>boosting beats the sector average by 12% but OLS by only 2.6%; the real gain is calibration — window hit-rate 51% → 79%</a:t>
            </a:r>
          </a:p>
        </p:txBody>
      </p:sp>
      <p:sp>
        <p:nvSpPr>
          <p:cNvPr id="15436" name="Oval 15435"/>
          <p:cNvSpPr/>
          <p:nvPr/>
        </p:nvSpPr>
        <p:spPr>
          <a:xfrm>
            <a:off x="3474720" y="5952744"/>
            <a:ext cx="256032" cy="256032"/>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37" name="TextBox 15436"/>
          <p:cNvSpPr txBox="1"/>
          <p:nvPr/>
        </p:nvSpPr>
        <p:spPr>
          <a:xfrm>
            <a:off x="3474720" y="5971032"/>
            <a:ext cx="256032" cy="219456"/>
          </a:xfrm>
          <a:prstGeom prst="rect">
            <a:avLst/>
          </a:prstGeom>
          <a:noFill/>
        </p:spPr>
        <p:txBody>
          <a:bodyPr wrap="square" anchor="t" lIns="0" rIns="0" tIns="0" bIns="0">
            <a:spAutoFit/>
          </a:bodyPr>
          <a:lstStyle/>
          <a:p>
            <a:pPr algn="ctr">
              <a:lnSpc>
                <a:spcPct val="100000"/>
              </a:lnSpc>
            </a:pPr>
            <a:r>
              <a:rPr sz="1100" b="1" i="0">
                <a:solidFill>
                  <a:srgbClr val="FFFFFF"/>
                </a:solidFill>
                <a:latin typeface="Calibri"/>
              </a:rPr>
              <a:t>c</a:t>
            </a:r>
          </a:p>
        </p:txBody>
      </p:sp>
      <p:sp>
        <p:nvSpPr>
          <p:cNvPr id="15438" name="TextBox 15437"/>
          <p:cNvSpPr txBox="1"/>
          <p:nvPr/>
        </p:nvSpPr>
        <p:spPr>
          <a:xfrm>
            <a:off x="3822191" y="5925312"/>
            <a:ext cx="4892040" cy="329184"/>
          </a:xfrm>
          <a:prstGeom prst="rect">
            <a:avLst/>
          </a:prstGeom>
          <a:noFill/>
        </p:spPr>
        <p:txBody>
          <a:bodyPr wrap="square" anchor="t" lIns="0" rIns="0" tIns="0" bIns="0">
            <a:spAutoFit/>
          </a:bodyPr>
          <a:lstStyle/>
          <a:p>
            <a:pPr algn="l">
              <a:lnSpc>
                <a:spcPct val="92000"/>
              </a:lnSpc>
            </a:pPr>
            <a:r>
              <a:rPr sz="1100" b="1" i="0">
                <a:solidFill>
                  <a:srgbClr val="16202A"/>
                </a:solidFill>
                <a:latin typeface="Calibri"/>
              </a:rPr>
              <a:t>Extra variables beyond CUF fields? → </a:t>
            </a:r>
            <a:r>
              <a:rPr sz="1100" b="0" i="0">
                <a:solidFill>
                  <a:srgbClr val="3C4A57"/>
                </a:solidFill>
                <a:latin typeface="Calibri"/>
              </a:rPr>
              <a:t>rain, prices, elections and seven more did not help; land, clearance and milestone fields would — our ask to MoSPI</a:t>
            </a:r>
          </a:p>
        </p:txBody>
      </p:sp>
      <p:sp>
        <p:nvSpPr>
          <p:cNvPr id="15439" name="Rounded Rectangle 15438"/>
          <p:cNvSpPr/>
          <p:nvPr/>
        </p:nvSpPr>
        <p:spPr>
          <a:xfrm>
            <a:off x="8942832" y="1572768"/>
            <a:ext cx="2990088" cy="310896"/>
          </a:xfrm>
          <a:prstGeom prst="roundRect">
            <a:avLst>
              <a:gd name="adj" fmla="val 50000"/>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40" name="TextBox 15439"/>
          <p:cNvSpPr txBox="1"/>
          <p:nvPr/>
        </p:nvSpPr>
        <p:spPr>
          <a:xfrm>
            <a:off x="9089136" y="1618488"/>
            <a:ext cx="2697480" cy="219456"/>
          </a:xfrm>
          <a:prstGeom prst="rect">
            <a:avLst/>
          </a:prstGeom>
          <a:noFill/>
        </p:spPr>
        <p:txBody>
          <a:bodyPr wrap="square" anchor="t" lIns="0" rIns="0" tIns="0" bIns="0">
            <a:spAutoFit/>
          </a:bodyPr>
          <a:lstStyle/>
          <a:p>
            <a:pPr algn="l">
              <a:lnSpc>
                <a:spcPct val="100000"/>
              </a:lnSpc>
            </a:pPr>
            <a:r>
              <a:rPr sz="1100" b="1" i="0">
                <a:solidFill>
                  <a:srgbClr val="FFFFFF"/>
                </a:solidFill>
                <a:latin typeface="Calibri"/>
              </a:rPr>
              <a:t>Detailed explanation of the proposed solution</a:t>
            </a:r>
          </a:p>
        </p:txBody>
      </p:sp>
      <p:sp>
        <p:nvSpPr>
          <p:cNvPr id="15441" name="Oval 15440"/>
          <p:cNvSpPr/>
          <p:nvPr/>
        </p:nvSpPr>
        <p:spPr>
          <a:xfrm>
            <a:off x="8942832" y="1975104"/>
            <a:ext cx="384048" cy="384048"/>
          </a:xfrm>
          <a:prstGeom prst="ellipse">
            <a:avLst/>
          </a:prstGeom>
          <a:solidFill>
            <a:srgbClr val="1F5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442" name="Picture 15441" descr="clock.png"/>
          <p:cNvPicPr>
            <a:picLocks noChangeAspect="1"/>
          </p:cNvPicPr>
          <p:nvPr/>
        </p:nvPicPr>
        <p:blipFill>
          <a:blip r:embed="rId11"/>
          <a:stretch>
            <a:fillRect/>
          </a:stretch>
        </p:blipFill>
        <p:spPr>
          <a:xfrm>
            <a:off x="9027322" y="2059594"/>
            <a:ext cx="215066" cy="215066"/>
          </a:xfrm>
          <a:prstGeom prst="rect">
            <a:avLst/>
          </a:prstGeom>
        </p:spPr>
      </p:pic>
      <p:sp>
        <p:nvSpPr>
          <p:cNvPr id="15443" name="TextBox 15442"/>
          <p:cNvSpPr txBox="1"/>
          <p:nvPr/>
        </p:nvSpPr>
        <p:spPr>
          <a:xfrm>
            <a:off x="9454896" y="1965960"/>
            <a:ext cx="2478024" cy="566928"/>
          </a:xfrm>
          <a:prstGeom prst="rect">
            <a:avLst/>
          </a:prstGeom>
          <a:noFill/>
        </p:spPr>
        <p:txBody>
          <a:bodyPr wrap="square" anchor="t" lIns="0" rIns="0" tIns="0" bIns="0">
            <a:spAutoFit/>
          </a:bodyPr>
          <a:lstStyle/>
          <a:p>
            <a:pPr algn="l">
              <a:lnSpc>
                <a:spcPct val="98000"/>
              </a:lnSpc>
            </a:pPr>
            <a:r>
              <a:rPr sz="1100" b="1" i="0">
                <a:solidFill>
                  <a:srgbClr val="16202A"/>
                </a:solidFill>
                <a:latin typeface="Calibri"/>
              </a:rPr>
              <a:t>Finish window</a:t>
            </a:r>
            <a:r>
              <a:rPr sz="1100" b="0" i="0">
                <a:solidFill>
                  <a:srgbClr val="3C4A57"/>
                </a:solidFill>
                <a:latin typeface="Calibri"/>
              </a:rPr>
              <a:t> — a likely finish date with a best-to-worst range, made for projects that have not finished yet</a:t>
            </a:r>
          </a:p>
        </p:txBody>
      </p:sp>
      <p:sp>
        <p:nvSpPr>
          <p:cNvPr id="15444" name="Oval 15443"/>
          <p:cNvSpPr/>
          <p:nvPr/>
        </p:nvSpPr>
        <p:spPr>
          <a:xfrm>
            <a:off x="8942832" y="2542032"/>
            <a:ext cx="384048" cy="384048"/>
          </a:xfrm>
          <a:prstGeom prst="ellipse">
            <a:avLst/>
          </a:prstGeom>
          <a:solidFill>
            <a:srgbClr val="1F5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445" name="Picture 15444" descr="receipt.png"/>
          <p:cNvPicPr>
            <a:picLocks noChangeAspect="1"/>
          </p:cNvPicPr>
          <p:nvPr/>
        </p:nvPicPr>
        <p:blipFill>
          <a:blip r:embed="rId12"/>
          <a:stretch>
            <a:fillRect/>
          </a:stretch>
        </p:blipFill>
        <p:spPr>
          <a:xfrm>
            <a:off x="9027322" y="2626522"/>
            <a:ext cx="215066" cy="215066"/>
          </a:xfrm>
          <a:prstGeom prst="rect">
            <a:avLst/>
          </a:prstGeom>
        </p:spPr>
      </p:pic>
      <p:sp>
        <p:nvSpPr>
          <p:cNvPr id="15446" name="TextBox 15445"/>
          <p:cNvSpPr txBox="1"/>
          <p:nvPr/>
        </p:nvSpPr>
        <p:spPr>
          <a:xfrm>
            <a:off x="9454896" y="2532888"/>
            <a:ext cx="2478024" cy="566928"/>
          </a:xfrm>
          <a:prstGeom prst="rect">
            <a:avLst/>
          </a:prstGeom>
          <a:noFill/>
        </p:spPr>
        <p:txBody>
          <a:bodyPr wrap="square" anchor="t" lIns="0" rIns="0" tIns="0" bIns="0">
            <a:spAutoFit/>
          </a:bodyPr>
          <a:lstStyle/>
          <a:p>
            <a:pPr algn="l">
              <a:lnSpc>
                <a:spcPct val="98000"/>
              </a:lnSpc>
            </a:pPr>
            <a:r>
              <a:rPr sz="1100" b="1" i="0">
                <a:solidFill>
                  <a:srgbClr val="16202A"/>
                </a:solidFill>
                <a:latin typeface="Calibri"/>
              </a:rPr>
              <a:t>Cost-overrun estimate</a:t>
            </a:r>
            <a:r>
              <a:rPr sz="1100" b="0" i="0">
                <a:solidFill>
                  <a:srgbClr val="3C4A57"/>
                </a:solidFill>
                <a:latin typeface="Calibri"/>
              </a:rPr>
              <a:t> — checked against the Ministry's own sector averages on newer projects</a:t>
            </a:r>
          </a:p>
        </p:txBody>
      </p:sp>
      <p:sp>
        <p:nvSpPr>
          <p:cNvPr id="15447" name="Oval 15446"/>
          <p:cNvSpPr/>
          <p:nvPr/>
        </p:nvSpPr>
        <p:spPr>
          <a:xfrm>
            <a:off x="8942832" y="3108960"/>
            <a:ext cx="384048" cy="384048"/>
          </a:xfrm>
          <a:prstGeom prst="ellipse">
            <a:avLst/>
          </a:prstGeom>
          <a:solidFill>
            <a:srgbClr val="1F5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448" name="Picture 15447" descr="list-numbers.png"/>
          <p:cNvPicPr>
            <a:picLocks noChangeAspect="1"/>
          </p:cNvPicPr>
          <p:nvPr/>
        </p:nvPicPr>
        <p:blipFill>
          <a:blip r:embed="rId13"/>
          <a:stretch>
            <a:fillRect/>
          </a:stretch>
        </p:blipFill>
        <p:spPr>
          <a:xfrm>
            <a:off x="9027322" y="3193450"/>
            <a:ext cx="215066" cy="215066"/>
          </a:xfrm>
          <a:prstGeom prst="rect">
            <a:avLst/>
          </a:prstGeom>
        </p:spPr>
      </p:pic>
      <p:sp>
        <p:nvSpPr>
          <p:cNvPr id="15449" name="TextBox 15448"/>
          <p:cNvSpPr txBox="1"/>
          <p:nvPr/>
        </p:nvSpPr>
        <p:spPr>
          <a:xfrm>
            <a:off x="9454896" y="3099816"/>
            <a:ext cx="2478024" cy="566928"/>
          </a:xfrm>
          <a:prstGeom prst="rect">
            <a:avLst/>
          </a:prstGeom>
          <a:noFill/>
        </p:spPr>
        <p:txBody>
          <a:bodyPr wrap="square" anchor="t" lIns="0" rIns="0" tIns="0" bIns="0">
            <a:spAutoFit/>
          </a:bodyPr>
          <a:lstStyle/>
          <a:p>
            <a:pPr algn="l">
              <a:lnSpc>
                <a:spcPct val="98000"/>
              </a:lnSpc>
            </a:pPr>
            <a:r>
              <a:rPr sz="1100" b="1" i="0">
                <a:solidFill>
                  <a:srgbClr val="16202A"/>
                </a:solidFill>
                <a:latin typeface="Calibri"/>
              </a:rPr>
              <a:t>Ranked watch-list</a:t>
            </a:r>
            <a:r>
              <a:rPr sz="1100" b="0" i="0">
                <a:solidFill>
                  <a:srgbClr val="3C4A57"/>
                </a:solidFill>
                <a:latin typeface="Calibri"/>
              </a:rPr>
              <a:t> — which projects to look at this month, and why; weights set by the Ministry</a:t>
            </a:r>
          </a:p>
        </p:txBody>
      </p:sp>
      <p:sp>
        <p:nvSpPr>
          <p:cNvPr id="15450" name="Oval 15449"/>
          <p:cNvSpPr/>
          <p:nvPr/>
        </p:nvSpPr>
        <p:spPr>
          <a:xfrm>
            <a:off x="8942832" y="3675888"/>
            <a:ext cx="384048" cy="384048"/>
          </a:xfrm>
          <a:prstGeom prst="ellipse">
            <a:avLst/>
          </a:prstGeom>
          <a:solidFill>
            <a:srgbClr val="1F5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451" name="Picture 15450" descr="language.png"/>
          <p:cNvPicPr>
            <a:picLocks noChangeAspect="1"/>
          </p:cNvPicPr>
          <p:nvPr/>
        </p:nvPicPr>
        <p:blipFill>
          <a:blip r:embed="rId14"/>
          <a:stretch>
            <a:fillRect/>
          </a:stretch>
        </p:blipFill>
        <p:spPr>
          <a:xfrm>
            <a:off x="9027322" y="3760378"/>
            <a:ext cx="215066" cy="215066"/>
          </a:xfrm>
          <a:prstGeom prst="rect">
            <a:avLst/>
          </a:prstGeom>
        </p:spPr>
      </p:pic>
      <p:sp>
        <p:nvSpPr>
          <p:cNvPr id="15452" name="TextBox 15451"/>
          <p:cNvSpPr txBox="1"/>
          <p:nvPr/>
        </p:nvSpPr>
        <p:spPr>
          <a:xfrm>
            <a:off x="9454896" y="3666744"/>
            <a:ext cx="2478024" cy="566928"/>
          </a:xfrm>
          <a:prstGeom prst="rect">
            <a:avLst/>
          </a:prstGeom>
          <a:noFill/>
        </p:spPr>
        <p:txBody>
          <a:bodyPr wrap="square" anchor="t" lIns="0" rIns="0" tIns="0" bIns="0">
            <a:spAutoFit/>
          </a:bodyPr>
          <a:lstStyle/>
          <a:p>
            <a:pPr algn="l">
              <a:lnSpc>
                <a:spcPct val="98000"/>
              </a:lnSpc>
            </a:pPr>
            <a:r>
              <a:rPr sz="1100" b="1" i="0">
                <a:solidFill>
                  <a:srgbClr val="16202A"/>
                </a:solidFill>
                <a:latin typeface="Calibri"/>
              </a:rPr>
              <a:t>English / Hindi brief</a:t>
            </a:r>
            <a:r>
              <a:rPr sz="1100" b="0" i="0">
                <a:solidFill>
                  <a:srgbClr val="3C4A57"/>
                </a:solidFill>
                <a:latin typeface="Calibri"/>
              </a:rPr>
              <a:t> — every sentence points to its source record; runs offline; open-source</a:t>
            </a:r>
          </a:p>
        </p:txBody>
      </p:sp>
      <p:sp>
        <p:nvSpPr>
          <p:cNvPr id="15453" name="Rounded Rectangle 15452"/>
          <p:cNvSpPr/>
          <p:nvPr/>
        </p:nvSpPr>
        <p:spPr>
          <a:xfrm>
            <a:off x="8942832" y="4261104"/>
            <a:ext cx="2990088" cy="310896"/>
          </a:xfrm>
          <a:prstGeom prst="roundRect">
            <a:avLst>
              <a:gd name="adj" fmla="val 50000"/>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54" name="TextBox 15453"/>
          <p:cNvSpPr txBox="1"/>
          <p:nvPr/>
        </p:nvSpPr>
        <p:spPr>
          <a:xfrm>
            <a:off x="9089136" y="4306824"/>
            <a:ext cx="2697480" cy="219456"/>
          </a:xfrm>
          <a:prstGeom prst="rect">
            <a:avLst/>
          </a:prstGeom>
          <a:noFill/>
        </p:spPr>
        <p:txBody>
          <a:bodyPr wrap="square" anchor="t" lIns="0" rIns="0" tIns="0" bIns="0">
            <a:spAutoFit/>
          </a:bodyPr>
          <a:lstStyle/>
          <a:p>
            <a:pPr algn="l">
              <a:lnSpc>
                <a:spcPct val="100000"/>
              </a:lnSpc>
            </a:pPr>
            <a:r>
              <a:rPr sz="1100" b="1" i="0">
                <a:solidFill>
                  <a:srgbClr val="FFFFFF"/>
                </a:solidFill>
                <a:latin typeface="Calibri"/>
              </a:rPr>
              <a:t>Innovation and uniqueness of the solution</a:t>
            </a:r>
          </a:p>
        </p:txBody>
      </p:sp>
      <p:sp>
        <p:nvSpPr>
          <p:cNvPr id="15455" name="TextBox 15454"/>
          <p:cNvSpPr txBox="1"/>
          <p:nvPr/>
        </p:nvSpPr>
        <p:spPr>
          <a:xfrm>
            <a:off x="8942832" y="4626864"/>
            <a:ext cx="1371600" cy="201168"/>
          </a:xfrm>
          <a:prstGeom prst="rect">
            <a:avLst/>
          </a:prstGeom>
          <a:noFill/>
        </p:spPr>
        <p:txBody>
          <a:bodyPr wrap="square" anchor="t" lIns="0" rIns="0" tIns="0" bIns="0">
            <a:spAutoFit/>
          </a:bodyPr>
          <a:lstStyle/>
          <a:p>
            <a:pPr algn="ctr">
              <a:lnSpc>
                <a:spcPct val="100000"/>
              </a:lnSpc>
            </a:pPr>
            <a:r>
              <a:rPr sz="1000" b="1" i="0">
                <a:solidFill>
                  <a:srgbClr val="C0392B"/>
                </a:solidFill>
                <a:latin typeface="Calibri"/>
              </a:rPr>
              <a:t>Today</a:t>
            </a:r>
          </a:p>
        </p:txBody>
      </p:sp>
      <p:sp>
        <p:nvSpPr>
          <p:cNvPr id="15456" name="TextBox 15455"/>
          <p:cNvSpPr txBox="1"/>
          <p:nvPr/>
        </p:nvSpPr>
        <p:spPr>
          <a:xfrm>
            <a:off x="10543032" y="4626864"/>
            <a:ext cx="1389888" cy="201168"/>
          </a:xfrm>
          <a:prstGeom prst="rect">
            <a:avLst/>
          </a:prstGeom>
          <a:noFill/>
        </p:spPr>
        <p:txBody>
          <a:bodyPr wrap="square" anchor="t" lIns="0" rIns="0" tIns="0" bIns="0">
            <a:spAutoFit/>
          </a:bodyPr>
          <a:lstStyle/>
          <a:p>
            <a:pPr algn="ctr">
              <a:lnSpc>
                <a:spcPct val="100000"/>
              </a:lnSpc>
            </a:pPr>
            <a:r>
              <a:rPr sz="1000" b="1" i="0">
                <a:solidFill>
                  <a:srgbClr val="2E8B57"/>
                </a:solidFill>
                <a:latin typeface="Calibri"/>
              </a:rPr>
              <a:t>With PRAKALP-DRISHTI</a:t>
            </a:r>
          </a:p>
        </p:txBody>
      </p:sp>
      <p:sp>
        <p:nvSpPr>
          <p:cNvPr id="15457" name="Rounded Rectangle 15456"/>
          <p:cNvSpPr/>
          <p:nvPr/>
        </p:nvSpPr>
        <p:spPr>
          <a:xfrm>
            <a:off x="8942832" y="4846320"/>
            <a:ext cx="1371600" cy="365760"/>
          </a:xfrm>
          <a:prstGeom prst="roundRect">
            <a:avLst>
              <a:gd name="adj" fmla="val 50000"/>
            </a:avLst>
          </a:prstGeom>
          <a:solidFill>
            <a:srgbClr val="FD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58" name="TextBox 15457"/>
          <p:cNvSpPr txBox="1"/>
          <p:nvPr/>
        </p:nvSpPr>
        <p:spPr>
          <a:xfrm>
            <a:off x="8997696" y="4928616"/>
            <a:ext cx="1261872" cy="219456"/>
          </a:xfrm>
          <a:prstGeom prst="rect">
            <a:avLst/>
          </a:prstGeom>
          <a:noFill/>
        </p:spPr>
        <p:txBody>
          <a:bodyPr wrap="square" anchor="t" lIns="0" rIns="0" tIns="0" bIns="0">
            <a:spAutoFit/>
          </a:bodyPr>
          <a:lstStyle/>
          <a:p>
            <a:pPr algn="ctr">
              <a:lnSpc>
                <a:spcPct val="100000"/>
              </a:lnSpc>
            </a:pPr>
            <a:r>
              <a:rPr sz="1000" b="1" i="0">
                <a:solidFill>
                  <a:srgbClr val="C0392B"/>
                </a:solidFill>
                <a:latin typeface="Calibri"/>
              </a:rPr>
              <a:t>Promised dates</a:t>
            </a:r>
          </a:p>
        </p:txBody>
      </p:sp>
      <p:cxnSp>
        <p:nvCxnSpPr>
          <p:cNvPr id="15459" name="Connector 15458"/>
          <p:cNvCxnSpPr/>
          <p:nvPr/>
        </p:nvCxnSpPr>
        <p:spPr>
          <a:xfrm>
            <a:off x="10341863" y="5029200"/>
            <a:ext cx="173737" cy="0"/>
          </a:xfrm>
          <a:prstGeom prst="line">
            <a:avLst/>
          </a:prstGeom>
          <a:ln w="15875">
            <a:solidFill>
              <a:srgbClr val="3C4A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460" name="Rounded Rectangle 15459"/>
          <p:cNvSpPr/>
          <p:nvPr/>
        </p:nvSpPr>
        <p:spPr>
          <a:xfrm>
            <a:off x="10543032" y="4846320"/>
            <a:ext cx="1389888" cy="365760"/>
          </a:xfrm>
          <a:prstGeom prst="roundRect">
            <a:avLst>
              <a:gd name="adj" fmla="val 50000"/>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61" name="TextBox 15460"/>
          <p:cNvSpPr txBox="1"/>
          <p:nvPr/>
        </p:nvSpPr>
        <p:spPr>
          <a:xfrm>
            <a:off x="10588752" y="4928616"/>
            <a:ext cx="1298448" cy="219456"/>
          </a:xfrm>
          <a:prstGeom prst="rect">
            <a:avLst/>
          </a:prstGeom>
          <a:noFill/>
        </p:spPr>
        <p:txBody>
          <a:bodyPr wrap="square" anchor="t" lIns="0" rIns="0" tIns="0" bIns="0">
            <a:spAutoFit/>
          </a:bodyPr>
          <a:lstStyle/>
          <a:p>
            <a:pPr algn="ctr">
              <a:lnSpc>
                <a:spcPct val="100000"/>
              </a:lnSpc>
            </a:pPr>
            <a:r>
              <a:rPr sz="1000" b="1" i="0">
                <a:solidFill>
                  <a:srgbClr val="2E8B57"/>
                </a:solidFill>
                <a:latin typeface="Calibri"/>
              </a:rPr>
              <a:t>Calibrated window</a:t>
            </a:r>
          </a:p>
        </p:txBody>
      </p:sp>
      <p:sp>
        <p:nvSpPr>
          <p:cNvPr id="15462" name="Rounded Rectangle 15461"/>
          <p:cNvSpPr/>
          <p:nvPr/>
        </p:nvSpPr>
        <p:spPr>
          <a:xfrm>
            <a:off x="8942832" y="5276088"/>
            <a:ext cx="1371600" cy="365760"/>
          </a:xfrm>
          <a:prstGeom prst="roundRect">
            <a:avLst>
              <a:gd name="adj" fmla="val 50000"/>
            </a:avLst>
          </a:prstGeom>
          <a:solidFill>
            <a:srgbClr val="FD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63" name="TextBox 15462"/>
          <p:cNvSpPr txBox="1"/>
          <p:nvPr/>
        </p:nvSpPr>
        <p:spPr>
          <a:xfrm>
            <a:off x="8997696" y="5358383"/>
            <a:ext cx="1261872" cy="219456"/>
          </a:xfrm>
          <a:prstGeom prst="rect">
            <a:avLst/>
          </a:prstGeom>
          <a:noFill/>
        </p:spPr>
        <p:txBody>
          <a:bodyPr wrap="square" anchor="t" lIns="0" rIns="0" tIns="0" bIns="0">
            <a:spAutoFit/>
          </a:bodyPr>
          <a:lstStyle/>
          <a:p>
            <a:pPr algn="ctr">
              <a:lnSpc>
                <a:spcPct val="100000"/>
              </a:lnSpc>
            </a:pPr>
            <a:r>
              <a:rPr sz="1000" b="1" i="0">
                <a:solidFill>
                  <a:srgbClr val="C0392B"/>
                </a:solidFill>
                <a:latin typeface="Calibri"/>
              </a:rPr>
              <a:t>AI assumed to help</a:t>
            </a:r>
          </a:p>
        </p:txBody>
      </p:sp>
      <p:cxnSp>
        <p:nvCxnSpPr>
          <p:cNvPr id="15464" name="Connector 15463"/>
          <p:cNvCxnSpPr/>
          <p:nvPr/>
        </p:nvCxnSpPr>
        <p:spPr>
          <a:xfrm>
            <a:off x="10341863" y="5458968"/>
            <a:ext cx="173737" cy="0"/>
          </a:xfrm>
          <a:prstGeom prst="line">
            <a:avLst/>
          </a:prstGeom>
          <a:ln w="15875">
            <a:solidFill>
              <a:srgbClr val="3C4A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465" name="Rounded Rectangle 15464"/>
          <p:cNvSpPr/>
          <p:nvPr/>
        </p:nvSpPr>
        <p:spPr>
          <a:xfrm>
            <a:off x="10543032" y="5276088"/>
            <a:ext cx="1389888" cy="365760"/>
          </a:xfrm>
          <a:prstGeom prst="roundRect">
            <a:avLst>
              <a:gd name="adj" fmla="val 50000"/>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66" name="TextBox 15465"/>
          <p:cNvSpPr txBox="1"/>
          <p:nvPr/>
        </p:nvSpPr>
        <p:spPr>
          <a:xfrm>
            <a:off x="10588752" y="5358383"/>
            <a:ext cx="1298448" cy="219456"/>
          </a:xfrm>
          <a:prstGeom prst="rect">
            <a:avLst/>
          </a:prstGeom>
          <a:noFill/>
        </p:spPr>
        <p:txBody>
          <a:bodyPr wrap="square" anchor="t" lIns="0" rIns="0" tIns="0" bIns="0">
            <a:spAutoFit/>
          </a:bodyPr>
          <a:lstStyle/>
          <a:p>
            <a:pPr algn="ctr">
              <a:lnSpc>
                <a:spcPct val="100000"/>
              </a:lnSpc>
            </a:pPr>
            <a:r>
              <a:rPr sz="1000" b="1" i="0">
                <a:solidFill>
                  <a:srgbClr val="2E8B57"/>
                </a:solidFill>
                <a:latin typeface="Calibri"/>
              </a:rPr>
              <a:t>AI measured (+2.6% vs OLS)</a:t>
            </a:r>
          </a:p>
        </p:txBody>
      </p:sp>
      <p:sp>
        <p:nvSpPr>
          <p:cNvPr id="15467" name="Rounded Rectangle 15466"/>
          <p:cNvSpPr/>
          <p:nvPr/>
        </p:nvSpPr>
        <p:spPr>
          <a:xfrm>
            <a:off x="8942832" y="5705855"/>
            <a:ext cx="1371600" cy="365760"/>
          </a:xfrm>
          <a:prstGeom prst="roundRect">
            <a:avLst>
              <a:gd name="adj" fmla="val 50000"/>
            </a:avLst>
          </a:prstGeom>
          <a:solidFill>
            <a:srgbClr val="FD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68" name="TextBox 15467"/>
          <p:cNvSpPr txBox="1"/>
          <p:nvPr/>
        </p:nvSpPr>
        <p:spPr>
          <a:xfrm>
            <a:off x="8997696" y="5788151"/>
            <a:ext cx="1261872" cy="219456"/>
          </a:xfrm>
          <a:prstGeom prst="rect">
            <a:avLst/>
          </a:prstGeom>
          <a:noFill/>
        </p:spPr>
        <p:txBody>
          <a:bodyPr wrap="square" anchor="t" lIns="0" rIns="0" tIns="0" bIns="0">
            <a:spAutoFit/>
          </a:bodyPr>
          <a:lstStyle/>
          <a:p>
            <a:pPr algn="ctr">
              <a:lnSpc>
                <a:spcPct val="100000"/>
              </a:lnSpc>
            </a:pPr>
            <a:r>
              <a:rPr sz="1000" b="1" i="0">
                <a:solidFill>
                  <a:srgbClr val="C0392B"/>
                </a:solidFill>
                <a:latin typeface="Calibri"/>
              </a:rPr>
              <a:t>1,981-row list</a:t>
            </a:r>
          </a:p>
        </p:txBody>
      </p:sp>
      <p:cxnSp>
        <p:nvCxnSpPr>
          <p:cNvPr id="15469" name="Connector 15468"/>
          <p:cNvCxnSpPr/>
          <p:nvPr/>
        </p:nvCxnSpPr>
        <p:spPr>
          <a:xfrm>
            <a:off x="10341863" y="5888736"/>
            <a:ext cx="173737" cy="0"/>
          </a:xfrm>
          <a:prstGeom prst="line">
            <a:avLst/>
          </a:prstGeom>
          <a:ln w="15875">
            <a:solidFill>
              <a:srgbClr val="3C4A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470" name="Rounded Rectangle 15469"/>
          <p:cNvSpPr/>
          <p:nvPr/>
        </p:nvSpPr>
        <p:spPr>
          <a:xfrm>
            <a:off x="10543032" y="5705855"/>
            <a:ext cx="1389888" cy="365760"/>
          </a:xfrm>
          <a:prstGeom prst="roundRect">
            <a:avLst>
              <a:gd name="adj" fmla="val 50000"/>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71" name="TextBox 15470"/>
          <p:cNvSpPr txBox="1"/>
          <p:nvPr/>
        </p:nvSpPr>
        <p:spPr>
          <a:xfrm>
            <a:off x="10588752" y="5788151"/>
            <a:ext cx="1298448" cy="219456"/>
          </a:xfrm>
          <a:prstGeom prst="rect">
            <a:avLst/>
          </a:prstGeom>
          <a:noFill/>
        </p:spPr>
        <p:txBody>
          <a:bodyPr wrap="square" anchor="t" lIns="0" rIns="0" tIns="0" bIns="0">
            <a:spAutoFit/>
          </a:bodyPr>
          <a:lstStyle/>
          <a:p>
            <a:pPr algn="ctr">
              <a:lnSpc>
                <a:spcPct val="100000"/>
              </a:lnSpc>
            </a:pPr>
            <a:r>
              <a:rPr sz="1000" b="1" i="0">
                <a:solidFill>
                  <a:srgbClr val="2E8B57"/>
                </a:solidFill>
                <a:latin typeface="Calibri"/>
              </a:rPr>
              <a:t>Ranked, with reasons</a:t>
            </a:r>
          </a:p>
        </p:txBody>
      </p:sp>
      <p:sp>
        <p:nvSpPr>
          <p:cNvPr id="15472" name="TextBox 15471"/>
          <p:cNvSpPr txBox="1"/>
          <p:nvPr/>
        </p:nvSpPr>
        <p:spPr>
          <a:xfrm>
            <a:off x="8942832" y="6126480"/>
            <a:ext cx="2990088" cy="182880"/>
          </a:xfrm>
          <a:prstGeom prst="rect">
            <a:avLst/>
          </a:prstGeom>
          <a:noFill/>
        </p:spPr>
        <p:txBody>
          <a:bodyPr wrap="square" anchor="t" lIns="0" rIns="0" tIns="0" bIns="0">
            <a:spAutoFit/>
          </a:bodyPr>
          <a:lstStyle/>
          <a:p>
            <a:pPr algn="ctr">
              <a:lnSpc>
                <a:spcPct val="100000"/>
              </a:lnSpc>
            </a:pPr>
            <a:r>
              <a:rPr sz="1000" b="0" i="0">
                <a:solidFill>
                  <a:srgbClr val="3C4A57"/>
                </a:solidFill>
                <a:latin typeface="Calibri"/>
              </a:rPr>
              <a:t>made for unfinished projects · re-runnable (slide 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1">
                <a:latin typeface="Calibri"/>
              </a:rPr>
              <a:t>BUBBLESORT</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274320" y="6446520"/>
            <a:ext cx="4114800" cy="237744"/>
          </a:xfrm>
          <a:prstGeom prst="rect">
            <a:avLst/>
          </a:prstGeom>
          <a:noFill/>
        </p:spPr>
        <p:txBody>
          <a:bodyPr wrap="square" anchor="t" lIns="0" rIns="0" tIns="0" bIns="0">
            <a:spAutoFit/>
          </a:bodyPr>
          <a:lstStyle/>
          <a:p>
            <a:pPr algn="l">
              <a:lnSpc>
                <a:spcPct val="100000"/>
              </a:lnSpc>
            </a:pPr>
            <a:r>
              <a:rPr sz="1000" b="1" i="0">
                <a:solidFill>
                  <a:srgbClr val="FFFFFF"/>
                </a:solidFill>
                <a:latin typeface="Calibri"/>
              </a:rPr>
              <a:t>MEASURED, NOT PROMISED  ·  BUILT BESIDE PAIMANA</a:t>
            </a:r>
          </a:p>
        </p:txBody>
      </p:sp>
      <p:sp>
        <p:nvSpPr>
          <p:cNvPr id="17411" name="TextBox 17410"/>
          <p:cNvSpPr txBox="1"/>
          <p:nvPr/>
        </p:nvSpPr>
        <p:spPr>
          <a:xfrm>
            <a:off x="457200" y="1152144"/>
            <a:ext cx="11292840" cy="329184"/>
          </a:xfrm>
          <a:prstGeom prst="rect">
            <a:avLst/>
          </a:prstGeom>
          <a:noFill/>
        </p:spPr>
        <p:txBody>
          <a:bodyPr wrap="square" anchor="t" lIns="0" rIns="0" tIns="0" bIns="0">
            <a:spAutoFit/>
          </a:bodyPr>
          <a:lstStyle/>
          <a:p>
            <a:pPr algn="ctr">
              <a:lnSpc>
                <a:spcPct val="100000"/>
              </a:lnSpc>
            </a:pPr>
            <a:r>
              <a:rPr sz="1600" b="1" i="0">
                <a:solidFill>
                  <a:srgbClr val="0F2A44"/>
                </a:solidFill>
                <a:latin typeface="Calibri"/>
              </a:rPr>
              <a:t>How the numbers are made</a:t>
            </a:r>
            <a:r>
              <a:rPr sz="1600" b="1" i="0">
                <a:solidFill>
                  <a:srgbClr val="1F5F73"/>
                </a:solidFill>
                <a:latin typeface="Calibri"/>
              </a:rPr>
              <a:t>  —  and how we checked them</a:t>
            </a:r>
          </a:p>
        </p:txBody>
      </p:sp>
      <p:sp>
        <p:nvSpPr>
          <p:cNvPr id="17412" name="Rounded Rectangle 17411"/>
          <p:cNvSpPr/>
          <p:nvPr/>
        </p:nvSpPr>
        <p:spPr>
          <a:xfrm>
            <a:off x="274320" y="1572768"/>
            <a:ext cx="8138160" cy="310896"/>
          </a:xfrm>
          <a:prstGeom prst="roundRect">
            <a:avLst>
              <a:gd name="adj" fmla="val 50000"/>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3" name="TextBox 17412"/>
          <p:cNvSpPr txBox="1"/>
          <p:nvPr/>
        </p:nvSpPr>
        <p:spPr>
          <a:xfrm>
            <a:off x="420623" y="1618488"/>
            <a:ext cx="7845552" cy="219456"/>
          </a:xfrm>
          <a:prstGeom prst="rect">
            <a:avLst/>
          </a:prstGeom>
          <a:noFill/>
        </p:spPr>
        <p:txBody>
          <a:bodyPr wrap="square" anchor="t" lIns="0" rIns="0" tIns="0" bIns="0">
            <a:spAutoFit/>
          </a:bodyPr>
          <a:lstStyle/>
          <a:p>
            <a:pPr algn="l">
              <a:lnSpc>
                <a:spcPct val="100000"/>
              </a:lnSpc>
            </a:pPr>
            <a:r>
              <a:rPr sz="1100" b="1" i="0">
                <a:solidFill>
                  <a:srgbClr val="FFFFFF"/>
                </a:solidFill>
                <a:latin typeface="Calibri"/>
              </a:rPr>
              <a:t>Technologies to be used (e.g. programming languages, frameworks, hardware)</a:t>
            </a:r>
          </a:p>
        </p:txBody>
      </p:sp>
      <p:sp>
        <p:nvSpPr>
          <p:cNvPr id="17414" name="Rounded Rectangle 17413"/>
          <p:cNvSpPr/>
          <p:nvPr/>
        </p:nvSpPr>
        <p:spPr>
          <a:xfrm>
            <a:off x="274320" y="1956816"/>
            <a:ext cx="2834640" cy="603504"/>
          </a:xfrm>
          <a:prstGeom prst="roundRect">
            <a:avLst>
              <a:gd name="adj" fmla="val 22727"/>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5" name="Oval 17414"/>
          <p:cNvSpPr/>
          <p:nvPr/>
        </p:nvSpPr>
        <p:spPr>
          <a:xfrm>
            <a:off x="384048" y="2066543"/>
            <a:ext cx="384048" cy="384048"/>
          </a:xfrm>
          <a:prstGeom prst="ellipse">
            <a:avLst/>
          </a:prstGeom>
          <a:solidFill>
            <a:srgbClr val="1F5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16" name="Picture 17415" descr="brand-python.png"/>
          <p:cNvPicPr>
            <a:picLocks noChangeAspect="1"/>
          </p:cNvPicPr>
          <p:nvPr/>
        </p:nvPicPr>
        <p:blipFill>
          <a:blip r:embed="rId4"/>
          <a:stretch>
            <a:fillRect/>
          </a:stretch>
        </p:blipFill>
        <p:spPr>
          <a:xfrm>
            <a:off x="468538" y="2151034"/>
            <a:ext cx="215066" cy="215066"/>
          </a:xfrm>
          <a:prstGeom prst="rect">
            <a:avLst/>
          </a:prstGeom>
        </p:spPr>
      </p:pic>
      <p:sp>
        <p:nvSpPr>
          <p:cNvPr id="17417" name="TextBox 17416"/>
          <p:cNvSpPr txBox="1"/>
          <p:nvPr/>
        </p:nvSpPr>
        <p:spPr>
          <a:xfrm>
            <a:off x="859536" y="2011680"/>
            <a:ext cx="2194560" cy="512064"/>
          </a:xfrm>
          <a:prstGeom prst="rect">
            <a:avLst/>
          </a:prstGeom>
          <a:noFill/>
        </p:spPr>
        <p:txBody>
          <a:bodyPr wrap="square" anchor="t" lIns="0" rIns="0" tIns="0" bIns="0">
            <a:spAutoFit/>
          </a:bodyPr>
          <a:lstStyle/>
          <a:p>
            <a:pPr algn="l">
              <a:lnSpc>
                <a:spcPct val="95000"/>
              </a:lnSpc>
            </a:pPr>
            <a:r>
              <a:rPr sz="1100" b="1" i="0">
                <a:solidFill>
                  <a:srgbClr val="16202A"/>
                </a:solidFill>
                <a:latin typeface="Calibri"/>
              </a:rPr>
              <a:t>Python · scikit-learn · scipy</a:t>
            </a:r>
          </a:p>
          <a:p>
            <a:pPr algn="l">
              <a:lnSpc>
                <a:spcPct val="95000"/>
              </a:lnSpc>
            </a:pPr>
            <a:r>
              <a:rPr sz="1100" b="0" i="0">
                <a:solidFill>
                  <a:srgbClr val="3C4A57"/>
                </a:solidFill>
                <a:latin typeface="Calibri"/>
              </a:rPr>
              <a:t>the models and the statistics</a:t>
            </a:r>
          </a:p>
        </p:txBody>
      </p:sp>
      <p:sp>
        <p:nvSpPr>
          <p:cNvPr id="17418" name="Rounded Rectangle 17417"/>
          <p:cNvSpPr/>
          <p:nvPr/>
        </p:nvSpPr>
        <p:spPr>
          <a:xfrm>
            <a:off x="3200400" y="1956816"/>
            <a:ext cx="2834640" cy="603504"/>
          </a:xfrm>
          <a:prstGeom prst="roundRect">
            <a:avLst>
              <a:gd name="adj" fmla="val 22727"/>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9" name="Oval 17418"/>
          <p:cNvSpPr/>
          <p:nvPr/>
        </p:nvSpPr>
        <p:spPr>
          <a:xfrm>
            <a:off x="3310128" y="2066543"/>
            <a:ext cx="384048" cy="384048"/>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20" name="Picture 17419" descr="server.png"/>
          <p:cNvPicPr>
            <a:picLocks noChangeAspect="1"/>
          </p:cNvPicPr>
          <p:nvPr/>
        </p:nvPicPr>
        <p:blipFill>
          <a:blip r:embed="rId5"/>
          <a:stretch>
            <a:fillRect/>
          </a:stretch>
        </p:blipFill>
        <p:spPr>
          <a:xfrm>
            <a:off x="3394618" y="2151034"/>
            <a:ext cx="215066" cy="215066"/>
          </a:xfrm>
          <a:prstGeom prst="rect">
            <a:avLst/>
          </a:prstGeom>
        </p:spPr>
      </p:pic>
      <p:sp>
        <p:nvSpPr>
          <p:cNvPr id="17421" name="TextBox 17420"/>
          <p:cNvSpPr txBox="1"/>
          <p:nvPr/>
        </p:nvSpPr>
        <p:spPr>
          <a:xfrm>
            <a:off x="3785615" y="2011680"/>
            <a:ext cx="2194560" cy="512064"/>
          </a:xfrm>
          <a:prstGeom prst="rect">
            <a:avLst/>
          </a:prstGeom>
          <a:noFill/>
        </p:spPr>
        <p:txBody>
          <a:bodyPr wrap="square" anchor="t" lIns="0" rIns="0" tIns="0" bIns="0">
            <a:spAutoFit/>
          </a:bodyPr>
          <a:lstStyle/>
          <a:p>
            <a:pPr algn="l">
              <a:lnSpc>
                <a:spcPct val="95000"/>
              </a:lnSpc>
            </a:pPr>
            <a:r>
              <a:rPr sz="1100" b="1" i="0">
                <a:solidFill>
                  <a:srgbClr val="16202A"/>
                </a:solidFill>
                <a:latin typeface="Calibri"/>
              </a:rPr>
              <a:t>FastAPI + PostgreSQL</a:t>
            </a:r>
          </a:p>
          <a:p>
            <a:pPr algn="l">
              <a:lnSpc>
                <a:spcPct val="95000"/>
              </a:lnSpc>
            </a:pPr>
            <a:r>
              <a:rPr sz="1100" b="0" i="0">
                <a:solidFill>
                  <a:srgbClr val="3C4A57"/>
                </a:solidFill>
                <a:latin typeface="Calibri"/>
              </a:rPr>
              <a:t>the service and the records</a:t>
            </a:r>
          </a:p>
        </p:txBody>
      </p:sp>
      <p:sp>
        <p:nvSpPr>
          <p:cNvPr id="17422" name="Rounded Rectangle 17421"/>
          <p:cNvSpPr/>
          <p:nvPr/>
        </p:nvSpPr>
        <p:spPr>
          <a:xfrm>
            <a:off x="6126480" y="1956816"/>
            <a:ext cx="2834640" cy="603504"/>
          </a:xfrm>
          <a:prstGeom prst="roundRect">
            <a:avLst>
              <a:gd name="adj" fmla="val 22727"/>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3" name="Oval 17422"/>
          <p:cNvSpPr/>
          <p:nvPr/>
        </p:nvSpPr>
        <p:spPr>
          <a:xfrm>
            <a:off x="6236208" y="2066543"/>
            <a:ext cx="384048" cy="384048"/>
          </a:xfrm>
          <a:prstGeom prst="ellipse">
            <a:avLst/>
          </a:prstGeom>
          <a:solidFill>
            <a:srgbClr val="1F5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24" name="Picture 17423" descr="brand-react.png"/>
          <p:cNvPicPr>
            <a:picLocks noChangeAspect="1"/>
          </p:cNvPicPr>
          <p:nvPr/>
        </p:nvPicPr>
        <p:blipFill>
          <a:blip r:embed="rId6"/>
          <a:stretch>
            <a:fillRect/>
          </a:stretch>
        </p:blipFill>
        <p:spPr>
          <a:xfrm>
            <a:off x="6320698" y="2151034"/>
            <a:ext cx="215066" cy="215066"/>
          </a:xfrm>
          <a:prstGeom prst="rect">
            <a:avLst/>
          </a:prstGeom>
        </p:spPr>
      </p:pic>
      <p:sp>
        <p:nvSpPr>
          <p:cNvPr id="17425" name="TextBox 17424"/>
          <p:cNvSpPr txBox="1"/>
          <p:nvPr/>
        </p:nvSpPr>
        <p:spPr>
          <a:xfrm>
            <a:off x="6711696" y="2011680"/>
            <a:ext cx="2194560" cy="512064"/>
          </a:xfrm>
          <a:prstGeom prst="rect">
            <a:avLst/>
          </a:prstGeom>
          <a:noFill/>
        </p:spPr>
        <p:txBody>
          <a:bodyPr wrap="square" anchor="t" lIns="0" rIns="0" tIns="0" bIns="0">
            <a:spAutoFit/>
          </a:bodyPr>
          <a:lstStyle/>
          <a:p>
            <a:pPr algn="l">
              <a:lnSpc>
                <a:spcPct val="95000"/>
              </a:lnSpc>
            </a:pPr>
            <a:r>
              <a:rPr sz="1100" b="1" i="0">
                <a:solidFill>
                  <a:srgbClr val="16202A"/>
                </a:solidFill>
                <a:latin typeface="Calibri"/>
              </a:rPr>
              <a:t>React</a:t>
            </a:r>
          </a:p>
          <a:p>
            <a:pPr algn="l">
              <a:lnSpc>
                <a:spcPct val="95000"/>
              </a:lnSpc>
            </a:pPr>
            <a:r>
              <a:rPr sz="1100" b="0" i="0">
                <a:solidFill>
                  <a:srgbClr val="3C4A57"/>
                </a:solidFill>
                <a:latin typeface="Calibri"/>
              </a:rPr>
              <a:t>the officer's screens</a:t>
            </a:r>
          </a:p>
        </p:txBody>
      </p:sp>
      <p:sp>
        <p:nvSpPr>
          <p:cNvPr id="17426" name="Rounded Rectangle 17425"/>
          <p:cNvSpPr/>
          <p:nvPr/>
        </p:nvSpPr>
        <p:spPr>
          <a:xfrm>
            <a:off x="9052560" y="1956816"/>
            <a:ext cx="2834640" cy="603504"/>
          </a:xfrm>
          <a:prstGeom prst="roundRect">
            <a:avLst>
              <a:gd name="adj" fmla="val 22727"/>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7" name="Oval 17426"/>
          <p:cNvSpPr/>
          <p:nvPr/>
        </p:nvSpPr>
        <p:spPr>
          <a:xfrm>
            <a:off x="9162288" y="2066543"/>
            <a:ext cx="384048" cy="384048"/>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28" name="Picture 17427" descr="brand-docker.png"/>
          <p:cNvPicPr>
            <a:picLocks noChangeAspect="1"/>
          </p:cNvPicPr>
          <p:nvPr/>
        </p:nvPicPr>
        <p:blipFill>
          <a:blip r:embed="rId7"/>
          <a:stretch>
            <a:fillRect/>
          </a:stretch>
        </p:blipFill>
        <p:spPr>
          <a:xfrm>
            <a:off x="9246778" y="2151034"/>
            <a:ext cx="215066" cy="215066"/>
          </a:xfrm>
          <a:prstGeom prst="rect">
            <a:avLst/>
          </a:prstGeom>
        </p:spPr>
      </p:pic>
      <p:sp>
        <p:nvSpPr>
          <p:cNvPr id="17429" name="TextBox 17428"/>
          <p:cNvSpPr txBox="1"/>
          <p:nvPr/>
        </p:nvSpPr>
        <p:spPr>
          <a:xfrm>
            <a:off x="9637776" y="2011680"/>
            <a:ext cx="2194560" cy="512064"/>
          </a:xfrm>
          <a:prstGeom prst="rect">
            <a:avLst/>
          </a:prstGeom>
          <a:noFill/>
        </p:spPr>
        <p:txBody>
          <a:bodyPr wrap="square" anchor="t" lIns="0" rIns="0" tIns="0" bIns="0">
            <a:spAutoFit/>
          </a:bodyPr>
          <a:lstStyle/>
          <a:p>
            <a:pPr algn="l">
              <a:lnSpc>
                <a:spcPct val="95000"/>
              </a:lnSpc>
            </a:pPr>
            <a:r>
              <a:rPr sz="1100" b="1" i="0">
                <a:solidFill>
                  <a:srgbClr val="16202A"/>
                </a:solidFill>
                <a:latin typeface="Calibri"/>
              </a:rPr>
              <a:t>Docker on one NIC Cloud VM</a:t>
            </a:r>
          </a:p>
          <a:p>
            <a:pPr algn="l">
              <a:lnSpc>
                <a:spcPct val="95000"/>
              </a:lnSpc>
            </a:pPr>
            <a:r>
              <a:rPr sz="1100" b="0" i="0">
                <a:solidFill>
                  <a:srgbClr val="3C4A57"/>
                </a:solidFill>
                <a:latin typeface="Calibri"/>
              </a:rPr>
              <a:t>open-source; no licences; no external calls</a:t>
            </a:r>
          </a:p>
        </p:txBody>
      </p:sp>
      <p:sp>
        <p:nvSpPr>
          <p:cNvPr id="17430" name="Rounded Rectangle 17429"/>
          <p:cNvSpPr/>
          <p:nvPr/>
        </p:nvSpPr>
        <p:spPr>
          <a:xfrm>
            <a:off x="274320" y="2651760"/>
            <a:ext cx="8138160" cy="310896"/>
          </a:xfrm>
          <a:prstGeom prst="roundRect">
            <a:avLst>
              <a:gd name="adj" fmla="val 50000"/>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1" name="TextBox 17430"/>
          <p:cNvSpPr txBox="1"/>
          <p:nvPr/>
        </p:nvSpPr>
        <p:spPr>
          <a:xfrm>
            <a:off x="420623" y="2697479"/>
            <a:ext cx="7845552" cy="219456"/>
          </a:xfrm>
          <a:prstGeom prst="rect">
            <a:avLst/>
          </a:prstGeom>
          <a:noFill/>
        </p:spPr>
        <p:txBody>
          <a:bodyPr wrap="square" anchor="t" lIns="0" rIns="0" tIns="0" bIns="0">
            <a:spAutoFit/>
          </a:bodyPr>
          <a:lstStyle/>
          <a:p>
            <a:pPr algn="l">
              <a:lnSpc>
                <a:spcPct val="100000"/>
              </a:lnSpc>
            </a:pPr>
            <a:r>
              <a:rPr sz="1100" b="1" i="0">
                <a:solidFill>
                  <a:srgbClr val="FFFFFF"/>
                </a:solidFill>
                <a:latin typeface="Calibri"/>
              </a:rPr>
              <a:t>Methodology and process for implementation (Flow Charts/Images/ working prototype)</a:t>
            </a:r>
          </a:p>
        </p:txBody>
      </p:sp>
      <p:cxnSp>
        <p:nvCxnSpPr>
          <p:cNvPr id="17432" name="Connector 17431"/>
          <p:cNvCxnSpPr/>
          <p:nvPr/>
        </p:nvCxnSpPr>
        <p:spPr>
          <a:xfrm>
            <a:off x="868680" y="3639312"/>
            <a:ext cx="2926080" cy="0"/>
          </a:xfrm>
          <a:prstGeom prst="line">
            <a:avLst/>
          </a:prstGeom>
          <a:ln w="31750">
            <a:solidFill>
              <a:srgbClr val="0F2A44"/>
            </a:solidFill>
          </a:ln>
        </p:spPr>
        <p:style>
          <a:lnRef idx="2">
            <a:schemeClr val="accent1"/>
          </a:lnRef>
          <a:fillRef idx="0">
            <a:schemeClr val="accent1"/>
          </a:fillRef>
          <a:effectRef idx="1">
            <a:schemeClr val="accent1"/>
          </a:effectRef>
          <a:fontRef idx="minor">
            <a:schemeClr val="tx1"/>
          </a:fontRef>
        </p:style>
      </p:cxnSp>
      <p:sp>
        <p:nvSpPr>
          <p:cNvPr id="17433" name="Oval 17432"/>
          <p:cNvSpPr/>
          <p:nvPr/>
        </p:nvSpPr>
        <p:spPr>
          <a:xfrm>
            <a:off x="585215" y="3355848"/>
            <a:ext cx="566928" cy="566928"/>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34" name="Picture 17433" descr="database.png"/>
          <p:cNvPicPr>
            <a:picLocks noChangeAspect="1"/>
          </p:cNvPicPr>
          <p:nvPr/>
        </p:nvPicPr>
        <p:blipFill>
          <a:blip r:embed="rId8"/>
          <a:stretch>
            <a:fillRect/>
          </a:stretch>
        </p:blipFill>
        <p:spPr>
          <a:xfrm>
            <a:off x="709940" y="3480572"/>
            <a:ext cx="317479" cy="317479"/>
          </a:xfrm>
          <a:prstGeom prst="rect">
            <a:avLst/>
          </a:prstGeom>
        </p:spPr>
      </p:pic>
      <p:sp>
        <p:nvSpPr>
          <p:cNvPr id="17435" name="TextBox 17434"/>
          <p:cNvSpPr txBox="1"/>
          <p:nvPr/>
        </p:nvSpPr>
        <p:spPr>
          <a:xfrm>
            <a:off x="160019" y="4005072"/>
            <a:ext cx="1417320" cy="685800"/>
          </a:xfrm>
          <a:prstGeom prst="rect">
            <a:avLst/>
          </a:prstGeom>
          <a:noFill/>
        </p:spPr>
        <p:txBody>
          <a:bodyPr wrap="square" anchor="t" lIns="0" rIns="0" tIns="0" bIns="0">
            <a:spAutoFit/>
          </a:bodyPr>
          <a:lstStyle/>
          <a:p>
            <a:pPr algn="ctr">
              <a:lnSpc>
                <a:spcPct val="95000"/>
              </a:lnSpc>
            </a:pPr>
            <a:r>
              <a:rPr sz="1000" b="1" i="0">
                <a:solidFill>
                  <a:srgbClr val="0F2A44"/>
                </a:solidFill>
                <a:latin typeface="Calibri"/>
              </a:rPr>
              <a:t>PAIMANA data</a:t>
            </a:r>
          </a:p>
          <a:p>
            <a:pPr algn="ctr">
              <a:lnSpc>
                <a:spcPct val="95000"/>
              </a:lnSpc>
            </a:pPr>
            <a:r>
              <a:rPr sz="1000" b="0" i="0">
                <a:solidFill>
                  <a:srgbClr val="3C4A57"/>
                </a:solidFill>
                <a:latin typeface="Calibri"/>
              </a:rPr>
              <a:t>2,207 projects · 25 public fields</a:t>
            </a:r>
          </a:p>
        </p:txBody>
      </p:sp>
      <p:sp>
        <p:nvSpPr>
          <p:cNvPr id="17436" name="Oval 17435"/>
          <p:cNvSpPr/>
          <p:nvPr/>
        </p:nvSpPr>
        <p:spPr>
          <a:xfrm>
            <a:off x="2048255" y="3355848"/>
            <a:ext cx="566928" cy="56692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37" name="Picture 17436" descr="filter.png"/>
          <p:cNvPicPr>
            <a:picLocks noChangeAspect="1"/>
          </p:cNvPicPr>
          <p:nvPr/>
        </p:nvPicPr>
        <p:blipFill>
          <a:blip r:embed="rId9"/>
          <a:stretch>
            <a:fillRect/>
          </a:stretch>
        </p:blipFill>
        <p:spPr>
          <a:xfrm>
            <a:off x="2172980" y="3480572"/>
            <a:ext cx="317479" cy="317479"/>
          </a:xfrm>
          <a:prstGeom prst="rect">
            <a:avLst/>
          </a:prstGeom>
        </p:spPr>
      </p:pic>
      <p:sp>
        <p:nvSpPr>
          <p:cNvPr id="17438" name="TextBox 17437"/>
          <p:cNvSpPr txBox="1"/>
          <p:nvPr/>
        </p:nvSpPr>
        <p:spPr>
          <a:xfrm>
            <a:off x="1623060" y="4005072"/>
            <a:ext cx="1417320" cy="685800"/>
          </a:xfrm>
          <a:prstGeom prst="rect">
            <a:avLst/>
          </a:prstGeom>
          <a:noFill/>
        </p:spPr>
        <p:txBody>
          <a:bodyPr wrap="square" anchor="t" lIns="0" rIns="0" tIns="0" bIns="0">
            <a:spAutoFit/>
          </a:bodyPr>
          <a:lstStyle/>
          <a:p>
            <a:pPr algn="ctr">
              <a:lnSpc>
                <a:spcPct val="95000"/>
              </a:lnSpc>
            </a:pPr>
            <a:r>
              <a:rPr sz="1000" b="1" i="0">
                <a:solidFill>
                  <a:srgbClr val="0F2A44"/>
                </a:solidFill>
                <a:latin typeface="Calibri"/>
              </a:rPr>
              <a:t>Future-info guard</a:t>
            </a:r>
          </a:p>
          <a:p>
            <a:pPr algn="ctr">
              <a:lnSpc>
                <a:spcPct val="95000"/>
              </a:lnSpc>
            </a:pPr>
            <a:r>
              <a:rPr sz="1000" b="0" i="0">
                <a:solidFill>
                  <a:srgbClr val="3C4A57"/>
                </a:solidFill>
                <a:latin typeface="Calibri"/>
              </a:rPr>
              <a:t>12 columns that only exist after the outcome are removed</a:t>
            </a:r>
          </a:p>
        </p:txBody>
      </p:sp>
      <p:sp>
        <p:nvSpPr>
          <p:cNvPr id="17439" name="Oval 17438"/>
          <p:cNvSpPr/>
          <p:nvPr/>
        </p:nvSpPr>
        <p:spPr>
          <a:xfrm>
            <a:off x="3511296" y="3355848"/>
            <a:ext cx="566928" cy="566928"/>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40" name="Picture 17439" descr="calendar-time.png"/>
          <p:cNvPicPr>
            <a:picLocks noChangeAspect="1"/>
          </p:cNvPicPr>
          <p:nvPr/>
        </p:nvPicPr>
        <p:blipFill>
          <a:blip r:embed="rId10"/>
          <a:stretch>
            <a:fillRect/>
          </a:stretch>
        </p:blipFill>
        <p:spPr>
          <a:xfrm>
            <a:off x="3636020" y="3480572"/>
            <a:ext cx="317479" cy="317479"/>
          </a:xfrm>
          <a:prstGeom prst="rect">
            <a:avLst/>
          </a:prstGeom>
        </p:spPr>
      </p:pic>
      <p:sp>
        <p:nvSpPr>
          <p:cNvPr id="17441" name="TextBox 17440"/>
          <p:cNvSpPr txBox="1"/>
          <p:nvPr/>
        </p:nvSpPr>
        <p:spPr>
          <a:xfrm>
            <a:off x="3086100" y="4005072"/>
            <a:ext cx="1417320" cy="685800"/>
          </a:xfrm>
          <a:prstGeom prst="rect">
            <a:avLst/>
          </a:prstGeom>
          <a:noFill/>
        </p:spPr>
        <p:txBody>
          <a:bodyPr wrap="square" anchor="t" lIns="0" rIns="0" tIns="0" bIns="0">
            <a:spAutoFit/>
          </a:bodyPr>
          <a:lstStyle/>
          <a:p>
            <a:pPr algn="ctr">
              <a:lnSpc>
                <a:spcPct val="95000"/>
              </a:lnSpc>
            </a:pPr>
            <a:r>
              <a:rPr sz="1000" b="1" i="0">
                <a:solidFill>
                  <a:srgbClr val="0F2A44"/>
                </a:solidFill>
                <a:latin typeface="Calibri"/>
              </a:rPr>
              <a:t>Split by time</a:t>
            </a:r>
          </a:p>
          <a:p>
            <a:pPr algn="ctr">
              <a:lnSpc>
                <a:spcPct val="95000"/>
              </a:lnSpc>
            </a:pPr>
            <a:r>
              <a:rPr sz="1000" b="0" i="0">
                <a:solidFill>
                  <a:srgbClr val="3C4A57"/>
                </a:solidFill>
                <a:latin typeface="Calibri"/>
              </a:rPr>
              <a:t>learn on projects up to 2020; test on 2020–21</a:t>
            </a:r>
          </a:p>
        </p:txBody>
      </p:sp>
      <p:cxnSp>
        <p:nvCxnSpPr>
          <p:cNvPr id="17442" name="Connector 17441"/>
          <p:cNvCxnSpPr/>
          <p:nvPr/>
        </p:nvCxnSpPr>
        <p:spPr>
          <a:xfrm flipV="1">
            <a:off x="4078224" y="3273552"/>
            <a:ext cx="1133856" cy="365760"/>
          </a:xfrm>
          <a:prstGeom prst="line">
            <a:avLst/>
          </a:prstGeom>
          <a:ln w="25400">
            <a:solidFill>
              <a:srgbClr val="0F2A44"/>
            </a:solidFill>
          </a:ln>
        </p:spPr>
        <p:style>
          <a:lnRef idx="2">
            <a:schemeClr val="accent1"/>
          </a:lnRef>
          <a:fillRef idx="0">
            <a:schemeClr val="accent1"/>
          </a:fillRef>
          <a:effectRef idx="1">
            <a:schemeClr val="accent1"/>
          </a:effectRef>
          <a:fontRef idx="minor">
            <a:schemeClr val="tx1"/>
          </a:fontRef>
        </p:style>
      </p:cxnSp>
      <p:cxnSp>
        <p:nvCxnSpPr>
          <p:cNvPr id="17443" name="Connector 17442"/>
          <p:cNvCxnSpPr/>
          <p:nvPr/>
        </p:nvCxnSpPr>
        <p:spPr>
          <a:xfrm>
            <a:off x="4078224" y="3639312"/>
            <a:ext cx="1133856" cy="676656"/>
          </a:xfrm>
          <a:prstGeom prst="line">
            <a:avLst/>
          </a:prstGeom>
          <a:ln w="25400">
            <a:solidFill>
              <a:srgbClr val="0F2A44"/>
            </a:solidFill>
          </a:ln>
        </p:spPr>
        <p:style>
          <a:lnRef idx="2">
            <a:schemeClr val="accent1"/>
          </a:lnRef>
          <a:fillRef idx="0">
            <a:schemeClr val="accent1"/>
          </a:fillRef>
          <a:effectRef idx="1">
            <a:schemeClr val="accent1"/>
          </a:effectRef>
          <a:fontRef idx="minor">
            <a:schemeClr val="tx1"/>
          </a:fontRef>
        </p:style>
      </p:cxnSp>
      <p:sp>
        <p:nvSpPr>
          <p:cNvPr id="17444" name="Oval 17443"/>
          <p:cNvSpPr/>
          <p:nvPr/>
        </p:nvSpPr>
        <p:spPr>
          <a:xfrm>
            <a:off x="5202936" y="2990088"/>
            <a:ext cx="566928" cy="566928"/>
          </a:xfrm>
          <a:prstGeom prst="ellipse">
            <a:avLst/>
          </a:prstGeom>
          <a:solidFill>
            <a:srgbClr val="1F5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45" name="Picture 17444" descr="clock.png"/>
          <p:cNvPicPr>
            <a:picLocks noChangeAspect="1"/>
          </p:cNvPicPr>
          <p:nvPr/>
        </p:nvPicPr>
        <p:blipFill>
          <a:blip r:embed="rId11"/>
          <a:stretch>
            <a:fillRect/>
          </a:stretch>
        </p:blipFill>
        <p:spPr>
          <a:xfrm>
            <a:off x="5327660" y="3114812"/>
            <a:ext cx="317479" cy="317479"/>
          </a:xfrm>
          <a:prstGeom prst="rect">
            <a:avLst/>
          </a:prstGeom>
        </p:spPr>
      </p:pic>
      <p:sp>
        <p:nvSpPr>
          <p:cNvPr id="17446" name="TextBox 17445"/>
          <p:cNvSpPr txBox="1"/>
          <p:nvPr/>
        </p:nvSpPr>
        <p:spPr>
          <a:xfrm>
            <a:off x="5852160" y="2999232"/>
            <a:ext cx="1554480" cy="548640"/>
          </a:xfrm>
          <a:prstGeom prst="rect">
            <a:avLst/>
          </a:prstGeom>
          <a:noFill/>
        </p:spPr>
        <p:txBody>
          <a:bodyPr wrap="square" anchor="t" lIns="0" rIns="0" tIns="0" bIns="0">
            <a:spAutoFit/>
          </a:bodyPr>
          <a:lstStyle/>
          <a:p>
            <a:pPr algn="l">
              <a:lnSpc>
                <a:spcPct val="95000"/>
              </a:lnSpc>
            </a:pPr>
            <a:r>
              <a:rPr sz="1000" b="1" i="0">
                <a:solidFill>
                  <a:srgbClr val="0F2A44"/>
                </a:solidFill>
                <a:latin typeface="Calibri"/>
              </a:rPr>
              <a:t>Time model</a:t>
            </a:r>
          </a:p>
          <a:p>
            <a:pPr algn="l">
              <a:lnSpc>
                <a:spcPct val="95000"/>
              </a:lnSpc>
            </a:pPr>
            <a:r>
              <a:rPr sz="1000" b="0" i="0">
                <a:solidFill>
                  <a:srgbClr val="3C4A57"/>
                </a:solidFill>
                <a:latin typeface="Calibri"/>
              </a:rPr>
              <a:t>survival model, built for unfinished projects → finish window</a:t>
            </a:r>
          </a:p>
        </p:txBody>
      </p:sp>
      <p:sp>
        <p:nvSpPr>
          <p:cNvPr id="17447" name="Oval 17446"/>
          <p:cNvSpPr/>
          <p:nvPr/>
        </p:nvSpPr>
        <p:spPr>
          <a:xfrm>
            <a:off x="5202936" y="4032504"/>
            <a:ext cx="566928" cy="566928"/>
          </a:xfrm>
          <a:prstGeom prst="ellipse">
            <a:avLst/>
          </a:prstGeom>
          <a:solidFill>
            <a:srgbClr val="1F5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48" name="Picture 17447" descr="chart-bar.png"/>
          <p:cNvPicPr>
            <a:picLocks noChangeAspect="1"/>
          </p:cNvPicPr>
          <p:nvPr/>
        </p:nvPicPr>
        <p:blipFill>
          <a:blip r:embed="rId12"/>
          <a:stretch>
            <a:fillRect/>
          </a:stretch>
        </p:blipFill>
        <p:spPr>
          <a:xfrm>
            <a:off x="5327660" y="4157228"/>
            <a:ext cx="317479" cy="317479"/>
          </a:xfrm>
          <a:prstGeom prst="rect">
            <a:avLst/>
          </a:prstGeom>
        </p:spPr>
      </p:pic>
      <p:sp>
        <p:nvSpPr>
          <p:cNvPr id="17449" name="TextBox 17448"/>
          <p:cNvSpPr txBox="1"/>
          <p:nvPr/>
        </p:nvSpPr>
        <p:spPr>
          <a:xfrm>
            <a:off x="5852160" y="4041648"/>
            <a:ext cx="1554480" cy="548640"/>
          </a:xfrm>
          <a:prstGeom prst="rect">
            <a:avLst/>
          </a:prstGeom>
          <a:noFill/>
        </p:spPr>
        <p:txBody>
          <a:bodyPr wrap="square" anchor="t" lIns="0" rIns="0" tIns="0" bIns="0">
            <a:spAutoFit/>
          </a:bodyPr>
          <a:lstStyle/>
          <a:p>
            <a:pPr algn="l">
              <a:lnSpc>
                <a:spcPct val="95000"/>
              </a:lnSpc>
            </a:pPr>
            <a:r>
              <a:rPr sz="1000" b="1" i="0">
                <a:solidFill>
                  <a:srgbClr val="0F2A44"/>
                </a:solidFill>
                <a:latin typeface="Calibri"/>
              </a:rPr>
              <a:t>Cost model</a:t>
            </a:r>
          </a:p>
          <a:p>
            <a:pPr algn="l">
              <a:lnSpc>
                <a:spcPct val="95000"/>
              </a:lnSpc>
            </a:pPr>
            <a:r>
              <a:rPr sz="1000" b="0" i="0">
                <a:solidFill>
                  <a:srgbClr val="3C4A57"/>
                </a:solidFill>
                <a:latin typeface="Calibri"/>
              </a:rPr>
              <a:t>boosting, checked against plain statistics (OLS) and the sector average</a:t>
            </a:r>
          </a:p>
        </p:txBody>
      </p:sp>
      <p:sp>
        <p:nvSpPr>
          <p:cNvPr id="17450" name="Oval 17449"/>
          <p:cNvSpPr/>
          <p:nvPr/>
        </p:nvSpPr>
        <p:spPr>
          <a:xfrm>
            <a:off x="7498079" y="2999232"/>
            <a:ext cx="548640" cy="548640"/>
          </a:xfrm>
          <a:prstGeom prst="ellipse">
            <a:avLst/>
          </a:prstGeom>
          <a:solidFill>
            <a:srgbClr val="1F5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51" name="TextBox 17450"/>
          <p:cNvSpPr txBox="1"/>
          <p:nvPr/>
        </p:nvSpPr>
        <p:spPr>
          <a:xfrm>
            <a:off x="7498079" y="3136392"/>
            <a:ext cx="548640" cy="274320"/>
          </a:xfrm>
          <a:prstGeom prst="rect">
            <a:avLst/>
          </a:prstGeom>
          <a:noFill/>
        </p:spPr>
        <p:txBody>
          <a:bodyPr wrap="square" anchor="t" lIns="0" rIns="0" tIns="0" bIns="0">
            <a:spAutoFit/>
          </a:bodyPr>
          <a:lstStyle/>
          <a:p>
            <a:pPr algn="ctr">
              <a:lnSpc>
                <a:spcPct val="100000"/>
              </a:lnSpc>
            </a:pPr>
            <a:r>
              <a:rPr sz="1200" b="1" i="0">
                <a:solidFill>
                  <a:srgbClr val="FFFFFF"/>
                </a:solidFill>
                <a:latin typeface="Calibri"/>
              </a:rPr>
              <a:t>79%</a:t>
            </a:r>
          </a:p>
        </p:txBody>
      </p:sp>
      <p:sp>
        <p:nvSpPr>
          <p:cNvPr id="17452" name="TextBox 17451"/>
          <p:cNvSpPr txBox="1"/>
          <p:nvPr/>
        </p:nvSpPr>
        <p:spPr>
          <a:xfrm>
            <a:off x="7360920" y="3575304"/>
            <a:ext cx="822960" cy="329184"/>
          </a:xfrm>
          <a:prstGeom prst="rect">
            <a:avLst/>
          </a:prstGeom>
          <a:noFill/>
        </p:spPr>
        <p:txBody>
          <a:bodyPr wrap="square" anchor="t" lIns="0" rIns="0" tIns="0" bIns="0">
            <a:spAutoFit/>
          </a:bodyPr>
          <a:lstStyle/>
          <a:p>
            <a:pPr algn="ctr">
              <a:lnSpc>
                <a:spcPct val="92000"/>
              </a:lnSpc>
            </a:pPr>
            <a:r>
              <a:rPr sz="1000" b="0" i="0">
                <a:solidFill>
                  <a:srgbClr val="0F2A44"/>
                </a:solidFill>
                <a:latin typeface="Calibri"/>
              </a:rPr>
              <a:t>hit-rate · was 51%</a:t>
            </a:r>
          </a:p>
        </p:txBody>
      </p:sp>
      <p:sp>
        <p:nvSpPr>
          <p:cNvPr id="17453" name="Oval 17452"/>
          <p:cNvSpPr/>
          <p:nvPr/>
        </p:nvSpPr>
        <p:spPr>
          <a:xfrm>
            <a:off x="7498079" y="4041648"/>
            <a:ext cx="548640" cy="548640"/>
          </a:xfrm>
          <a:prstGeom prst="ellipse">
            <a:avLst/>
          </a:prstGeom>
          <a:solidFill>
            <a:srgbClr val="1F5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54" name="TextBox 17453"/>
          <p:cNvSpPr txBox="1"/>
          <p:nvPr/>
        </p:nvSpPr>
        <p:spPr>
          <a:xfrm>
            <a:off x="7498079" y="4178807"/>
            <a:ext cx="548640" cy="274320"/>
          </a:xfrm>
          <a:prstGeom prst="rect">
            <a:avLst/>
          </a:prstGeom>
          <a:noFill/>
        </p:spPr>
        <p:txBody>
          <a:bodyPr wrap="square" anchor="t" lIns="0" rIns="0" tIns="0" bIns="0">
            <a:spAutoFit/>
          </a:bodyPr>
          <a:lstStyle/>
          <a:p>
            <a:pPr algn="ctr">
              <a:lnSpc>
                <a:spcPct val="100000"/>
              </a:lnSpc>
            </a:pPr>
            <a:r>
              <a:rPr sz="1200" b="1" i="0">
                <a:solidFill>
                  <a:srgbClr val="FFFFFF"/>
                </a:solidFill>
                <a:latin typeface="Calibri"/>
              </a:rPr>
              <a:t>−12%</a:t>
            </a:r>
          </a:p>
        </p:txBody>
      </p:sp>
      <p:sp>
        <p:nvSpPr>
          <p:cNvPr id="17455" name="TextBox 17454"/>
          <p:cNvSpPr txBox="1"/>
          <p:nvPr/>
        </p:nvSpPr>
        <p:spPr>
          <a:xfrm>
            <a:off x="7360920" y="4617720"/>
            <a:ext cx="822960" cy="329184"/>
          </a:xfrm>
          <a:prstGeom prst="rect">
            <a:avLst/>
          </a:prstGeom>
          <a:noFill/>
        </p:spPr>
        <p:txBody>
          <a:bodyPr wrap="square" anchor="t" lIns="0" rIns="0" tIns="0" bIns="0">
            <a:spAutoFit/>
          </a:bodyPr>
          <a:lstStyle/>
          <a:p>
            <a:pPr algn="ctr">
              <a:lnSpc>
                <a:spcPct val="92000"/>
              </a:lnSpc>
            </a:pPr>
            <a:r>
              <a:rPr sz="1000" b="0" i="0">
                <a:solidFill>
                  <a:srgbClr val="0F2A44"/>
                </a:solidFill>
                <a:latin typeface="Calibri"/>
              </a:rPr>
              <a:t>error vs sector avg.</a:t>
            </a:r>
          </a:p>
        </p:txBody>
      </p:sp>
      <p:cxnSp>
        <p:nvCxnSpPr>
          <p:cNvPr id="17456" name="Connector 17455"/>
          <p:cNvCxnSpPr/>
          <p:nvPr/>
        </p:nvCxnSpPr>
        <p:spPr>
          <a:xfrm>
            <a:off x="8046720" y="3273552"/>
            <a:ext cx="731520" cy="365760"/>
          </a:xfrm>
          <a:prstGeom prst="line">
            <a:avLst/>
          </a:prstGeom>
          <a:ln w="25400">
            <a:solidFill>
              <a:srgbClr val="0F2A44"/>
            </a:solidFill>
          </a:ln>
        </p:spPr>
        <p:style>
          <a:lnRef idx="2">
            <a:schemeClr val="accent1"/>
          </a:lnRef>
          <a:fillRef idx="0">
            <a:schemeClr val="accent1"/>
          </a:fillRef>
          <a:effectRef idx="1">
            <a:schemeClr val="accent1"/>
          </a:effectRef>
          <a:fontRef idx="minor">
            <a:schemeClr val="tx1"/>
          </a:fontRef>
        </p:style>
      </p:cxnSp>
      <p:cxnSp>
        <p:nvCxnSpPr>
          <p:cNvPr id="17457" name="Connector 17456"/>
          <p:cNvCxnSpPr/>
          <p:nvPr/>
        </p:nvCxnSpPr>
        <p:spPr>
          <a:xfrm flipV="1">
            <a:off x="8046720" y="3639312"/>
            <a:ext cx="731520" cy="676656"/>
          </a:xfrm>
          <a:prstGeom prst="line">
            <a:avLst/>
          </a:prstGeom>
          <a:ln w="25400">
            <a:solidFill>
              <a:srgbClr val="0F2A44"/>
            </a:solidFill>
          </a:ln>
        </p:spPr>
        <p:style>
          <a:lnRef idx="2">
            <a:schemeClr val="accent1"/>
          </a:lnRef>
          <a:fillRef idx="0">
            <a:schemeClr val="accent1"/>
          </a:fillRef>
          <a:effectRef idx="1">
            <a:schemeClr val="accent1"/>
          </a:effectRef>
          <a:fontRef idx="minor">
            <a:schemeClr val="tx1"/>
          </a:fontRef>
        </p:style>
      </p:cxnSp>
      <p:cxnSp>
        <p:nvCxnSpPr>
          <p:cNvPr id="17458" name="Connector 17457"/>
          <p:cNvCxnSpPr/>
          <p:nvPr/>
        </p:nvCxnSpPr>
        <p:spPr>
          <a:xfrm>
            <a:off x="8778240" y="3639312"/>
            <a:ext cx="2743200" cy="0"/>
          </a:xfrm>
          <a:prstGeom prst="line">
            <a:avLst/>
          </a:prstGeom>
          <a:ln w="31750">
            <a:solidFill>
              <a:srgbClr val="0F2A44"/>
            </a:solidFill>
          </a:ln>
        </p:spPr>
        <p:style>
          <a:lnRef idx="2">
            <a:schemeClr val="accent1"/>
          </a:lnRef>
          <a:fillRef idx="0">
            <a:schemeClr val="accent1"/>
          </a:fillRef>
          <a:effectRef idx="1">
            <a:schemeClr val="accent1"/>
          </a:effectRef>
          <a:fontRef idx="minor">
            <a:schemeClr val="tx1"/>
          </a:fontRef>
        </p:style>
      </p:cxnSp>
      <p:sp>
        <p:nvSpPr>
          <p:cNvPr id="17459" name="Oval 17458"/>
          <p:cNvSpPr/>
          <p:nvPr/>
        </p:nvSpPr>
        <p:spPr>
          <a:xfrm>
            <a:off x="8769096" y="3355848"/>
            <a:ext cx="566928" cy="566928"/>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60" name="Picture 17459" descr="list-numbers.png"/>
          <p:cNvPicPr>
            <a:picLocks noChangeAspect="1"/>
          </p:cNvPicPr>
          <p:nvPr/>
        </p:nvPicPr>
        <p:blipFill>
          <a:blip r:embed="rId13"/>
          <a:stretch>
            <a:fillRect/>
          </a:stretch>
        </p:blipFill>
        <p:spPr>
          <a:xfrm>
            <a:off x="8893820" y="3480572"/>
            <a:ext cx="317479" cy="317479"/>
          </a:xfrm>
          <a:prstGeom prst="rect">
            <a:avLst/>
          </a:prstGeom>
        </p:spPr>
      </p:pic>
      <p:sp>
        <p:nvSpPr>
          <p:cNvPr id="17461" name="TextBox 17460"/>
          <p:cNvSpPr txBox="1"/>
          <p:nvPr/>
        </p:nvSpPr>
        <p:spPr>
          <a:xfrm>
            <a:off x="8458200" y="4005072"/>
            <a:ext cx="1188720" cy="685800"/>
          </a:xfrm>
          <a:prstGeom prst="rect">
            <a:avLst/>
          </a:prstGeom>
          <a:noFill/>
        </p:spPr>
        <p:txBody>
          <a:bodyPr wrap="square" anchor="t" lIns="0" rIns="0" tIns="0" bIns="0">
            <a:spAutoFit/>
          </a:bodyPr>
          <a:lstStyle/>
          <a:p>
            <a:pPr algn="ctr">
              <a:lnSpc>
                <a:spcPct val="95000"/>
              </a:lnSpc>
            </a:pPr>
            <a:r>
              <a:rPr sz="1000" b="1" i="0">
                <a:solidFill>
                  <a:srgbClr val="0F2A44"/>
                </a:solidFill>
                <a:latin typeface="Calibri"/>
              </a:rPr>
              <a:t>Ranked queue</a:t>
            </a:r>
          </a:p>
          <a:p>
            <a:pPr algn="ctr">
              <a:lnSpc>
                <a:spcPct val="95000"/>
              </a:lnSpc>
            </a:pPr>
            <a:r>
              <a:rPr sz="1000" b="0" i="0">
                <a:solidFill>
                  <a:srgbClr val="3C4A57"/>
                </a:solidFill>
                <a:latin typeface="Calibri"/>
              </a:rPr>
              <a:t>Ministry-set weights · a reason per project</a:t>
            </a:r>
          </a:p>
        </p:txBody>
      </p:sp>
      <p:sp>
        <p:nvSpPr>
          <p:cNvPr id="17462" name="Oval 17461"/>
          <p:cNvSpPr/>
          <p:nvPr/>
        </p:nvSpPr>
        <p:spPr>
          <a:xfrm>
            <a:off x="10049256" y="3355848"/>
            <a:ext cx="566928" cy="566928"/>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63" name="Picture 17462" descr="user.png"/>
          <p:cNvPicPr>
            <a:picLocks noChangeAspect="1"/>
          </p:cNvPicPr>
          <p:nvPr/>
        </p:nvPicPr>
        <p:blipFill>
          <a:blip r:embed="rId14"/>
          <a:stretch>
            <a:fillRect/>
          </a:stretch>
        </p:blipFill>
        <p:spPr>
          <a:xfrm>
            <a:off x="10173980" y="3480572"/>
            <a:ext cx="317479" cy="317479"/>
          </a:xfrm>
          <a:prstGeom prst="rect">
            <a:avLst/>
          </a:prstGeom>
        </p:spPr>
      </p:pic>
      <p:sp>
        <p:nvSpPr>
          <p:cNvPr id="17464" name="TextBox 17463"/>
          <p:cNvSpPr txBox="1"/>
          <p:nvPr/>
        </p:nvSpPr>
        <p:spPr>
          <a:xfrm>
            <a:off x="9761220" y="4005072"/>
            <a:ext cx="1143000" cy="685800"/>
          </a:xfrm>
          <a:prstGeom prst="rect">
            <a:avLst/>
          </a:prstGeom>
          <a:noFill/>
        </p:spPr>
        <p:txBody>
          <a:bodyPr wrap="square" anchor="t" lIns="0" rIns="0" tIns="0" bIns="0">
            <a:spAutoFit/>
          </a:bodyPr>
          <a:lstStyle/>
          <a:p>
            <a:pPr algn="ctr">
              <a:lnSpc>
                <a:spcPct val="95000"/>
              </a:lnSpc>
            </a:pPr>
            <a:r>
              <a:rPr sz="1000" b="1" i="0">
                <a:solidFill>
                  <a:srgbClr val="0F2A44"/>
                </a:solidFill>
                <a:latin typeface="Calibri"/>
              </a:rPr>
              <a:t>Officer outputs</a:t>
            </a:r>
          </a:p>
          <a:p>
            <a:pPr algn="ctr">
              <a:lnSpc>
                <a:spcPct val="95000"/>
              </a:lnSpc>
            </a:pPr>
            <a:r>
              <a:rPr sz="1000" b="0" i="0">
                <a:solidFill>
                  <a:srgbClr val="3C4A57"/>
                </a:solidFill>
                <a:latin typeface="Calibri"/>
              </a:rPr>
              <a:t>queue · windows · EN/HI brief</a:t>
            </a:r>
          </a:p>
        </p:txBody>
      </p:sp>
      <p:sp>
        <p:nvSpPr>
          <p:cNvPr id="17465" name="Oval 17464"/>
          <p:cNvSpPr/>
          <p:nvPr/>
        </p:nvSpPr>
        <p:spPr>
          <a:xfrm>
            <a:off x="11237976" y="3355848"/>
            <a:ext cx="566928" cy="566928"/>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66" name="Picture 17465" descr="file-text.png"/>
          <p:cNvPicPr>
            <a:picLocks noChangeAspect="1"/>
          </p:cNvPicPr>
          <p:nvPr/>
        </p:nvPicPr>
        <p:blipFill>
          <a:blip r:embed="rId15"/>
          <a:stretch>
            <a:fillRect/>
          </a:stretch>
        </p:blipFill>
        <p:spPr>
          <a:xfrm>
            <a:off x="11362700" y="3480572"/>
            <a:ext cx="317479" cy="317479"/>
          </a:xfrm>
          <a:prstGeom prst="rect">
            <a:avLst/>
          </a:prstGeom>
        </p:spPr>
      </p:pic>
      <p:sp>
        <p:nvSpPr>
          <p:cNvPr id="17467" name="TextBox 17466"/>
          <p:cNvSpPr txBox="1"/>
          <p:nvPr/>
        </p:nvSpPr>
        <p:spPr>
          <a:xfrm>
            <a:off x="11018519" y="4005072"/>
            <a:ext cx="1005840" cy="685800"/>
          </a:xfrm>
          <a:prstGeom prst="rect">
            <a:avLst/>
          </a:prstGeom>
          <a:noFill/>
        </p:spPr>
        <p:txBody>
          <a:bodyPr wrap="square" anchor="t" lIns="0" rIns="0" tIns="0" bIns="0">
            <a:spAutoFit/>
          </a:bodyPr>
          <a:lstStyle/>
          <a:p>
            <a:pPr algn="ctr">
              <a:lnSpc>
                <a:spcPct val="95000"/>
              </a:lnSpc>
            </a:pPr>
            <a:r>
              <a:rPr sz="1000" b="1" i="0">
                <a:solidFill>
                  <a:srgbClr val="0F2A44"/>
                </a:solidFill>
                <a:latin typeface="Calibri"/>
              </a:rPr>
              <a:t>Monthly annex</a:t>
            </a:r>
          </a:p>
          <a:p>
            <a:pPr algn="ctr">
              <a:lnSpc>
                <a:spcPct val="95000"/>
              </a:lnSpc>
            </a:pPr>
            <a:r>
              <a:rPr sz="1000" b="0" i="0">
                <a:solidFill>
                  <a:srgbClr val="3C4A57"/>
                </a:solidFill>
                <a:latin typeface="Calibri"/>
              </a:rPr>
              <a:t>into the IPMD report</a:t>
            </a:r>
          </a:p>
        </p:txBody>
      </p:sp>
      <p:sp>
        <p:nvSpPr>
          <p:cNvPr id="17468" name="Rounded Rectangle 17467"/>
          <p:cNvSpPr/>
          <p:nvPr/>
        </p:nvSpPr>
        <p:spPr>
          <a:xfrm>
            <a:off x="274320" y="5074920"/>
            <a:ext cx="2606040" cy="1216152"/>
          </a:xfrm>
          <a:prstGeom prst="roundRect">
            <a:avLst>
              <a:gd name="adj" fmla="val 11278"/>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69" name="Oval 17468"/>
          <p:cNvSpPr/>
          <p:nvPr/>
        </p:nvSpPr>
        <p:spPr>
          <a:xfrm>
            <a:off x="384048" y="5157216"/>
            <a:ext cx="365760" cy="365760"/>
          </a:xfrm>
          <a:prstGeom prst="ellipse">
            <a:avLst/>
          </a:prstGeom>
          <a:solidFill>
            <a:srgbClr val="1F5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70" name="Picture 17469" descr="search.png"/>
          <p:cNvPicPr>
            <a:picLocks noChangeAspect="1"/>
          </p:cNvPicPr>
          <p:nvPr/>
        </p:nvPicPr>
        <p:blipFill>
          <a:blip r:embed="rId16"/>
          <a:stretch>
            <a:fillRect/>
          </a:stretch>
        </p:blipFill>
        <p:spPr>
          <a:xfrm>
            <a:off x="464515" y="5237683"/>
            <a:ext cx="204825" cy="204825"/>
          </a:xfrm>
          <a:prstGeom prst="rect">
            <a:avLst/>
          </a:prstGeom>
        </p:spPr>
      </p:pic>
      <p:sp>
        <p:nvSpPr>
          <p:cNvPr id="17471" name="TextBox 17470"/>
          <p:cNvSpPr txBox="1"/>
          <p:nvPr/>
        </p:nvSpPr>
        <p:spPr>
          <a:xfrm>
            <a:off x="841247" y="5175504"/>
            <a:ext cx="1965960" cy="256032"/>
          </a:xfrm>
          <a:prstGeom prst="rect">
            <a:avLst/>
          </a:prstGeom>
          <a:noFill/>
        </p:spPr>
        <p:txBody>
          <a:bodyPr wrap="square" anchor="t" lIns="0" rIns="0" tIns="0" bIns="0">
            <a:spAutoFit/>
          </a:bodyPr>
          <a:lstStyle/>
          <a:p>
            <a:pPr algn="l">
              <a:lnSpc>
                <a:spcPct val="100000"/>
              </a:lnSpc>
            </a:pPr>
            <a:r>
              <a:rPr sz="1100" b="1" i="0">
                <a:solidFill>
                  <a:srgbClr val="0F2A44"/>
                </a:solidFill>
                <a:latin typeface="Calibri"/>
              </a:rPr>
              <a:t>How we checked</a:t>
            </a:r>
          </a:p>
        </p:txBody>
      </p:sp>
      <p:sp>
        <p:nvSpPr>
          <p:cNvPr id="17472" name="TextBox 17471"/>
          <p:cNvSpPr txBox="1"/>
          <p:nvPr/>
        </p:nvSpPr>
        <p:spPr>
          <a:xfrm>
            <a:off x="384048" y="5559552"/>
            <a:ext cx="2404872" cy="713232"/>
          </a:xfrm>
          <a:prstGeom prst="rect">
            <a:avLst/>
          </a:prstGeom>
          <a:noFill/>
        </p:spPr>
        <p:txBody>
          <a:bodyPr wrap="square" anchor="t" lIns="0" rIns="0" tIns="0" bIns="0">
            <a:spAutoFit/>
          </a:bodyPr>
          <a:lstStyle/>
          <a:p>
            <a:pPr algn="l">
              <a:lnSpc>
                <a:spcPct val="95000"/>
              </a:lnSpc>
            </a:pPr>
            <a:r>
              <a:rPr sz="1000" b="0" i="0">
                <a:solidFill>
                  <a:srgbClr val="3C4A57"/>
                </a:solidFill>
                <a:latin typeface="Calibri"/>
              </a:rPr>
              <a:t>tested on projects newer than the ones we learned from · 12 future columns removed · compared with naive, sector-average and OLS forecasts · finish window checked on 596 held-out projects</a:t>
            </a:r>
          </a:p>
        </p:txBody>
      </p:sp>
      <p:sp>
        <p:nvSpPr>
          <p:cNvPr id="17473" name="Rounded Rectangle 17472"/>
          <p:cNvSpPr/>
          <p:nvPr/>
        </p:nvSpPr>
        <p:spPr>
          <a:xfrm>
            <a:off x="2971800" y="5074920"/>
            <a:ext cx="2606040" cy="1216152"/>
          </a:xfrm>
          <a:prstGeom prst="roundRect">
            <a:avLst>
              <a:gd name="adj" fmla="val 11278"/>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74" name="Oval 17473"/>
          <p:cNvSpPr/>
          <p:nvPr/>
        </p:nvSpPr>
        <p:spPr>
          <a:xfrm>
            <a:off x="3081528" y="5157216"/>
            <a:ext cx="365760" cy="36576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75" name="Picture 17474" descr="refresh.png"/>
          <p:cNvPicPr>
            <a:picLocks noChangeAspect="1"/>
          </p:cNvPicPr>
          <p:nvPr/>
        </p:nvPicPr>
        <p:blipFill>
          <a:blip r:embed="rId17"/>
          <a:stretch>
            <a:fillRect/>
          </a:stretch>
        </p:blipFill>
        <p:spPr>
          <a:xfrm>
            <a:off x="3161995" y="5237683"/>
            <a:ext cx="204825" cy="204825"/>
          </a:xfrm>
          <a:prstGeom prst="rect">
            <a:avLst/>
          </a:prstGeom>
        </p:spPr>
      </p:pic>
      <p:sp>
        <p:nvSpPr>
          <p:cNvPr id="17476" name="TextBox 17475"/>
          <p:cNvSpPr txBox="1"/>
          <p:nvPr/>
        </p:nvSpPr>
        <p:spPr>
          <a:xfrm>
            <a:off x="3538728" y="5175504"/>
            <a:ext cx="1965960" cy="256032"/>
          </a:xfrm>
          <a:prstGeom prst="rect">
            <a:avLst/>
          </a:prstGeom>
          <a:noFill/>
        </p:spPr>
        <p:txBody>
          <a:bodyPr wrap="square" anchor="t" lIns="0" rIns="0" tIns="0" bIns="0">
            <a:spAutoFit/>
          </a:bodyPr>
          <a:lstStyle/>
          <a:p>
            <a:pPr algn="l">
              <a:lnSpc>
                <a:spcPct val="100000"/>
              </a:lnSpc>
            </a:pPr>
            <a:r>
              <a:rPr sz="1100" b="1" i="0">
                <a:solidFill>
                  <a:srgbClr val="0F2A44"/>
                </a:solidFill>
                <a:latin typeface="Calibri"/>
              </a:rPr>
              <a:t>Same result every time</a:t>
            </a:r>
          </a:p>
        </p:txBody>
      </p:sp>
      <p:sp>
        <p:nvSpPr>
          <p:cNvPr id="17477" name="TextBox 17476"/>
          <p:cNvSpPr txBox="1"/>
          <p:nvPr/>
        </p:nvSpPr>
        <p:spPr>
          <a:xfrm>
            <a:off x="3081528" y="5559552"/>
            <a:ext cx="2404872" cy="713232"/>
          </a:xfrm>
          <a:prstGeom prst="rect">
            <a:avLst/>
          </a:prstGeom>
          <a:noFill/>
        </p:spPr>
        <p:txBody>
          <a:bodyPr wrap="square" anchor="t" lIns="0" rIns="0" tIns="0" bIns="0">
            <a:spAutoFit/>
          </a:bodyPr>
          <a:lstStyle/>
          <a:p>
            <a:pPr algn="l">
              <a:lnSpc>
                <a:spcPct val="95000"/>
              </a:lnSpc>
            </a:pPr>
            <a:r>
              <a:rPr sz="1000" b="0" i="0">
                <a:solidFill>
                  <a:srgbClr val="3C4A57"/>
                </a:solidFill>
                <a:latin typeface="Calibri"/>
              </a:rPr>
              <a:t>fixed seeds · identical output on any machine · 152 automated checks pass</a:t>
            </a:r>
          </a:p>
        </p:txBody>
      </p:sp>
      <p:sp>
        <p:nvSpPr>
          <p:cNvPr id="17478" name="Rounded Rectangle 17477"/>
          <p:cNvSpPr/>
          <p:nvPr/>
        </p:nvSpPr>
        <p:spPr>
          <a:xfrm>
            <a:off x="5669280" y="5074920"/>
            <a:ext cx="2606040" cy="1216152"/>
          </a:xfrm>
          <a:prstGeom prst="roundRect">
            <a:avLst>
              <a:gd name="adj" fmla="val 11278"/>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79" name="Oval 17478"/>
          <p:cNvSpPr/>
          <p:nvPr/>
        </p:nvSpPr>
        <p:spPr>
          <a:xfrm>
            <a:off x="5779008" y="5157216"/>
            <a:ext cx="365760" cy="365760"/>
          </a:xfrm>
          <a:prstGeom prst="ellipse">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80" name="Picture 17479" descr="scale.png"/>
          <p:cNvPicPr>
            <a:picLocks noChangeAspect="1"/>
          </p:cNvPicPr>
          <p:nvPr/>
        </p:nvPicPr>
        <p:blipFill>
          <a:blip r:embed="rId18"/>
          <a:stretch>
            <a:fillRect/>
          </a:stretch>
        </p:blipFill>
        <p:spPr>
          <a:xfrm>
            <a:off x="5859475" y="5237683"/>
            <a:ext cx="204825" cy="204825"/>
          </a:xfrm>
          <a:prstGeom prst="rect">
            <a:avLst/>
          </a:prstGeom>
        </p:spPr>
      </p:pic>
      <p:sp>
        <p:nvSpPr>
          <p:cNvPr id="17481" name="TextBox 17480"/>
          <p:cNvSpPr txBox="1"/>
          <p:nvPr/>
        </p:nvSpPr>
        <p:spPr>
          <a:xfrm>
            <a:off x="6236208" y="5175504"/>
            <a:ext cx="1965960" cy="256032"/>
          </a:xfrm>
          <a:prstGeom prst="rect">
            <a:avLst/>
          </a:prstGeom>
          <a:noFill/>
        </p:spPr>
        <p:txBody>
          <a:bodyPr wrap="square" anchor="t" lIns="0" rIns="0" tIns="0" bIns="0">
            <a:spAutoFit/>
          </a:bodyPr>
          <a:lstStyle/>
          <a:p>
            <a:pPr algn="l">
              <a:lnSpc>
                <a:spcPct val="100000"/>
              </a:lnSpc>
            </a:pPr>
            <a:r>
              <a:rPr sz="1100" b="1" i="0">
                <a:solidFill>
                  <a:srgbClr val="0F2A44"/>
                </a:solidFill>
                <a:latin typeface="Calibri"/>
              </a:rPr>
              <a:t>What we found, honestly</a:t>
            </a:r>
          </a:p>
        </p:txBody>
      </p:sp>
      <p:sp>
        <p:nvSpPr>
          <p:cNvPr id="17482" name="TextBox 17481"/>
          <p:cNvSpPr txBox="1"/>
          <p:nvPr/>
        </p:nvSpPr>
        <p:spPr>
          <a:xfrm>
            <a:off x="5779008" y="5559552"/>
            <a:ext cx="2404872" cy="713232"/>
          </a:xfrm>
          <a:prstGeom prst="rect">
            <a:avLst/>
          </a:prstGeom>
          <a:noFill/>
        </p:spPr>
        <p:txBody>
          <a:bodyPr wrap="square" anchor="t" lIns="0" rIns="0" tIns="0" bIns="0">
            <a:spAutoFit/>
          </a:bodyPr>
          <a:lstStyle/>
          <a:p>
            <a:pPr algn="l">
              <a:lnSpc>
                <a:spcPct val="95000"/>
              </a:lnSpc>
            </a:pPr>
            <a:r>
              <a:rPr sz="1000" b="0" i="0">
                <a:solidFill>
                  <a:srgbClr val="3C4A57"/>
                </a:solidFill>
                <a:latin typeface="Calibri"/>
              </a:rPr>
              <a:t>AI beats plain statistics by only 2.6% on cost · ten extra variables did not help · for time, no regression was good enough — the survival model is used</a:t>
            </a:r>
          </a:p>
        </p:txBody>
      </p:sp>
      <p:sp>
        <p:nvSpPr>
          <p:cNvPr id="17483" name="Rounded Rectangle 17482"/>
          <p:cNvSpPr/>
          <p:nvPr/>
        </p:nvSpPr>
        <p:spPr>
          <a:xfrm>
            <a:off x="8503919" y="5102352"/>
            <a:ext cx="1691640" cy="702822"/>
          </a:xfrm>
          <a:prstGeom prst="roundRect">
            <a:avLst>
              <a:gd name="adj" fmla="val 10408"/>
            </a:avLst>
          </a:prstGeom>
          <a:solidFill>
            <a:srgbClr val="FFFFFF"/>
          </a:solidFill>
          <a:ln w="9525">
            <a:solidFill>
              <a:srgbClr val="D6DD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84" name="Picture 17483" descr="crop_queue.png"/>
          <p:cNvPicPr>
            <a:picLocks noChangeAspect="1"/>
          </p:cNvPicPr>
          <p:nvPr/>
        </p:nvPicPr>
        <p:blipFill>
          <a:blip r:embed="rId19"/>
          <a:stretch>
            <a:fillRect/>
          </a:stretch>
        </p:blipFill>
        <p:spPr>
          <a:xfrm>
            <a:off x="8549640" y="5148072"/>
            <a:ext cx="1600200" cy="611382"/>
          </a:xfrm>
          <a:prstGeom prst="rect">
            <a:avLst/>
          </a:prstGeom>
        </p:spPr>
      </p:pic>
      <p:sp>
        <p:nvSpPr>
          <p:cNvPr id="17485" name="TextBox 17484"/>
          <p:cNvSpPr txBox="1"/>
          <p:nvPr/>
        </p:nvSpPr>
        <p:spPr>
          <a:xfrm>
            <a:off x="8503920" y="5832606"/>
            <a:ext cx="1691640" cy="365760"/>
          </a:xfrm>
          <a:prstGeom prst="rect">
            <a:avLst/>
          </a:prstGeom>
          <a:noFill/>
        </p:spPr>
        <p:txBody>
          <a:bodyPr wrap="square" anchor="t" lIns="0" rIns="0" tIns="0" bIns="0">
            <a:spAutoFit/>
          </a:bodyPr>
          <a:lstStyle/>
          <a:p>
            <a:pPr algn="ctr">
              <a:lnSpc>
                <a:spcPct val="100000"/>
              </a:lnSpc>
            </a:pPr>
            <a:r>
              <a:rPr sz="1000" b="0" i="0">
                <a:solidFill>
                  <a:srgbClr val="3C4A57"/>
                </a:solidFill>
                <a:latin typeface="Calibri"/>
              </a:rPr>
              <a:t>the ranked queue</a:t>
            </a:r>
          </a:p>
        </p:txBody>
      </p:sp>
      <p:sp>
        <p:nvSpPr>
          <p:cNvPr id="17486" name="Rounded Rectangle 17485"/>
          <p:cNvSpPr/>
          <p:nvPr/>
        </p:nvSpPr>
        <p:spPr>
          <a:xfrm>
            <a:off x="10241280" y="5102352"/>
            <a:ext cx="1691640" cy="723097"/>
          </a:xfrm>
          <a:prstGeom prst="roundRect">
            <a:avLst>
              <a:gd name="adj" fmla="val 10116"/>
            </a:avLst>
          </a:prstGeom>
          <a:solidFill>
            <a:srgbClr val="FFFFFF"/>
          </a:solidFill>
          <a:ln w="9525">
            <a:solidFill>
              <a:srgbClr val="D6DD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87" name="Picture 17486" descr="crop_project.png"/>
          <p:cNvPicPr>
            <a:picLocks noChangeAspect="1"/>
          </p:cNvPicPr>
          <p:nvPr/>
        </p:nvPicPr>
        <p:blipFill>
          <a:blip r:embed="rId20"/>
          <a:stretch>
            <a:fillRect/>
          </a:stretch>
        </p:blipFill>
        <p:spPr>
          <a:xfrm>
            <a:off x="10287000" y="5148072"/>
            <a:ext cx="1600200" cy="631657"/>
          </a:xfrm>
          <a:prstGeom prst="rect">
            <a:avLst/>
          </a:prstGeom>
        </p:spPr>
      </p:pic>
      <p:sp>
        <p:nvSpPr>
          <p:cNvPr id="17488" name="TextBox 17487"/>
          <p:cNvSpPr txBox="1"/>
          <p:nvPr/>
        </p:nvSpPr>
        <p:spPr>
          <a:xfrm>
            <a:off x="10241280" y="5852881"/>
            <a:ext cx="1691640" cy="365760"/>
          </a:xfrm>
          <a:prstGeom prst="rect">
            <a:avLst/>
          </a:prstGeom>
          <a:noFill/>
        </p:spPr>
        <p:txBody>
          <a:bodyPr wrap="square" anchor="t" lIns="0" rIns="0" tIns="0" bIns="0">
            <a:spAutoFit/>
          </a:bodyPr>
          <a:lstStyle/>
          <a:p>
            <a:pPr algn="ctr">
              <a:lnSpc>
                <a:spcPct val="100000"/>
              </a:lnSpc>
            </a:pPr>
            <a:r>
              <a:rPr sz="1000" b="0" i="0">
                <a:solidFill>
                  <a:srgbClr val="3C4A57"/>
                </a:solidFill>
                <a:latin typeface="Calibri"/>
              </a:rPr>
              <a:t>project 617185's window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1">
                <a:latin typeface="Calibri"/>
              </a:rPr>
              <a:t>BUBBLESORT</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274320" y="6446520"/>
            <a:ext cx="4114800" cy="237744"/>
          </a:xfrm>
          <a:prstGeom prst="rect">
            <a:avLst/>
          </a:prstGeom>
          <a:noFill/>
        </p:spPr>
        <p:txBody>
          <a:bodyPr wrap="square" anchor="t" lIns="0" rIns="0" tIns="0" bIns="0">
            <a:spAutoFit/>
          </a:bodyPr>
          <a:lstStyle/>
          <a:p>
            <a:pPr algn="l">
              <a:lnSpc>
                <a:spcPct val="100000"/>
              </a:lnSpc>
            </a:pPr>
            <a:r>
              <a:rPr sz="1000" b="1" i="0">
                <a:solidFill>
                  <a:srgbClr val="FFFFFF"/>
                </a:solidFill>
                <a:latin typeface="Calibri"/>
              </a:rPr>
              <a:t>MEASURED, NOT PROMISED  ·  BUILT BESIDE PAIMANA</a:t>
            </a:r>
          </a:p>
        </p:txBody>
      </p:sp>
      <p:sp>
        <p:nvSpPr>
          <p:cNvPr id="17411" name="TextBox 17410"/>
          <p:cNvSpPr txBox="1"/>
          <p:nvPr/>
        </p:nvSpPr>
        <p:spPr>
          <a:xfrm>
            <a:off x="457200" y="1152144"/>
            <a:ext cx="11292840" cy="329184"/>
          </a:xfrm>
          <a:prstGeom prst="rect">
            <a:avLst/>
          </a:prstGeom>
          <a:noFill/>
        </p:spPr>
        <p:txBody>
          <a:bodyPr wrap="square" anchor="t" lIns="0" rIns="0" tIns="0" bIns="0">
            <a:spAutoFit/>
          </a:bodyPr>
          <a:lstStyle/>
          <a:p>
            <a:pPr algn="ctr">
              <a:lnSpc>
                <a:spcPct val="100000"/>
              </a:lnSpc>
            </a:pPr>
            <a:r>
              <a:rPr sz="1600" b="1" i="0">
                <a:solidFill>
                  <a:srgbClr val="0F2A44"/>
                </a:solidFill>
                <a:latin typeface="Calibri"/>
              </a:rPr>
              <a:t>Fits beside PAIMANA as it is</a:t>
            </a:r>
            <a:r>
              <a:rPr sz="1600" b="1" i="0">
                <a:solidFill>
                  <a:srgbClr val="1F5F73"/>
                </a:solidFill>
                <a:latin typeface="Calibri"/>
              </a:rPr>
              <a:t>  —  and the four limits we state up front</a:t>
            </a:r>
          </a:p>
        </p:txBody>
      </p:sp>
      <p:sp>
        <p:nvSpPr>
          <p:cNvPr id="17412" name="Rounded Rectangle 17411"/>
          <p:cNvSpPr/>
          <p:nvPr/>
        </p:nvSpPr>
        <p:spPr>
          <a:xfrm>
            <a:off x="274320" y="1572768"/>
            <a:ext cx="3383280" cy="1078992"/>
          </a:xfrm>
          <a:prstGeom prst="roundRect">
            <a:avLst>
              <a:gd name="adj" fmla="val 12711"/>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3" name="Oval 17412"/>
          <p:cNvSpPr/>
          <p:nvPr/>
        </p:nvSpPr>
        <p:spPr>
          <a:xfrm>
            <a:off x="402336" y="1700784"/>
            <a:ext cx="457200" cy="457200"/>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14" name="Picture 17413" descr="building-bank.png"/>
          <p:cNvPicPr>
            <a:picLocks noChangeAspect="1"/>
          </p:cNvPicPr>
          <p:nvPr/>
        </p:nvPicPr>
        <p:blipFill>
          <a:blip r:embed="rId4"/>
          <a:stretch>
            <a:fillRect/>
          </a:stretch>
        </p:blipFill>
        <p:spPr>
          <a:xfrm>
            <a:off x="502920" y="1801368"/>
            <a:ext cx="256032" cy="256032"/>
          </a:xfrm>
          <a:prstGeom prst="rect">
            <a:avLst/>
          </a:prstGeom>
        </p:spPr>
      </p:pic>
      <p:sp>
        <p:nvSpPr>
          <p:cNvPr id="17415" name="TextBox 17414"/>
          <p:cNvSpPr txBox="1"/>
          <p:nvPr/>
        </p:nvSpPr>
        <p:spPr>
          <a:xfrm>
            <a:off x="987552" y="1645920"/>
            <a:ext cx="2560320" cy="960120"/>
          </a:xfrm>
          <a:prstGeom prst="rect">
            <a:avLst/>
          </a:prstGeom>
          <a:noFill/>
        </p:spPr>
        <p:txBody>
          <a:bodyPr wrap="square" anchor="t" lIns="0" rIns="0" tIns="0" bIns="0">
            <a:spAutoFit/>
          </a:bodyPr>
          <a:lstStyle/>
          <a:p>
            <a:pPr algn="l">
              <a:lnSpc>
                <a:spcPct val="97000"/>
              </a:lnSpc>
            </a:pPr>
            <a:r>
              <a:rPr sz="1200" b="1" i="0">
                <a:solidFill>
                  <a:srgbClr val="0F2A44"/>
                </a:solidFill>
                <a:latin typeface="Calibri"/>
              </a:rPr>
              <a:t>PAIMANA today</a:t>
            </a:r>
          </a:p>
          <a:p>
            <a:pPr algn="l">
              <a:lnSpc>
                <a:spcPct val="97000"/>
              </a:lnSpc>
            </a:pPr>
            <a:r>
              <a:rPr sz="1100" b="0" i="0">
                <a:solidFill>
                  <a:srgbClr val="3C4A57"/>
                </a:solidFill>
                <a:latin typeface="Calibri"/>
              </a:rPr>
              <a:t>NIC Cloud · MS SQL · SSRS reports · monthly CUF uploads (64% arrive automatically via IPMP)</a:t>
            </a:r>
          </a:p>
        </p:txBody>
      </p:sp>
      <p:sp>
        <p:nvSpPr>
          <p:cNvPr id="17416" name="Rounded Rectangle 17415"/>
          <p:cNvSpPr/>
          <p:nvPr/>
        </p:nvSpPr>
        <p:spPr>
          <a:xfrm>
            <a:off x="4434840" y="1572768"/>
            <a:ext cx="3383280" cy="1078992"/>
          </a:xfrm>
          <a:prstGeom prst="roundRect">
            <a:avLst>
              <a:gd name="adj" fmla="val 12711"/>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7" name="Oval 17416"/>
          <p:cNvSpPr/>
          <p:nvPr/>
        </p:nvSpPr>
        <p:spPr>
          <a:xfrm>
            <a:off x="4562855" y="1700784"/>
            <a:ext cx="457200" cy="457200"/>
          </a:xfrm>
          <a:prstGeom prst="ellipse">
            <a:avLst/>
          </a:prstGeom>
          <a:solidFill>
            <a:srgbClr val="1F5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18" name="Picture 17417" descr="package.png"/>
          <p:cNvPicPr>
            <a:picLocks noChangeAspect="1"/>
          </p:cNvPicPr>
          <p:nvPr/>
        </p:nvPicPr>
        <p:blipFill>
          <a:blip r:embed="rId5"/>
          <a:stretch>
            <a:fillRect/>
          </a:stretch>
        </p:blipFill>
        <p:spPr>
          <a:xfrm>
            <a:off x="4663440" y="1801368"/>
            <a:ext cx="256032" cy="256032"/>
          </a:xfrm>
          <a:prstGeom prst="rect">
            <a:avLst/>
          </a:prstGeom>
        </p:spPr>
      </p:pic>
      <p:sp>
        <p:nvSpPr>
          <p:cNvPr id="17419" name="TextBox 17418"/>
          <p:cNvSpPr txBox="1"/>
          <p:nvPr/>
        </p:nvSpPr>
        <p:spPr>
          <a:xfrm>
            <a:off x="5148072" y="1645920"/>
            <a:ext cx="2560320" cy="960120"/>
          </a:xfrm>
          <a:prstGeom prst="rect">
            <a:avLst/>
          </a:prstGeom>
          <a:noFill/>
        </p:spPr>
        <p:txBody>
          <a:bodyPr wrap="square" anchor="t" lIns="0" rIns="0" tIns="0" bIns="0">
            <a:spAutoFit/>
          </a:bodyPr>
          <a:lstStyle/>
          <a:p>
            <a:pPr algn="l">
              <a:lnSpc>
                <a:spcPct val="97000"/>
              </a:lnSpc>
            </a:pPr>
            <a:r>
              <a:rPr sz="1200" b="1" i="0">
                <a:solidFill>
                  <a:srgbClr val="0F2A44"/>
                </a:solidFill>
                <a:latin typeface="Calibri"/>
              </a:rPr>
              <a:t>Our add-on</a:t>
            </a:r>
          </a:p>
          <a:p>
            <a:pPr algn="l">
              <a:lnSpc>
                <a:spcPct val="97000"/>
              </a:lnSpc>
            </a:pPr>
            <a:r>
              <a:rPr sz="1100" b="0" i="0">
                <a:solidFill>
                  <a:srgbClr val="3C4A57"/>
                </a:solidFill>
                <a:latin typeface="Calibri"/>
              </a:rPr>
              <a:t>one container + one database, beside PAIMANA · no licences · no external calls · roles for viewer / analyst / admin</a:t>
            </a:r>
          </a:p>
        </p:txBody>
      </p:sp>
      <p:sp>
        <p:nvSpPr>
          <p:cNvPr id="17420" name="Rounded Rectangle 17419"/>
          <p:cNvSpPr/>
          <p:nvPr/>
        </p:nvSpPr>
        <p:spPr>
          <a:xfrm>
            <a:off x="8595360" y="1572768"/>
            <a:ext cx="3337560" cy="1078992"/>
          </a:xfrm>
          <a:prstGeom prst="roundRect">
            <a:avLst>
              <a:gd name="adj" fmla="val 12711"/>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1" name="Oval 17420"/>
          <p:cNvSpPr/>
          <p:nvPr/>
        </p:nvSpPr>
        <p:spPr>
          <a:xfrm>
            <a:off x="8723376" y="1700784"/>
            <a:ext cx="457200" cy="45720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22" name="Picture 17421" descr="report.png"/>
          <p:cNvPicPr>
            <a:picLocks noChangeAspect="1"/>
          </p:cNvPicPr>
          <p:nvPr/>
        </p:nvPicPr>
        <p:blipFill>
          <a:blip r:embed="rId6"/>
          <a:stretch>
            <a:fillRect/>
          </a:stretch>
        </p:blipFill>
        <p:spPr>
          <a:xfrm>
            <a:off x="8823960" y="1801368"/>
            <a:ext cx="256032" cy="256032"/>
          </a:xfrm>
          <a:prstGeom prst="rect">
            <a:avLst/>
          </a:prstGeom>
        </p:spPr>
      </p:pic>
      <p:sp>
        <p:nvSpPr>
          <p:cNvPr id="17423" name="TextBox 17422"/>
          <p:cNvSpPr txBox="1"/>
          <p:nvPr/>
        </p:nvSpPr>
        <p:spPr>
          <a:xfrm>
            <a:off x="9308592" y="1645920"/>
            <a:ext cx="2514600" cy="960120"/>
          </a:xfrm>
          <a:prstGeom prst="rect">
            <a:avLst/>
          </a:prstGeom>
          <a:noFill/>
        </p:spPr>
        <p:txBody>
          <a:bodyPr wrap="square" anchor="t" lIns="0" rIns="0" tIns="0" bIns="0">
            <a:spAutoFit/>
          </a:bodyPr>
          <a:lstStyle/>
          <a:p>
            <a:pPr algn="l">
              <a:lnSpc>
                <a:spcPct val="97000"/>
              </a:lnSpc>
            </a:pPr>
            <a:r>
              <a:rPr sz="1200" b="1" i="0">
                <a:solidFill>
                  <a:srgbClr val="2E8B57"/>
                </a:solidFill>
                <a:latin typeface="Calibri"/>
              </a:rPr>
              <a:t>What the officer gets</a:t>
            </a:r>
          </a:p>
          <a:p>
            <a:pPr algn="l">
              <a:lnSpc>
                <a:spcPct val="97000"/>
              </a:lnSpc>
            </a:pPr>
            <a:r>
              <a:rPr sz="1100" b="0" i="0">
                <a:solidFill>
                  <a:srgbClr val="3C4A57"/>
                </a:solidFill>
                <a:latin typeface="Calibri"/>
              </a:rPr>
              <a:t>ranked queue · finish windows with reasons · English/Hindi brief — inside the monthly Project Monitoring Report</a:t>
            </a:r>
          </a:p>
        </p:txBody>
      </p:sp>
      <p:cxnSp>
        <p:nvCxnSpPr>
          <p:cNvPr id="17424" name="Connector 17423"/>
          <p:cNvCxnSpPr/>
          <p:nvPr/>
        </p:nvCxnSpPr>
        <p:spPr>
          <a:xfrm>
            <a:off x="3657600" y="2112264"/>
            <a:ext cx="777240" cy="0"/>
          </a:xfrm>
          <a:prstGeom prst="line">
            <a:avLst/>
          </a:prstGeom>
          <a:ln w="25400">
            <a:solidFill>
              <a:srgbClr val="0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25" name="TextBox 17424"/>
          <p:cNvSpPr txBox="1"/>
          <p:nvPr/>
        </p:nvSpPr>
        <p:spPr>
          <a:xfrm>
            <a:off x="3611880" y="1847088"/>
            <a:ext cx="868680" cy="201168"/>
          </a:xfrm>
          <a:prstGeom prst="rect">
            <a:avLst/>
          </a:prstGeom>
          <a:noFill/>
        </p:spPr>
        <p:txBody>
          <a:bodyPr wrap="square" anchor="t" lIns="0" rIns="0" tIns="0" bIns="0">
            <a:spAutoFit/>
          </a:bodyPr>
          <a:lstStyle/>
          <a:p>
            <a:pPr algn="ctr">
              <a:lnSpc>
                <a:spcPct val="100000"/>
              </a:lnSpc>
            </a:pPr>
            <a:r>
              <a:rPr sz="1000" b="0" i="0">
                <a:solidFill>
                  <a:srgbClr val="3C4A57"/>
                </a:solidFill>
                <a:latin typeface="Calibri"/>
              </a:rPr>
              <a:t>CUF export</a:t>
            </a:r>
          </a:p>
        </p:txBody>
      </p:sp>
      <p:cxnSp>
        <p:nvCxnSpPr>
          <p:cNvPr id="17426" name="Connector 17425"/>
          <p:cNvCxnSpPr/>
          <p:nvPr/>
        </p:nvCxnSpPr>
        <p:spPr>
          <a:xfrm>
            <a:off x="7818120" y="2112264"/>
            <a:ext cx="777240" cy="0"/>
          </a:xfrm>
          <a:prstGeom prst="line">
            <a:avLst/>
          </a:prstGeom>
          <a:ln w="25400">
            <a:solidFill>
              <a:srgbClr val="0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27" name="TextBox 17426"/>
          <p:cNvSpPr txBox="1"/>
          <p:nvPr/>
        </p:nvSpPr>
        <p:spPr>
          <a:xfrm>
            <a:off x="7772400" y="1847088"/>
            <a:ext cx="868680" cy="201168"/>
          </a:xfrm>
          <a:prstGeom prst="rect">
            <a:avLst/>
          </a:prstGeom>
          <a:noFill/>
        </p:spPr>
        <p:txBody>
          <a:bodyPr wrap="square" anchor="t" lIns="0" rIns="0" tIns="0" bIns="0">
            <a:spAutoFit/>
          </a:bodyPr>
          <a:lstStyle/>
          <a:p>
            <a:pPr algn="ctr">
              <a:lnSpc>
                <a:spcPct val="100000"/>
              </a:lnSpc>
            </a:pPr>
            <a:r>
              <a:rPr sz="1000" b="0" i="0">
                <a:solidFill>
                  <a:srgbClr val="3C4A57"/>
                </a:solidFill>
                <a:latin typeface="Calibri"/>
              </a:rPr>
              <a:t>SSRS tables</a:t>
            </a:r>
          </a:p>
        </p:txBody>
      </p:sp>
      <p:sp>
        <p:nvSpPr>
          <p:cNvPr id="17428" name="Rounded Rectangle 17427"/>
          <p:cNvSpPr/>
          <p:nvPr/>
        </p:nvSpPr>
        <p:spPr>
          <a:xfrm>
            <a:off x="274320" y="2743200"/>
            <a:ext cx="5669280" cy="658368"/>
          </a:xfrm>
          <a:prstGeom prst="roundRect">
            <a:avLst>
              <a:gd name="adj" fmla="val 20833"/>
            </a:avLst>
          </a:prstGeom>
          <a:solidFill>
            <a:srgbClr val="FFFFFF"/>
          </a:solidFill>
          <a:ln w="9525">
            <a:solidFill>
              <a:srgbClr val="D6DD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9" name="Oval 17428"/>
          <p:cNvSpPr/>
          <p:nvPr/>
        </p:nvSpPr>
        <p:spPr>
          <a:xfrm>
            <a:off x="384048" y="2862072"/>
            <a:ext cx="402336" cy="402336"/>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30" name="Picture 17429" descr="message-2.png"/>
          <p:cNvPicPr>
            <a:picLocks noChangeAspect="1"/>
          </p:cNvPicPr>
          <p:nvPr/>
        </p:nvPicPr>
        <p:blipFill>
          <a:blip r:embed="rId7"/>
          <a:stretch>
            <a:fillRect/>
          </a:stretch>
        </p:blipFill>
        <p:spPr>
          <a:xfrm>
            <a:off x="472561" y="2950585"/>
            <a:ext cx="225308" cy="225308"/>
          </a:xfrm>
          <a:prstGeom prst="rect">
            <a:avLst/>
          </a:prstGeom>
        </p:spPr>
      </p:pic>
      <p:sp>
        <p:nvSpPr>
          <p:cNvPr id="17431" name="TextBox 17430"/>
          <p:cNvSpPr txBox="1"/>
          <p:nvPr/>
        </p:nvSpPr>
        <p:spPr>
          <a:xfrm>
            <a:off x="896112" y="2798064"/>
            <a:ext cx="4983480" cy="566928"/>
          </a:xfrm>
          <a:prstGeom prst="rect">
            <a:avLst/>
          </a:prstGeom>
          <a:noFill/>
        </p:spPr>
        <p:txBody>
          <a:bodyPr wrap="square" anchor="t" lIns="0" rIns="0" tIns="0" bIns="0">
            <a:spAutoFit/>
          </a:bodyPr>
          <a:lstStyle/>
          <a:p>
            <a:pPr algn="l">
              <a:lnSpc>
                <a:spcPct val="97000"/>
              </a:lnSpc>
            </a:pPr>
            <a:r>
              <a:rPr sz="1000" b="1" i="0">
                <a:solidFill>
                  <a:srgbClr val="16202A"/>
                </a:solidFill>
                <a:latin typeface="Calibri"/>
              </a:rPr>
              <a:t>NIC on PAIMANA's next step (Oct 2025): </a:t>
            </a:r>
            <a:r>
              <a:rPr sz="1000" b="0" i="1">
                <a:solidFill>
                  <a:srgbClr val="3C4A57"/>
                </a:solidFill>
                <a:latin typeface="Calibri"/>
              </a:rPr>
              <a:t>“AI-driven forecasting… to predict time and cost overruns, resource needs, and potential risks.”</a:t>
            </a:r>
          </a:p>
        </p:txBody>
      </p:sp>
      <p:sp>
        <p:nvSpPr>
          <p:cNvPr id="17432" name="Rounded Rectangle 17431"/>
          <p:cNvSpPr/>
          <p:nvPr/>
        </p:nvSpPr>
        <p:spPr>
          <a:xfrm>
            <a:off x="6080760" y="2743200"/>
            <a:ext cx="5852160" cy="658368"/>
          </a:xfrm>
          <a:prstGeom prst="roundRect">
            <a:avLst>
              <a:gd name="adj" fmla="val 16666"/>
            </a:avLst>
          </a:prstGeom>
          <a:solidFill>
            <a:srgbClr val="FFFFFF"/>
          </a:solidFill>
          <a:ln w="9525">
            <a:solidFill>
              <a:srgbClr val="8A97A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3" name="Oval 17432"/>
          <p:cNvSpPr/>
          <p:nvPr/>
        </p:nvSpPr>
        <p:spPr>
          <a:xfrm>
            <a:off x="6190488" y="2862072"/>
            <a:ext cx="402336" cy="402336"/>
          </a:xfrm>
          <a:prstGeom prst="ellipse">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34" name="Picture 17433" descr="key.png"/>
          <p:cNvPicPr>
            <a:picLocks noChangeAspect="1"/>
          </p:cNvPicPr>
          <p:nvPr/>
        </p:nvPicPr>
        <p:blipFill>
          <a:blip r:embed="rId8"/>
          <a:stretch>
            <a:fillRect/>
          </a:stretch>
        </p:blipFill>
        <p:spPr>
          <a:xfrm>
            <a:off x="6279001" y="2950585"/>
            <a:ext cx="225308" cy="225308"/>
          </a:xfrm>
          <a:prstGeom prst="rect">
            <a:avLst/>
          </a:prstGeom>
        </p:spPr>
      </p:pic>
      <p:sp>
        <p:nvSpPr>
          <p:cNvPr id="17435" name="TextBox 17434"/>
          <p:cNvSpPr txBox="1"/>
          <p:nvPr/>
        </p:nvSpPr>
        <p:spPr>
          <a:xfrm>
            <a:off x="6702552" y="2798064"/>
            <a:ext cx="5166360" cy="566928"/>
          </a:xfrm>
          <a:prstGeom prst="rect">
            <a:avLst/>
          </a:prstGeom>
          <a:noFill/>
        </p:spPr>
        <p:txBody>
          <a:bodyPr wrap="square" anchor="t" lIns="0" rIns="0" tIns="0" bIns="0">
            <a:spAutoFit/>
          </a:bodyPr>
          <a:lstStyle/>
          <a:p>
            <a:pPr algn="l">
              <a:lnSpc>
                <a:spcPct val="97000"/>
              </a:lnSpc>
            </a:pPr>
            <a:r>
              <a:rPr sz="1000" b="1" i="0">
                <a:solidFill>
                  <a:srgbClr val="16202A"/>
                </a:solidFill>
                <a:latin typeface="Calibri"/>
              </a:rPr>
              <a:t>What we need from MoSPI: </a:t>
            </a:r>
            <a:r>
              <a:rPr sz="1000" b="0" i="0">
                <a:solidFill>
                  <a:srgbClr val="3C4A57"/>
                </a:solidFill>
                <a:latin typeface="Calibri"/>
              </a:rPr>
              <a:t>actual completion dates from OCMS · the monthly archive · the fields the literature names — land status, clearance dates, milestones (untested by us)</a:t>
            </a:r>
          </a:p>
        </p:txBody>
      </p:sp>
      <p:sp>
        <p:nvSpPr>
          <p:cNvPr id="17436" name="Rounded Rectangle 17435"/>
          <p:cNvSpPr/>
          <p:nvPr/>
        </p:nvSpPr>
        <p:spPr>
          <a:xfrm>
            <a:off x="274320" y="3547872"/>
            <a:ext cx="5120640" cy="310896"/>
          </a:xfrm>
          <a:prstGeom prst="roundRect">
            <a:avLst>
              <a:gd name="adj" fmla="val 50000"/>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7" name="TextBox 17436"/>
          <p:cNvSpPr txBox="1"/>
          <p:nvPr/>
        </p:nvSpPr>
        <p:spPr>
          <a:xfrm>
            <a:off x="420623" y="3593591"/>
            <a:ext cx="4828031" cy="219456"/>
          </a:xfrm>
          <a:prstGeom prst="rect">
            <a:avLst/>
          </a:prstGeom>
          <a:noFill/>
        </p:spPr>
        <p:txBody>
          <a:bodyPr wrap="square" anchor="t" lIns="0" rIns="0" tIns="0" bIns="0">
            <a:spAutoFit/>
          </a:bodyPr>
          <a:lstStyle/>
          <a:p>
            <a:pPr algn="l">
              <a:lnSpc>
                <a:spcPct val="100000"/>
              </a:lnSpc>
            </a:pPr>
            <a:r>
              <a:rPr sz="1100" b="1" i="0">
                <a:solidFill>
                  <a:srgbClr val="FFFFFF"/>
                </a:solidFill>
                <a:latin typeface="Calibri"/>
              </a:rPr>
              <a:t>Analysis of the feasibility of the idea</a:t>
            </a:r>
          </a:p>
        </p:txBody>
      </p:sp>
      <p:sp>
        <p:nvSpPr>
          <p:cNvPr id="17438" name="Oval 17437"/>
          <p:cNvSpPr/>
          <p:nvPr/>
        </p:nvSpPr>
        <p:spPr>
          <a:xfrm>
            <a:off x="274320" y="3968496"/>
            <a:ext cx="365760" cy="365760"/>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39" name="Picture 17438" descr="tools.png"/>
          <p:cNvPicPr>
            <a:picLocks noChangeAspect="1"/>
          </p:cNvPicPr>
          <p:nvPr/>
        </p:nvPicPr>
        <p:blipFill>
          <a:blip r:embed="rId9"/>
          <a:stretch>
            <a:fillRect/>
          </a:stretch>
        </p:blipFill>
        <p:spPr>
          <a:xfrm>
            <a:off x="354787" y="4048963"/>
            <a:ext cx="204825" cy="204825"/>
          </a:xfrm>
          <a:prstGeom prst="rect">
            <a:avLst/>
          </a:prstGeom>
        </p:spPr>
      </p:pic>
      <p:sp>
        <p:nvSpPr>
          <p:cNvPr id="17440" name="TextBox 17439"/>
          <p:cNvSpPr txBox="1"/>
          <p:nvPr/>
        </p:nvSpPr>
        <p:spPr>
          <a:xfrm>
            <a:off x="768096" y="3959352"/>
            <a:ext cx="4626864" cy="512064"/>
          </a:xfrm>
          <a:prstGeom prst="rect">
            <a:avLst/>
          </a:prstGeom>
          <a:noFill/>
        </p:spPr>
        <p:txBody>
          <a:bodyPr wrap="square" anchor="t" lIns="0" rIns="0" tIns="0" bIns="0">
            <a:spAutoFit/>
          </a:bodyPr>
          <a:lstStyle/>
          <a:p>
            <a:pPr algn="l">
              <a:lnSpc>
                <a:spcPct val="98000"/>
              </a:lnSpc>
            </a:pPr>
            <a:r>
              <a:rPr sz="1100" b="1" i="0">
                <a:solidFill>
                  <a:srgbClr val="16202A"/>
                </a:solidFill>
                <a:latin typeface="Calibri"/>
              </a:rPr>
              <a:t>Built — </a:t>
            </a:r>
            <a:r>
              <a:rPr sz="1100" b="0" i="0">
                <a:solidFill>
                  <a:srgbClr val="3C4A57"/>
                </a:solidFill>
                <a:latin typeface="Calibri"/>
              </a:rPr>
              <a:t>working prototype: 20 screens · ~93 API endpoints · 152 automated checks · Docker image</a:t>
            </a:r>
          </a:p>
        </p:txBody>
      </p:sp>
      <p:sp>
        <p:nvSpPr>
          <p:cNvPr id="17441" name="Oval 17440"/>
          <p:cNvSpPr/>
          <p:nvPr/>
        </p:nvSpPr>
        <p:spPr>
          <a:xfrm>
            <a:off x="274320" y="4480560"/>
            <a:ext cx="365760" cy="365760"/>
          </a:xfrm>
          <a:prstGeom prst="ellipse">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42" name="Picture 17441" descr="hourglass-high.png"/>
          <p:cNvPicPr>
            <a:picLocks noChangeAspect="1"/>
          </p:cNvPicPr>
          <p:nvPr/>
        </p:nvPicPr>
        <p:blipFill>
          <a:blip r:embed="rId10"/>
          <a:stretch>
            <a:fillRect/>
          </a:stretch>
        </p:blipFill>
        <p:spPr>
          <a:xfrm>
            <a:off x="354787" y="4561027"/>
            <a:ext cx="204825" cy="204825"/>
          </a:xfrm>
          <a:prstGeom prst="rect">
            <a:avLst/>
          </a:prstGeom>
        </p:spPr>
      </p:pic>
      <p:sp>
        <p:nvSpPr>
          <p:cNvPr id="17443" name="TextBox 17442"/>
          <p:cNvSpPr txBox="1"/>
          <p:nvPr/>
        </p:nvSpPr>
        <p:spPr>
          <a:xfrm>
            <a:off x="768096" y="4471416"/>
            <a:ext cx="4626864" cy="512064"/>
          </a:xfrm>
          <a:prstGeom prst="rect">
            <a:avLst/>
          </a:prstGeom>
          <a:noFill/>
        </p:spPr>
        <p:txBody>
          <a:bodyPr wrap="square" anchor="t" lIns="0" rIns="0" tIns="0" bIns="0">
            <a:spAutoFit/>
          </a:bodyPr>
          <a:lstStyle/>
          <a:p>
            <a:pPr algn="l">
              <a:lnSpc>
                <a:spcPct val="98000"/>
              </a:lnSpc>
            </a:pPr>
            <a:r>
              <a:rPr sz="1100" b="1" i="0">
                <a:solidFill>
                  <a:srgbClr val="16202A"/>
                </a:solidFill>
                <a:latin typeface="Calibri"/>
              </a:rPr>
              <a:t>Remaining — </a:t>
            </a:r>
            <a:r>
              <a:rPr sz="1100" b="0" i="0">
                <a:solidFill>
                  <a:srgbClr val="3C4A57"/>
                </a:solidFill>
                <a:latin typeface="Calibri"/>
              </a:rPr>
              <a:t>monthly data feed from the Flash Report archive · back-test of the queue · recalibration on real completion dates · NIC sign-on · Hindi review</a:t>
            </a:r>
          </a:p>
        </p:txBody>
      </p:sp>
      <p:sp>
        <p:nvSpPr>
          <p:cNvPr id="17444" name="Oval 17443"/>
          <p:cNvSpPr/>
          <p:nvPr/>
        </p:nvSpPr>
        <p:spPr>
          <a:xfrm>
            <a:off x="274320" y="4992624"/>
            <a:ext cx="365760" cy="365760"/>
          </a:xfrm>
          <a:prstGeom prst="ellipse">
            <a:avLst/>
          </a:prstGeom>
          <a:solidFill>
            <a:srgbClr val="1F5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45" name="Picture 17444" descr="flask.png"/>
          <p:cNvPicPr>
            <a:picLocks noChangeAspect="1"/>
          </p:cNvPicPr>
          <p:nvPr/>
        </p:nvPicPr>
        <p:blipFill>
          <a:blip r:embed="rId11"/>
          <a:stretch>
            <a:fillRect/>
          </a:stretch>
        </p:blipFill>
        <p:spPr>
          <a:xfrm>
            <a:off x="354787" y="5073091"/>
            <a:ext cx="204825" cy="204825"/>
          </a:xfrm>
          <a:prstGeom prst="rect">
            <a:avLst/>
          </a:prstGeom>
        </p:spPr>
      </p:pic>
      <p:sp>
        <p:nvSpPr>
          <p:cNvPr id="17446" name="TextBox 17445"/>
          <p:cNvSpPr txBox="1"/>
          <p:nvPr/>
        </p:nvSpPr>
        <p:spPr>
          <a:xfrm>
            <a:off x="768096" y="4983480"/>
            <a:ext cx="4626864" cy="512064"/>
          </a:xfrm>
          <a:prstGeom prst="rect">
            <a:avLst/>
          </a:prstGeom>
          <a:noFill/>
        </p:spPr>
        <p:txBody>
          <a:bodyPr wrap="square" anchor="t" lIns="0" rIns="0" tIns="0" bIns="0">
            <a:spAutoFit/>
          </a:bodyPr>
          <a:lstStyle/>
          <a:p>
            <a:pPr algn="l">
              <a:lnSpc>
                <a:spcPct val="98000"/>
              </a:lnSpc>
            </a:pPr>
            <a:r>
              <a:rPr sz="1100" b="1" i="0">
                <a:solidFill>
                  <a:srgbClr val="16202A"/>
                </a:solidFill>
                <a:latin typeface="Calibri"/>
              </a:rPr>
              <a:t>Smallest pilot — </a:t>
            </a:r>
            <a:r>
              <a:rPr sz="1100" b="0" i="0">
                <a:solidFill>
                  <a:srgbClr val="3C4A57"/>
                </a:solidFill>
                <a:latin typeface="Calibri"/>
              </a:rPr>
              <a:t>one ministry's projects, one quarter · used by IPMD monitoring officers · owner: IPMD</a:t>
            </a:r>
          </a:p>
        </p:txBody>
      </p:sp>
      <p:sp>
        <p:nvSpPr>
          <p:cNvPr id="17447" name="Oval 17446"/>
          <p:cNvSpPr/>
          <p:nvPr/>
        </p:nvSpPr>
        <p:spPr>
          <a:xfrm>
            <a:off x="274320" y="5504688"/>
            <a:ext cx="365760" cy="365760"/>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48" name="Picture 17447" descr="server.png"/>
          <p:cNvPicPr>
            <a:picLocks noChangeAspect="1"/>
          </p:cNvPicPr>
          <p:nvPr/>
        </p:nvPicPr>
        <p:blipFill>
          <a:blip r:embed="rId12"/>
          <a:stretch>
            <a:fillRect/>
          </a:stretch>
        </p:blipFill>
        <p:spPr>
          <a:xfrm>
            <a:off x="354787" y="5585155"/>
            <a:ext cx="204825" cy="204825"/>
          </a:xfrm>
          <a:prstGeom prst="rect">
            <a:avLst/>
          </a:prstGeom>
        </p:spPr>
      </p:pic>
      <p:sp>
        <p:nvSpPr>
          <p:cNvPr id="17449" name="TextBox 17448"/>
          <p:cNvSpPr txBox="1"/>
          <p:nvPr/>
        </p:nvSpPr>
        <p:spPr>
          <a:xfrm>
            <a:off x="768096" y="5495544"/>
            <a:ext cx="4626864" cy="512064"/>
          </a:xfrm>
          <a:prstGeom prst="rect">
            <a:avLst/>
          </a:prstGeom>
          <a:noFill/>
        </p:spPr>
        <p:txBody>
          <a:bodyPr wrap="square" anchor="t" lIns="0" rIns="0" tIns="0" bIns="0">
            <a:spAutoFit/>
          </a:bodyPr>
          <a:lstStyle/>
          <a:p>
            <a:pPr algn="l">
              <a:lnSpc>
                <a:spcPct val="98000"/>
              </a:lnSpc>
            </a:pPr>
            <a:r>
              <a:rPr sz="1100" b="1" i="0">
                <a:solidFill>
                  <a:srgbClr val="16202A"/>
                </a:solidFill>
                <a:latin typeface="Calibri"/>
              </a:rPr>
              <a:t>Runs on — </a:t>
            </a:r>
            <a:r>
              <a:rPr sz="1100" b="0" i="0">
                <a:solidFill>
                  <a:srgbClr val="3C4A57"/>
                </a:solidFill>
                <a:latin typeface="Calibri"/>
              </a:rPr>
              <a:t>one NIC Cloud VM · open-source · outputs as plain tables · roles enforced server-side</a:t>
            </a:r>
          </a:p>
        </p:txBody>
      </p:sp>
      <p:sp>
        <p:nvSpPr>
          <p:cNvPr id="17450" name="Rounded Rectangle 17449"/>
          <p:cNvSpPr/>
          <p:nvPr/>
        </p:nvSpPr>
        <p:spPr>
          <a:xfrm>
            <a:off x="5577840" y="3547872"/>
            <a:ext cx="3063240" cy="310896"/>
          </a:xfrm>
          <a:prstGeom prst="roundRect">
            <a:avLst>
              <a:gd name="adj" fmla="val 5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51" name="TextBox 17450"/>
          <p:cNvSpPr txBox="1"/>
          <p:nvPr/>
        </p:nvSpPr>
        <p:spPr>
          <a:xfrm>
            <a:off x="5724144" y="3593591"/>
            <a:ext cx="2770632" cy="219456"/>
          </a:xfrm>
          <a:prstGeom prst="rect">
            <a:avLst/>
          </a:prstGeom>
          <a:noFill/>
        </p:spPr>
        <p:txBody>
          <a:bodyPr wrap="square" anchor="t" lIns="0" rIns="0" tIns="0" bIns="0">
            <a:spAutoFit/>
          </a:bodyPr>
          <a:lstStyle/>
          <a:p>
            <a:pPr algn="l">
              <a:lnSpc>
                <a:spcPct val="100000"/>
              </a:lnSpc>
            </a:pPr>
            <a:r>
              <a:rPr sz="1100" b="1" i="0">
                <a:solidFill>
                  <a:srgbClr val="FFFFFF"/>
                </a:solidFill>
                <a:latin typeface="Calibri"/>
              </a:rPr>
              <a:t>Potential challenges and risks</a:t>
            </a:r>
          </a:p>
        </p:txBody>
      </p:sp>
      <p:sp>
        <p:nvSpPr>
          <p:cNvPr id="17452" name="Rounded Rectangle 17451"/>
          <p:cNvSpPr/>
          <p:nvPr/>
        </p:nvSpPr>
        <p:spPr>
          <a:xfrm>
            <a:off x="8887968" y="3547872"/>
            <a:ext cx="3044952" cy="310896"/>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53" name="TextBox 17452"/>
          <p:cNvSpPr txBox="1"/>
          <p:nvPr/>
        </p:nvSpPr>
        <p:spPr>
          <a:xfrm>
            <a:off x="9034272" y="3593591"/>
            <a:ext cx="2752344" cy="219456"/>
          </a:xfrm>
          <a:prstGeom prst="rect">
            <a:avLst/>
          </a:prstGeom>
          <a:noFill/>
        </p:spPr>
        <p:txBody>
          <a:bodyPr wrap="square" anchor="t" lIns="0" rIns="0" tIns="0" bIns="0">
            <a:spAutoFit/>
          </a:bodyPr>
          <a:lstStyle/>
          <a:p>
            <a:pPr algn="l">
              <a:lnSpc>
                <a:spcPct val="100000"/>
              </a:lnSpc>
            </a:pPr>
            <a:r>
              <a:rPr sz="1100" b="1" i="0">
                <a:solidFill>
                  <a:srgbClr val="FFFFFF"/>
                </a:solidFill>
                <a:latin typeface="Calibri"/>
              </a:rPr>
              <a:t>Strategies for overcoming these challenges</a:t>
            </a:r>
          </a:p>
        </p:txBody>
      </p:sp>
      <p:sp>
        <p:nvSpPr>
          <p:cNvPr id="17454" name="Rounded Rectangle 17453"/>
          <p:cNvSpPr/>
          <p:nvPr/>
        </p:nvSpPr>
        <p:spPr>
          <a:xfrm>
            <a:off x="5577840" y="3950208"/>
            <a:ext cx="3063240" cy="502920"/>
          </a:xfrm>
          <a:prstGeom prst="roundRect">
            <a:avLst>
              <a:gd name="adj" fmla="val 18181"/>
            </a:avLst>
          </a:prstGeom>
          <a:solidFill>
            <a:srgbClr val="FD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55" name="Oval 17454"/>
          <p:cNvSpPr/>
          <p:nvPr/>
        </p:nvSpPr>
        <p:spPr>
          <a:xfrm>
            <a:off x="5650992" y="4069080"/>
            <a:ext cx="256032" cy="25603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56" name="TextBox 17455"/>
          <p:cNvSpPr txBox="1"/>
          <p:nvPr/>
        </p:nvSpPr>
        <p:spPr>
          <a:xfrm>
            <a:off x="5650992" y="4096512"/>
            <a:ext cx="256032" cy="219456"/>
          </a:xfrm>
          <a:prstGeom prst="rect">
            <a:avLst/>
          </a:prstGeom>
          <a:noFill/>
        </p:spPr>
        <p:txBody>
          <a:bodyPr wrap="square" anchor="t" lIns="0" rIns="0" tIns="0" bIns="0">
            <a:spAutoFit/>
          </a:bodyPr>
          <a:lstStyle/>
          <a:p>
            <a:pPr algn="ctr">
              <a:lnSpc>
                <a:spcPct val="100000"/>
              </a:lnSpc>
            </a:pPr>
            <a:r>
              <a:rPr sz="1000" b="1" i="0">
                <a:solidFill>
                  <a:srgbClr val="FFFFFF"/>
                </a:solidFill>
                <a:latin typeface="Calibri"/>
              </a:rPr>
              <a:t>1</a:t>
            </a:r>
          </a:p>
        </p:txBody>
      </p:sp>
      <p:sp>
        <p:nvSpPr>
          <p:cNvPr id="17457" name="TextBox 17456"/>
          <p:cNvSpPr txBox="1"/>
          <p:nvPr/>
        </p:nvSpPr>
        <p:spPr>
          <a:xfrm>
            <a:off x="5961888" y="3986784"/>
            <a:ext cx="2633472" cy="457200"/>
          </a:xfrm>
          <a:prstGeom prst="rect">
            <a:avLst/>
          </a:prstGeom>
          <a:noFill/>
        </p:spPr>
        <p:txBody>
          <a:bodyPr wrap="square" anchor="t" lIns="0" rIns="0" tIns="0" bIns="0">
            <a:spAutoFit/>
          </a:bodyPr>
          <a:lstStyle/>
          <a:p>
            <a:pPr algn="l">
              <a:lnSpc>
                <a:spcPct val="94000"/>
              </a:lnSpc>
            </a:pPr>
            <a:r>
              <a:rPr sz="1000" b="0" i="0">
                <a:solidFill>
                  <a:srgbClr val="16202A"/>
                </a:solidFill>
                <a:latin typeface="Calibri"/>
              </a:rPr>
              <a:t>Only one snapshot of data, no month-by-month history yet — so the windows are wide (about 8 years on average)</a:t>
            </a:r>
          </a:p>
        </p:txBody>
      </p:sp>
      <p:cxnSp>
        <p:nvCxnSpPr>
          <p:cNvPr id="17458" name="Connector 17457"/>
          <p:cNvCxnSpPr/>
          <p:nvPr/>
        </p:nvCxnSpPr>
        <p:spPr>
          <a:xfrm>
            <a:off x="8659368" y="4197096"/>
            <a:ext cx="192024" cy="0"/>
          </a:xfrm>
          <a:prstGeom prst="line">
            <a:avLst/>
          </a:prstGeom>
          <a:ln w="19050">
            <a:solidFill>
              <a:srgbClr val="2E8B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59" name="Rounded Rectangle 17458"/>
          <p:cNvSpPr/>
          <p:nvPr/>
        </p:nvSpPr>
        <p:spPr>
          <a:xfrm>
            <a:off x="8887968" y="3950208"/>
            <a:ext cx="3044952" cy="502920"/>
          </a:xfrm>
          <a:prstGeom prst="roundRect">
            <a:avLst>
              <a:gd name="adj" fmla="val 18181"/>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60" name="TextBox 17459"/>
          <p:cNvSpPr txBox="1"/>
          <p:nvPr/>
        </p:nvSpPr>
        <p:spPr>
          <a:xfrm>
            <a:off x="8961120" y="3986784"/>
            <a:ext cx="2926080" cy="457200"/>
          </a:xfrm>
          <a:prstGeom prst="rect">
            <a:avLst/>
          </a:prstGeom>
          <a:noFill/>
        </p:spPr>
        <p:txBody>
          <a:bodyPr wrap="square" anchor="t" lIns="0" rIns="0" tIns="0" bIns="0">
            <a:spAutoFit/>
          </a:bodyPr>
          <a:lstStyle/>
          <a:p>
            <a:pPr algn="l">
              <a:lnSpc>
                <a:spcPct val="94000"/>
              </a:lnSpc>
            </a:pPr>
            <a:r>
              <a:rPr sz="1000" b="0" i="0">
                <a:solidFill>
                  <a:srgbClr val="16202A"/>
                </a:solidFill>
                <a:latin typeface="Calibri"/>
              </a:rPr>
              <a:t>read the Monthly Flash Report archive; add month-to-month change; same checks</a:t>
            </a:r>
          </a:p>
        </p:txBody>
      </p:sp>
      <p:sp>
        <p:nvSpPr>
          <p:cNvPr id="17461" name="Rounded Rectangle 17460"/>
          <p:cNvSpPr/>
          <p:nvPr/>
        </p:nvSpPr>
        <p:spPr>
          <a:xfrm>
            <a:off x="5577840" y="4498848"/>
            <a:ext cx="3063240" cy="502920"/>
          </a:xfrm>
          <a:prstGeom prst="roundRect">
            <a:avLst>
              <a:gd name="adj" fmla="val 18181"/>
            </a:avLst>
          </a:prstGeom>
          <a:solidFill>
            <a:srgbClr val="FD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62" name="Oval 17461"/>
          <p:cNvSpPr/>
          <p:nvPr/>
        </p:nvSpPr>
        <p:spPr>
          <a:xfrm>
            <a:off x="5650992" y="4617720"/>
            <a:ext cx="256032" cy="25603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63" name="TextBox 17462"/>
          <p:cNvSpPr txBox="1"/>
          <p:nvPr/>
        </p:nvSpPr>
        <p:spPr>
          <a:xfrm>
            <a:off x="5650992" y="4645152"/>
            <a:ext cx="256032" cy="219456"/>
          </a:xfrm>
          <a:prstGeom prst="rect">
            <a:avLst/>
          </a:prstGeom>
          <a:noFill/>
        </p:spPr>
        <p:txBody>
          <a:bodyPr wrap="square" anchor="t" lIns="0" rIns="0" tIns="0" bIns="0">
            <a:spAutoFit/>
          </a:bodyPr>
          <a:lstStyle/>
          <a:p>
            <a:pPr algn="ctr">
              <a:lnSpc>
                <a:spcPct val="100000"/>
              </a:lnSpc>
            </a:pPr>
            <a:r>
              <a:rPr sz="1000" b="1" i="0">
                <a:solidFill>
                  <a:srgbClr val="FFFFFF"/>
                </a:solidFill>
                <a:latin typeface="Calibri"/>
              </a:rPr>
              <a:t>2</a:t>
            </a:r>
          </a:p>
        </p:txBody>
      </p:sp>
      <p:sp>
        <p:nvSpPr>
          <p:cNvPr id="17464" name="TextBox 17463"/>
          <p:cNvSpPr txBox="1"/>
          <p:nvPr/>
        </p:nvSpPr>
        <p:spPr>
          <a:xfrm>
            <a:off x="5961888" y="4535424"/>
            <a:ext cx="2633472" cy="457200"/>
          </a:xfrm>
          <a:prstGeom prst="rect">
            <a:avLst/>
          </a:prstGeom>
          <a:noFill/>
        </p:spPr>
        <p:txBody>
          <a:bodyPr wrap="square" anchor="t" lIns="0" rIns="0" tIns="0" bIns="0">
            <a:spAutoFit/>
          </a:bodyPr>
          <a:lstStyle/>
          <a:p>
            <a:pPr algn="l">
              <a:lnSpc>
                <a:spcPct val="94000"/>
              </a:lnSpc>
            </a:pPr>
            <a:r>
              <a:rPr sz="1000" b="0" i="0">
                <a:solidFill>
                  <a:srgbClr val="16202A"/>
                </a:solidFill>
                <a:latin typeface="Calibri"/>
              </a:rPr>
              <a:t>The queue's weights are set by policy, not yet tested against what happened next</a:t>
            </a:r>
          </a:p>
        </p:txBody>
      </p:sp>
      <p:cxnSp>
        <p:nvCxnSpPr>
          <p:cNvPr id="17465" name="Connector 17464"/>
          <p:cNvCxnSpPr/>
          <p:nvPr/>
        </p:nvCxnSpPr>
        <p:spPr>
          <a:xfrm>
            <a:off x="8659368" y="4745736"/>
            <a:ext cx="192024" cy="0"/>
          </a:xfrm>
          <a:prstGeom prst="line">
            <a:avLst/>
          </a:prstGeom>
          <a:ln w="19050">
            <a:solidFill>
              <a:srgbClr val="2E8B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66" name="Rounded Rectangle 17465"/>
          <p:cNvSpPr/>
          <p:nvPr/>
        </p:nvSpPr>
        <p:spPr>
          <a:xfrm>
            <a:off x="8887968" y="4498848"/>
            <a:ext cx="3044952" cy="502920"/>
          </a:xfrm>
          <a:prstGeom prst="roundRect">
            <a:avLst>
              <a:gd name="adj" fmla="val 18181"/>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67" name="TextBox 17466"/>
          <p:cNvSpPr txBox="1"/>
          <p:nvPr/>
        </p:nvSpPr>
        <p:spPr>
          <a:xfrm>
            <a:off x="8961120" y="4535424"/>
            <a:ext cx="2926080" cy="457200"/>
          </a:xfrm>
          <a:prstGeom prst="rect">
            <a:avLst/>
          </a:prstGeom>
          <a:noFill/>
        </p:spPr>
        <p:txBody>
          <a:bodyPr wrap="square" anchor="t" lIns="0" rIns="0" tIns="0" bIns="0">
            <a:spAutoFit/>
          </a:bodyPr>
          <a:lstStyle/>
          <a:p>
            <a:pPr algn="l">
              <a:lnSpc>
                <a:spcPct val="94000"/>
              </a:lnSpc>
            </a:pPr>
            <a:r>
              <a:rPr sz="1000" b="0" i="0">
                <a:solidFill>
                  <a:srgbClr val="16202A"/>
                </a:solidFill>
                <a:latin typeface="Calibri"/>
              </a:rPr>
              <a:t>back-test now; Ministry sets the weights on its own screen</a:t>
            </a:r>
          </a:p>
        </p:txBody>
      </p:sp>
      <p:sp>
        <p:nvSpPr>
          <p:cNvPr id="17468" name="Rounded Rectangle 17467"/>
          <p:cNvSpPr/>
          <p:nvPr/>
        </p:nvSpPr>
        <p:spPr>
          <a:xfrm>
            <a:off x="5577840" y="5047488"/>
            <a:ext cx="3063240" cy="502920"/>
          </a:xfrm>
          <a:prstGeom prst="roundRect">
            <a:avLst>
              <a:gd name="adj" fmla="val 18181"/>
            </a:avLst>
          </a:prstGeom>
          <a:solidFill>
            <a:srgbClr val="FD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69" name="Oval 17468"/>
          <p:cNvSpPr/>
          <p:nvPr/>
        </p:nvSpPr>
        <p:spPr>
          <a:xfrm>
            <a:off x="5650992" y="5166359"/>
            <a:ext cx="256032" cy="25603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70" name="TextBox 17469"/>
          <p:cNvSpPr txBox="1"/>
          <p:nvPr/>
        </p:nvSpPr>
        <p:spPr>
          <a:xfrm>
            <a:off x="5650992" y="5193792"/>
            <a:ext cx="256032" cy="219456"/>
          </a:xfrm>
          <a:prstGeom prst="rect">
            <a:avLst/>
          </a:prstGeom>
          <a:noFill/>
        </p:spPr>
        <p:txBody>
          <a:bodyPr wrap="square" anchor="t" lIns="0" rIns="0" tIns="0" bIns="0">
            <a:spAutoFit/>
          </a:bodyPr>
          <a:lstStyle/>
          <a:p>
            <a:pPr algn="ctr">
              <a:lnSpc>
                <a:spcPct val="100000"/>
              </a:lnSpc>
            </a:pPr>
            <a:r>
              <a:rPr sz="1000" b="1" i="0">
                <a:solidFill>
                  <a:srgbClr val="FFFFFF"/>
                </a:solidFill>
                <a:latin typeface="Calibri"/>
              </a:rPr>
              <a:t>3</a:t>
            </a:r>
          </a:p>
        </p:txBody>
      </p:sp>
      <p:sp>
        <p:nvSpPr>
          <p:cNvPr id="17471" name="TextBox 17470"/>
          <p:cNvSpPr txBox="1"/>
          <p:nvPr/>
        </p:nvSpPr>
        <p:spPr>
          <a:xfrm>
            <a:off x="5961888" y="5084064"/>
            <a:ext cx="2633472" cy="457200"/>
          </a:xfrm>
          <a:prstGeom prst="rect">
            <a:avLst/>
          </a:prstGeom>
          <a:noFill/>
        </p:spPr>
        <p:txBody>
          <a:bodyPr wrap="square" anchor="t" lIns="0" rIns="0" tIns="0" bIns="0">
            <a:spAutoFit/>
          </a:bodyPr>
          <a:lstStyle/>
          <a:p>
            <a:pPr algn="l">
              <a:lnSpc>
                <a:spcPct val="94000"/>
              </a:lnSpc>
            </a:pPr>
            <a:r>
              <a:rPr sz="1000" b="0" i="0">
                <a:solidFill>
                  <a:srgbClr val="16202A"/>
                </a:solidFill>
                <a:latin typeface="Calibri"/>
              </a:rPr>
              <a:t>The cost model was tested on projects sanctioned up to 2021; 55% of the portfolio is newer</a:t>
            </a:r>
          </a:p>
        </p:txBody>
      </p:sp>
      <p:cxnSp>
        <p:nvCxnSpPr>
          <p:cNvPr id="17472" name="Connector 17471"/>
          <p:cNvCxnSpPr/>
          <p:nvPr/>
        </p:nvCxnSpPr>
        <p:spPr>
          <a:xfrm>
            <a:off x="8659368" y="5294375"/>
            <a:ext cx="192024" cy="0"/>
          </a:xfrm>
          <a:prstGeom prst="line">
            <a:avLst/>
          </a:prstGeom>
          <a:ln w="19050">
            <a:solidFill>
              <a:srgbClr val="2E8B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73" name="Rounded Rectangle 17472"/>
          <p:cNvSpPr/>
          <p:nvPr/>
        </p:nvSpPr>
        <p:spPr>
          <a:xfrm>
            <a:off x="8887968" y="5047488"/>
            <a:ext cx="3044952" cy="502920"/>
          </a:xfrm>
          <a:prstGeom prst="roundRect">
            <a:avLst>
              <a:gd name="adj" fmla="val 18181"/>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74" name="TextBox 17473"/>
          <p:cNvSpPr txBox="1"/>
          <p:nvPr/>
        </p:nvSpPr>
        <p:spPr>
          <a:xfrm>
            <a:off x="8961120" y="5084064"/>
            <a:ext cx="2926080" cy="457200"/>
          </a:xfrm>
          <a:prstGeom prst="rect">
            <a:avLst/>
          </a:prstGeom>
          <a:noFill/>
        </p:spPr>
        <p:txBody>
          <a:bodyPr wrap="square" anchor="t" lIns="0" rIns="0" tIns="0" bIns="0">
            <a:spAutoFit/>
          </a:bodyPr>
          <a:lstStyle/>
          <a:p>
            <a:pPr algn="l">
              <a:lnSpc>
                <a:spcPct val="94000"/>
              </a:lnSpc>
            </a:pPr>
            <a:r>
              <a:rPr sz="1000" b="0" i="0">
                <a:solidFill>
                  <a:srgbClr val="16202A"/>
                </a:solidFill>
                <a:latin typeface="Calibri"/>
              </a:rPr>
              <a:t>newer projects fall back to the sector average and are labelled so — never scored as safe</a:t>
            </a:r>
          </a:p>
        </p:txBody>
      </p:sp>
      <p:sp>
        <p:nvSpPr>
          <p:cNvPr id="17475" name="Rounded Rectangle 17474"/>
          <p:cNvSpPr/>
          <p:nvPr/>
        </p:nvSpPr>
        <p:spPr>
          <a:xfrm>
            <a:off x="5577840" y="5596127"/>
            <a:ext cx="3063240" cy="502920"/>
          </a:xfrm>
          <a:prstGeom prst="roundRect">
            <a:avLst>
              <a:gd name="adj" fmla="val 18181"/>
            </a:avLst>
          </a:prstGeom>
          <a:solidFill>
            <a:srgbClr val="FD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76" name="Oval 17475"/>
          <p:cNvSpPr/>
          <p:nvPr/>
        </p:nvSpPr>
        <p:spPr>
          <a:xfrm>
            <a:off x="5650992" y="5714999"/>
            <a:ext cx="256032" cy="25603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77" name="TextBox 17476"/>
          <p:cNvSpPr txBox="1"/>
          <p:nvPr/>
        </p:nvSpPr>
        <p:spPr>
          <a:xfrm>
            <a:off x="5650992" y="5742431"/>
            <a:ext cx="256032" cy="219456"/>
          </a:xfrm>
          <a:prstGeom prst="rect">
            <a:avLst/>
          </a:prstGeom>
          <a:noFill/>
        </p:spPr>
        <p:txBody>
          <a:bodyPr wrap="square" anchor="t" lIns="0" rIns="0" tIns="0" bIns="0">
            <a:spAutoFit/>
          </a:bodyPr>
          <a:lstStyle/>
          <a:p>
            <a:pPr algn="ctr">
              <a:lnSpc>
                <a:spcPct val="100000"/>
              </a:lnSpc>
            </a:pPr>
            <a:r>
              <a:rPr sz="1000" b="1" i="0">
                <a:solidFill>
                  <a:srgbClr val="FFFFFF"/>
                </a:solidFill>
                <a:latin typeface="Calibri"/>
              </a:rPr>
              <a:t>4</a:t>
            </a:r>
          </a:p>
        </p:txBody>
      </p:sp>
      <p:sp>
        <p:nvSpPr>
          <p:cNvPr id="17478" name="TextBox 17477"/>
          <p:cNvSpPr txBox="1"/>
          <p:nvPr/>
        </p:nvSpPr>
        <p:spPr>
          <a:xfrm>
            <a:off x="5961888" y="5632703"/>
            <a:ext cx="2633472" cy="457200"/>
          </a:xfrm>
          <a:prstGeom prst="rect">
            <a:avLst/>
          </a:prstGeom>
          <a:noFill/>
        </p:spPr>
        <p:txBody>
          <a:bodyPr wrap="square" anchor="t" lIns="0" rIns="0" tIns="0" bIns="0">
            <a:spAutoFit/>
          </a:bodyPr>
          <a:lstStyle/>
          <a:p>
            <a:pPr algn="l">
              <a:lnSpc>
                <a:spcPct val="94000"/>
              </a:lnSpc>
            </a:pPr>
            <a:r>
              <a:rPr sz="1000" b="0" i="0">
                <a:solidFill>
                  <a:srgbClr val="16202A"/>
                </a:solidFill>
                <a:latin typeface="Calibri"/>
              </a:rPr>
              <a:t>Inputs are self-reported; some fields are missing</a:t>
            </a:r>
          </a:p>
        </p:txBody>
      </p:sp>
      <p:cxnSp>
        <p:nvCxnSpPr>
          <p:cNvPr id="17479" name="Connector 17478"/>
          <p:cNvCxnSpPr/>
          <p:nvPr/>
        </p:nvCxnSpPr>
        <p:spPr>
          <a:xfrm>
            <a:off x="8659368" y="5843015"/>
            <a:ext cx="192024" cy="0"/>
          </a:xfrm>
          <a:prstGeom prst="line">
            <a:avLst/>
          </a:prstGeom>
          <a:ln w="19050">
            <a:solidFill>
              <a:srgbClr val="2E8B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80" name="Rounded Rectangle 17479"/>
          <p:cNvSpPr/>
          <p:nvPr/>
        </p:nvSpPr>
        <p:spPr>
          <a:xfrm>
            <a:off x="8887968" y="5596127"/>
            <a:ext cx="3044952" cy="502920"/>
          </a:xfrm>
          <a:prstGeom prst="roundRect">
            <a:avLst>
              <a:gd name="adj" fmla="val 18181"/>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81" name="TextBox 17480"/>
          <p:cNvSpPr txBox="1"/>
          <p:nvPr/>
        </p:nvSpPr>
        <p:spPr>
          <a:xfrm>
            <a:off x="8961120" y="5632703"/>
            <a:ext cx="2926080" cy="457200"/>
          </a:xfrm>
          <a:prstGeom prst="rect">
            <a:avLst/>
          </a:prstGeom>
          <a:noFill/>
        </p:spPr>
        <p:txBody>
          <a:bodyPr wrap="square" anchor="t" lIns="0" rIns="0" tIns="0" bIns="0">
            <a:spAutoFit/>
          </a:bodyPr>
          <a:lstStyle/>
          <a:p>
            <a:pPr algn="l">
              <a:lnSpc>
                <a:spcPct val="94000"/>
              </a:lnSpc>
            </a:pPr>
            <a:r>
              <a:rPr sz="1000" b="0" i="0">
                <a:solidFill>
                  <a:srgbClr val="16202A"/>
                </a:solidFill>
                <a:latin typeface="Calibri"/>
              </a:rPr>
              <a:t>a validation check; missing signals shown as “not reported”, never as zero risk</a:t>
            </a:r>
          </a:p>
        </p:txBody>
      </p:sp>
      <p:sp>
        <p:nvSpPr>
          <p:cNvPr id="17482" name="Oval 17481"/>
          <p:cNvSpPr/>
          <p:nvPr/>
        </p:nvSpPr>
        <p:spPr>
          <a:xfrm>
            <a:off x="274320" y="6053328"/>
            <a:ext cx="256032" cy="25603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83" name="Picture 17482" descr="ban.png"/>
          <p:cNvPicPr>
            <a:picLocks noChangeAspect="1"/>
          </p:cNvPicPr>
          <p:nvPr/>
        </p:nvPicPr>
        <p:blipFill>
          <a:blip r:embed="rId13"/>
          <a:stretch>
            <a:fillRect/>
          </a:stretch>
        </p:blipFill>
        <p:spPr>
          <a:xfrm>
            <a:off x="330647" y="6109655"/>
            <a:ext cx="143377" cy="143377"/>
          </a:xfrm>
          <a:prstGeom prst="rect">
            <a:avLst/>
          </a:prstGeom>
        </p:spPr>
      </p:pic>
      <p:sp>
        <p:nvSpPr>
          <p:cNvPr id="17484" name="TextBox 17483"/>
          <p:cNvSpPr txBox="1"/>
          <p:nvPr/>
        </p:nvSpPr>
        <p:spPr>
          <a:xfrm>
            <a:off x="603504" y="6071616"/>
            <a:ext cx="11292840" cy="237744"/>
          </a:xfrm>
          <a:prstGeom prst="rect">
            <a:avLst/>
          </a:prstGeom>
          <a:noFill/>
        </p:spPr>
        <p:txBody>
          <a:bodyPr wrap="square" anchor="t" lIns="0" rIns="0" tIns="0" bIns="0">
            <a:spAutoFit/>
          </a:bodyPr>
          <a:lstStyle/>
          <a:p>
            <a:pPr algn="l">
              <a:lnSpc>
                <a:spcPct val="100000"/>
              </a:lnSpc>
            </a:pPr>
            <a:r>
              <a:rPr sz="1100" b="1" i="0">
                <a:solidFill>
                  <a:srgbClr val="C0392B"/>
                </a:solidFill>
                <a:latin typeface="Calibri"/>
              </a:rPr>
              <a:t>What we refuse to claim: </a:t>
            </a:r>
            <a:r>
              <a:rPr sz="1100" b="0" i="0">
                <a:solidFill>
                  <a:srgbClr val="3C4A57"/>
                </a:solidFill>
                <a:latin typeface="Calibri"/>
              </a:rPr>
              <a:t>sub-metre satellite verification · fraud verdicts — the 20% CCEA bunching test came back null (p = 0.68) and we report it as null</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1">
                <a:latin typeface="Calibri"/>
              </a:rPr>
              <a:t>BUBBLESORT</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274320" y="6446520"/>
            <a:ext cx="4114800" cy="237744"/>
          </a:xfrm>
          <a:prstGeom prst="rect">
            <a:avLst/>
          </a:prstGeom>
          <a:noFill/>
        </p:spPr>
        <p:txBody>
          <a:bodyPr wrap="square" anchor="t" lIns="0" rIns="0" tIns="0" bIns="0">
            <a:spAutoFit/>
          </a:bodyPr>
          <a:lstStyle/>
          <a:p>
            <a:pPr algn="l">
              <a:lnSpc>
                <a:spcPct val="100000"/>
              </a:lnSpc>
            </a:pPr>
            <a:r>
              <a:rPr sz="1000" b="1" i="0">
                <a:solidFill>
                  <a:srgbClr val="FFFFFF"/>
                </a:solidFill>
                <a:latin typeface="Calibri"/>
              </a:rPr>
              <a:t>MEASURED, NOT PROMISED  ·  BUILT BESIDE PAIMANA</a:t>
            </a:r>
          </a:p>
        </p:txBody>
      </p:sp>
      <p:sp>
        <p:nvSpPr>
          <p:cNvPr id="17411" name="TextBox 17410"/>
          <p:cNvSpPr txBox="1"/>
          <p:nvPr/>
        </p:nvSpPr>
        <p:spPr>
          <a:xfrm>
            <a:off x="457200" y="1152144"/>
            <a:ext cx="11292840" cy="329184"/>
          </a:xfrm>
          <a:prstGeom prst="rect">
            <a:avLst/>
          </a:prstGeom>
          <a:noFill/>
        </p:spPr>
        <p:txBody>
          <a:bodyPr wrap="square" anchor="t" lIns="0" rIns="0" tIns="0" bIns="0">
            <a:spAutoFit/>
          </a:bodyPr>
          <a:lstStyle/>
          <a:p>
            <a:pPr algn="ctr">
              <a:lnSpc>
                <a:spcPct val="100000"/>
              </a:lnSpc>
            </a:pPr>
            <a:r>
              <a:rPr sz="1600" b="1" i="0">
                <a:solidFill>
                  <a:srgbClr val="0F2A44"/>
                </a:solidFill>
                <a:latin typeface="Calibri"/>
              </a:rPr>
              <a:t>From describing delays to catching them early</a:t>
            </a:r>
            <a:r>
              <a:rPr sz="1600" b="1" i="0">
                <a:solidFill>
                  <a:srgbClr val="1F5F73"/>
                </a:solidFill>
                <a:latin typeface="Calibri"/>
              </a:rPr>
              <a:t>  —  measured, not promised</a:t>
            </a:r>
          </a:p>
        </p:txBody>
      </p:sp>
      <p:sp>
        <p:nvSpPr>
          <p:cNvPr id="17412" name="Rounded Rectangle 17411"/>
          <p:cNvSpPr/>
          <p:nvPr/>
        </p:nvSpPr>
        <p:spPr>
          <a:xfrm>
            <a:off x="274320" y="1572768"/>
            <a:ext cx="3749039" cy="1737360"/>
          </a:xfrm>
          <a:prstGeom prst="roundRect">
            <a:avLst>
              <a:gd name="adj" fmla="val 7894"/>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3" name="Oval 17412"/>
          <p:cNvSpPr/>
          <p:nvPr/>
        </p:nvSpPr>
        <p:spPr>
          <a:xfrm>
            <a:off x="402336" y="1682496"/>
            <a:ext cx="402336" cy="402336"/>
          </a:xfrm>
          <a:prstGeom prst="ellipse">
            <a:avLst/>
          </a:prstGeom>
          <a:solidFill>
            <a:srgbClr val="1F5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14" name="Picture 17413" descr="clock.png"/>
          <p:cNvPicPr>
            <a:picLocks noChangeAspect="1"/>
          </p:cNvPicPr>
          <p:nvPr/>
        </p:nvPicPr>
        <p:blipFill>
          <a:blip r:embed="rId4"/>
          <a:stretch>
            <a:fillRect/>
          </a:stretch>
        </p:blipFill>
        <p:spPr>
          <a:xfrm>
            <a:off x="490849" y="1771009"/>
            <a:ext cx="225308" cy="225308"/>
          </a:xfrm>
          <a:prstGeom prst="rect">
            <a:avLst/>
          </a:prstGeom>
        </p:spPr>
      </p:pic>
      <p:sp>
        <p:nvSpPr>
          <p:cNvPr id="17415" name="TextBox 17414"/>
          <p:cNvSpPr txBox="1"/>
          <p:nvPr/>
        </p:nvSpPr>
        <p:spPr>
          <a:xfrm>
            <a:off x="932688" y="1645920"/>
            <a:ext cx="3017520" cy="256032"/>
          </a:xfrm>
          <a:prstGeom prst="rect">
            <a:avLst/>
          </a:prstGeom>
          <a:noFill/>
        </p:spPr>
        <p:txBody>
          <a:bodyPr wrap="square" anchor="t" lIns="0" rIns="0" tIns="0" bIns="0">
            <a:spAutoFit/>
          </a:bodyPr>
          <a:lstStyle/>
          <a:p>
            <a:pPr algn="l">
              <a:lnSpc>
                <a:spcPct val="100000"/>
              </a:lnSpc>
            </a:pPr>
            <a:r>
              <a:rPr sz="1200" b="1" i="0">
                <a:solidFill>
                  <a:srgbClr val="0F2A44"/>
                </a:solidFill>
                <a:latin typeface="Calibri"/>
              </a:rPr>
              <a:t>Finish window hit-rate</a:t>
            </a:r>
          </a:p>
        </p:txBody>
      </p:sp>
      <p:sp>
        <p:nvSpPr>
          <p:cNvPr id="17416" name="TextBox 17415"/>
          <p:cNvSpPr txBox="1"/>
          <p:nvPr/>
        </p:nvSpPr>
        <p:spPr>
          <a:xfrm>
            <a:off x="932688" y="1901952"/>
            <a:ext cx="3017520" cy="384048"/>
          </a:xfrm>
          <a:prstGeom prst="rect">
            <a:avLst/>
          </a:prstGeom>
          <a:noFill/>
        </p:spPr>
        <p:txBody>
          <a:bodyPr wrap="square" anchor="t" lIns="0" rIns="0" tIns="0" bIns="0">
            <a:spAutoFit/>
          </a:bodyPr>
          <a:lstStyle/>
          <a:p>
            <a:pPr algn="l">
              <a:lnSpc>
                <a:spcPct val="100000"/>
              </a:lnSpc>
            </a:pPr>
            <a:r>
              <a:rPr sz="2000" b="1" i="0">
                <a:solidFill>
                  <a:srgbClr val="8A97A4"/>
                </a:solidFill>
                <a:latin typeface="Calibri"/>
              </a:rPr>
              <a:t>51% → </a:t>
            </a:r>
            <a:r>
              <a:rPr sz="2000" b="1" i="0">
                <a:solidFill>
                  <a:srgbClr val="1F5F73"/>
                </a:solidFill>
                <a:latin typeface="Calibri"/>
              </a:rPr>
              <a:t>79%</a:t>
            </a:r>
          </a:p>
        </p:txBody>
      </p:sp>
      <p:cxnSp>
        <p:nvCxnSpPr>
          <p:cNvPr id="17417" name="Connector 17416"/>
          <p:cNvCxnSpPr/>
          <p:nvPr/>
        </p:nvCxnSpPr>
        <p:spPr>
          <a:xfrm>
            <a:off x="2468879" y="3035808"/>
            <a:ext cx="1417321" cy="0"/>
          </a:xfrm>
          <a:prstGeom prst="line">
            <a:avLst/>
          </a:prstGeom>
          <a:ln w="9525">
            <a:solidFill>
              <a:srgbClr val="8A97A4"/>
            </a:solidFill>
          </a:ln>
        </p:spPr>
        <p:style>
          <a:lnRef idx="2">
            <a:schemeClr val="accent1"/>
          </a:lnRef>
          <a:fillRef idx="0">
            <a:schemeClr val="accent1"/>
          </a:fillRef>
          <a:effectRef idx="1">
            <a:schemeClr val="accent1"/>
          </a:effectRef>
          <a:fontRef idx="minor">
            <a:schemeClr val="tx1"/>
          </a:fontRef>
        </p:style>
      </p:cxnSp>
      <p:sp>
        <p:nvSpPr>
          <p:cNvPr id="17418" name="Rectangle 17417"/>
          <p:cNvSpPr/>
          <p:nvPr/>
        </p:nvSpPr>
        <p:spPr>
          <a:xfrm>
            <a:off x="2606039" y="2747581"/>
            <a:ext cx="457200" cy="288226"/>
          </a:xfrm>
          <a:prstGeom prst="rect">
            <a:avLst/>
          </a:prstGeom>
          <a:solidFill>
            <a:srgbClr val="8A97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9" name="Rectangle 17418"/>
          <p:cNvSpPr/>
          <p:nvPr/>
        </p:nvSpPr>
        <p:spPr>
          <a:xfrm>
            <a:off x="3291839" y="2587764"/>
            <a:ext cx="457200" cy="448043"/>
          </a:xfrm>
          <a:prstGeom prst="rect">
            <a:avLst/>
          </a:prstGeom>
          <a:solidFill>
            <a:srgbClr val="1F5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0" name="TextBox 17419"/>
          <p:cNvSpPr txBox="1"/>
          <p:nvPr/>
        </p:nvSpPr>
        <p:spPr>
          <a:xfrm>
            <a:off x="2468879" y="3054096"/>
            <a:ext cx="731520" cy="182880"/>
          </a:xfrm>
          <a:prstGeom prst="rect">
            <a:avLst/>
          </a:prstGeom>
          <a:noFill/>
        </p:spPr>
        <p:txBody>
          <a:bodyPr wrap="square" anchor="t" lIns="0" rIns="0" tIns="0" bIns="0">
            <a:spAutoFit/>
          </a:bodyPr>
          <a:lstStyle/>
          <a:p>
            <a:pPr algn="ctr">
              <a:lnSpc>
                <a:spcPct val="100000"/>
              </a:lnSpc>
            </a:pPr>
            <a:r>
              <a:rPr sz="1000" b="0" i="0">
                <a:solidFill>
                  <a:srgbClr val="8A97A4"/>
                </a:solidFill>
                <a:latin typeface="Calibri"/>
              </a:rPr>
              <a:t>today</a:t>
            </a:r>
          </a:p>
        </p:txBody>
      </p:sp>
      <p:sp>
        <p:nvSpPr>
          <p:cNvPr id="17421" name="TextBox 17420"/>
          <p:cNvSpPr txBox="1"/>
          <p:nvPr/>
        </p:nvSpPr>
        <p:spPr>
          <a:xfrm>
            <a:off x="3154679" y="3054096"/>
            <a:ext cx="731520" cy="182880"/>
          </a:xfrm>
          <a:prstGeom prst="rect">
            <a:avLst/>
          </a:prstGeom>
          <a:noFill/>
        </p:spPr>
        <p:txBody>
          <a:bodyPr wrap="square" anchor="t" lIns="0" rIns="0" tIns="0" bIns="0">
            <a:spAutoFit/>
          </a:bodyPr>
          <a:lstStyle/>
          <a:p>
            <a:pPr algn="ctr">
              <a:lnSpc>
                <a:spcPct val="100000"/>
              </a:lnSpc>
            </a:pPr>
            <a:r>
              <a:rPr sz="1000" b="0" i="0">
                <a:solidFill>
                  <a:srgbClr val="1F5F73"/>
                </a:solidFill>
                <a:latin typeface="Calibri"/>
              </a:rPr>
              <a:t>ours</a:t>
            </a:r>
          </a:p>
        </p:txBody>
      </p:sp>
      <p:cxnSp>
        <p:nvCxnSpPr>
          <p:cNvPr id="17422" name="Connector 17421"/>
          <p:cNvCxnSpPr/>
          <p:nvPr/>
        </p:nvCxnSpPr>
        <p:spPr>
          <a:xfrm>
            <a:off x="2468879" y="2553919"/>
            <a:ext cx="1417321" cy="0"/>
          </a:xfrm>
          <a:prstGeom prst="line">
            <a:avLst/>
          </a:prstGeom>
          <a:ln w="9525">
            <a:solidFill>
              <a:srgbClr val="3C4A57"/>
            </a:solidFill>
            <a:prstDash val="dash"/>
          </a:ln>
        </p:spPr>
        <p:style>
          <a:lnRef idx="2">
            <a:schemeClr val="accent1"/>
          </a:lnRef>
          <a:fillRef idx="0">
            <a:schemeClr val="accent1"/>
          </a:fillRef>
          <a:effectRef idx="1">
            <a:schemeClr val="accent1"/>
          </a:effectRef>
          <a:fontRef idx="minor">
            <a:schemeClr val="tx1"/>
          </a:fontRef>
        </p:style>
      </p:cxnSp>
      <p:sp>
        <p:nvSpPr>
          <p:cNvPr id="17423" name="TextBox 17422"/>
          <p:cNvSpPr txBox="1"/>
          <p:nvPr/>
        </p:nvSpPr>
        <p:spPr>
          <a:xfrm>
            <a:off x="402336" y="2340864"/>
            <a:ext cx="2148840" cy="731520"/>
          </a:xfrm>
          <a:prstGeom prst="rect">
            <a:avLst/>
          </a:prstGeom>
          <a:noFill/>
        </p:spPr>
        <p:txBody>
          <a:bodyPr wrap="square" anchor="t" lIns="0" rIns="0" tIns="0" bIns="0">
            <a:spAutoFit/>
          </a:bodyPr>
          <a:lstStyle/>
          <a:p>
            <a:pPr algn="l">
              <a:lnSpc>
                <a:spcPct val="95000"/>
              </a:lnSpc>
            </a:pPr>
            <a:r>
              <a:rPr sz="1000" b="0" i="0">
                <a:solidFill>
                  <a:srgbClr val="3C4A57"/>
                </a:solidFill>
                <a:latin typeface="Calibri"/>
              </a:rPr>
              <a:t>official revised date inside the window · nominal 85% · 596 held-out projects</a:t>
            </a:r>
          </a:p>
        </p:txBody>
      </p:sp>
      <p:sp>
        <p:nvSpPr>
          <p:cNvPr id="17424" name="Rounded Rectangle 17423"/>
          <p:cNvSpPr/>
          <p:nvPr/>
        </p:nvSpPr>
        <p:spPr>
          <a:xfrm>
            <a:off x="4160520" y="1572768"/>
            <a:ext cx="3749039" cy="1737360"/>
          </a:xfrm>
          <a:prstGeom prst="roundRect">
            <a:avLst>
              <a:gd name="adj" fmla="val 7894"/>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5" name="Oval 17424"/>
          <p:cNvSpPr/>
          <p:nvPr/>
        </p:nvSpPr>
        <p:spPr>
          <a:xfrm>
            <a:off x="4288536" y="1682496"/>
            <a:ext cx="402336" cy="402336"/>
          </a:xfrm>
          <a:prstGeom prst="ellipse">
            <a:avLst/>
          </a:prstGeom>
          <a:solidFill>
            <a:srgbClr val="1F5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26" name="Picture 17425" descr="calendar.png"/>
          <p:cNvPicPr>
            <a:picLocks noChangeAspect="1"/>
          </p:cNvPicPr>
          <p:nvPr/>
        </p:nvPicPr>
        <p:blipFill>
          <a:blip r:embed="rId5"/>
          <a:stretch>
            <a:fillRect/>
          </a:stretch>
        </p:blipFill>
        <p:spPr>
          <a:xfrm>
            <a:off x="4377049" y="1771009"/>
            <a:ext cx="225308" cy="225308"/>
          </a:xfrm>
          <a:prstGeom prst="rect">
            <a:avLst/>
          </a:prstGeom>
        </p:spPr>
      </p:pic>
      <p:sp>
        <p:nvSpPr>
          <p:cNvPr id="17427" name="TextBox 17426"/>
          <p:cNvSpPr txBox="1"/>
          <p:nvPr/>
        </p:nvSpPr>
        <p:spPr>
          <a:xfrm>
            <a:off x="4818888" y="1645920"/>
            <a:ext cx="3017520" cy="256032"/>
          </a:xfrm>
          <a:prstGeom prst="rect">
            <a:avLst/>
          </a:prstGeom>
          <a:noFill/>
        </p:spPr>
        <p:txBody>
          <a:bodyPr wrap="square" anchor="t" lIns="0" rIns="0" tIns="0" bIns="0">
            <a:spAutoFit/>
          </a:bodyPr>
          <a:lstStyle/>
          <a:p>
            <a:pPr algn="l">
              <a:lnSpc>
                <a:spcPct val="100000"/>
              </a:lnSpc>
            </a:pPr>
            <a:r>
              <a:rPr sz="1200" b="1" i="0">
                <a:solidFill>
                  <a:srgbClr val="0F2A44"/>
                </a:solidFill>
                <a:latin typeface="Calibri"/>
              </a:rPr>
              <a:t>Typical error in the finish date</a:t>
            </a:r>
          </a:p>
        </p:txBody>
      </p:sp>
      <p:sp>
        <p:nvSpPr>
          <p:cNvPr id="17428" name="TextBox 17427"/>
          <p:cNvSpPr txBox="1"/>
          <p:nvPr/>
        </p:nvSpPr>
        <p:spPr>
          <a:xfrm>
            <a:off x="4818888" y="1901952"/>
            <a:ext cx="3017520" cy="384048"/>
          </a:xfrm>
          <a:prstGeom prst="rect">
            <a:avLst/>
          </a:prstGeom>
          <a:noFill/>
        </p:spPr>
        <p:txBody>
          <a:bodyPr wrap="square" anchor="t" lIns="0" rIns="0" tIns="0" bIns="0">
            <a:spAutoFit/>
          </a:bodyPr>
          <a:lstStyle/>
          <a:p>
            <a:pPr algn="l">
              <a:lnSpc>
                <a:spcPct val="100000"/>
              </a:lnSpc>
            </a:pPr>
            <a:r>
              <a:rPr sz="2000" b="1" i="0">
                <a:solidFill>
                  <a:srgbClr val="8A97A4"/>
                </a:solidFill>
                <a:latin typeface="Calibri"/>
              </a:rPr>
              <a:t>100 → </a:t>
            </a:r>
            <a:r>
              <a:rPr sz="2000" b="1" i="0">
                <a:solidFill>
                  <a:srgbClr val="1F5F73"/>
                </a:solidFill>
                <a:latin typeface="Calibri"/>
              </a:rPr>
              <a:t>23 months</a:t>
            </a:r>
          </a:p>
        </p:txBody>
      </p:sp>
      <p:cxnSp>
        <p:nvCxnSpPr>
          <p:cNvPr id="17429" name="Connector 17428"/>
          <p:cNvCxnSpPr/>
          <p:nvPr/>
        </p:nvCxnSpPr>
        <p:spPr>
          <a:xfrm>
            <a:off x="6355079" y="3035808"/>
            <a:ext cx="1417321" cy="0"/>
          </a:xfrm>
          <a:prstGeom prst="line">
            <a:avLst/>
          </a:prstGeom>
          <a:ln w="9525">
            <a:solidFill>
              <a:srgbClr val="8A97A4"/>
            </a:solidFill>
          </a:ln>
        </p:spPr>
        <p:style>
          <a:lnRef idx="2">
            <a:schemeClr val="accent1"/>
          </a:lnRef>
          <a:fillRef idx="0">
            <a:schemeClr val="accent1"/>
          </a:fillRef>
          <a:effectRef idx="1">
            <a:schemeClr val="accent1"/>
          </a:effectRef>
          <a:fontRef idx="minor">
            <a:schemeClr val="tx1"/>
          </a:fontRef>
        </p:style>
      </p:cxnSp>
      <p:sp>
        <p:nvSpPr>
          <p:cNvPr id="17430" name="Rectangle 17429"/>
          <p:cNvSpPr/>
          <p:nvPr/>
        </p:nvSpPr>
        <p:spPr>
          <a:xfrm>
            <a:off x="6492240" y="2469163"/>
            <a:ext cx="457200" cy="566644"/>
          </a:xfrm>
          <a:prstGeom prst="rect">
            <a:avLst/>
          </a:prstGeom>
          <a:solidFill>
            <a:srgbClr val="8A97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1" name="Rectangle 17430"/>
          <p:cNvSpPr/>
          <p:nvPr/>
        </p:nvSpPr>
        <p:spPr>
          <a:xfrm>
            <a:off x="7178040" y="2907058"/>
            <a:ext cx="457200" cy="128749"/>
          </a:xfrm>
          <a:prstGeom prst="rect">
            <a:avLst/>
          </a:prstGeom>
          <a:solidFill>
            <a:srgbClr val="1F5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2" name="TextBox 17431"/>
          <p:cNvSpPr txBox="1"/>
          <p:nvPr/>
        </p:nvSpPr>
        <p:spPr>
          <a:xfrm>
            <a:off x="6355079" y="3054096"/>
            <a:ext cx="731520" cy="182880"/>
          </a:xfrm>
          <a:prstGeom prst="rect">
            <a:avLst/>
          </a:prstGeom>
          <a:noFill/>
        </p:spPr>
        <p:txBody>
          <a:bodyPr wrap="square" anchor="t" lIns="0" rIns="0" tIns="0" bIns="0">
            <a:spAutoFit/>
          </a:bodyPr>
          <a:lstStyle/>
          <a:p>
            <a:pPr algn="ctr">
              <a:lnSpc>
                <a:spcPct val="100000"/>
              </a:lnSpc>
            </a:pPr>
            <a:r>
              <a:rPr sz="1000" b="0" i="0">
                <a:solidFill>
                  <a:srgbClr val="8A97A4"/>
                </a:solidFill>
                <a:latin typeface="Calibri"/>
              </a:rPr>
              <a:t>today</a:t>
            </a:r>
          </a:p>
        </p:txBody>
      </p:sp>
      <p:sp>
        <p:nvSpPr>
          <p:cNvPr id="17433" name="TextBox 17432"/>
          <p:cNvSpPr txBox="1"/>
          <p:nvPr/>
        </p:nvSpPr>
        <p:spPr>
          <a:xfrm>
            <a:off x="7040879" y="3054096"/>
            <a:ext cx="731520" cy="182880"/>
          </a:xfrm>
          <a:prstGeom prst="rect">
            <a:avLst/>
          </a:prstGeom>
          <a:noFill/>
        </p:spPr>
        <p:txBody>
          <a:bodyPr wrap="square" anchor="t" lIns="0" rIns="0" tIns="0" bIns="0">
            <a:spAutoFit/>
          </a:bodyPr>
          <a:lstStyle/>
          <a:p>
            <a:pPr algn="ctr">
              <a:lnSpc>
                <a:spcPct val="100000"/>
              </a:lnSpc>
            </a:pPr>
            <a:r>
              <a:rPr sz="1000" b="0" i="0">
                <a:solidFill>
                  <a:srgbClr val="1F5F73"/>
                </a:solidFill>
                <a:latin typeface="Calibri"/>
              </a:rPr>
              <a:t>ours</a:t>
            </a:r>
          </a:p>
        </p:txBody>
      </p:sp>
      <p:sp>
        <p:nvSpPr>
          <p:cNvPr id="17434" name="TextBox 17433"/>
          <p:cNvSpPr txBox="1"/>
          <p:nvPr/>
        </p:nvSpPr>
        <p:spPr>
          <a:xfrm>
            <a:off x="4288536" y="2340864"/>
            <a:ext cx="2148840" cy="731520"/>
          </a:xfrm>
          <a:prstGeom prst="rect">
            <a:avLst/>
          </a:prstGeom>
          <a:noFill/>
        </p:spPr>
        <p:txBody>
          <a:bodyPr wrap="square" anchor="t" lIns="0" rIns="0" tIns="0" bIns="0">
            <a:spAutoFit/>
          </a:bodyPr>
          <a:lstStyle/>
          <a:p>
            <a:pPr algn="l">
              <a:lnSpc>
                <a:spcPct val="95000"/>
              </a:lnSpc>
            </a:pPr>
            <a:r>
              <a:rPr sz="1000" b="0" i="0">
                <a:solidFill>
                  <a:srgbClr val="3C4A57"/>
                </a:solidFill>
                <a:latin typeface="Calibri"/>
              </a:rPr>
              <a:t>median error of the most-likely date · 596 held-out projects</a:t>
            </a:r>
          </a:p>
        </p:txBody>
      </p:sp>
      <p:sp>
        <p:nvSpPr>
          <p:cNvPr id="17435" name="Rounded Rectangle 17434"/>
          <p:cNvSpPr/>
          <p:nvPr/>
        </p:nvSpPr>
        <p:spPr>
          <a:xfrm>
            <a:off x="8046720" y="1572768"/>
            <a:ext cx="3749039" cy="1737360"/>
          </a:xfrm>
          <a:prstGeom prst="roundRect">
            <a:avLst>
              <a:gd name="adj" fmla="val 7894"/>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6" name="Oval 17435"/>
          <p:cNvSpPr/>
          <p:nvPr/>
        </p:nvSpPr>
        <p:spPr>
          <a:xfrm>
            <a:off x="8174736" y="1682496"/>
            <a:ext cx="402336" cy="402336"/>
          </a:xfrm>
          <a:prstGeom prst="ellipse">
            <a:avLst/>
          </a:prstGeom>
          <a:solidFill>
            <a:srgbClr val="1F5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37" name="Picture 17436" descr="receipt.png"/>
          <p:cNvPicPr>
            <a:picLocks noChangeAspect="1"/>
          </p:cNvPicPr>
          <p:nvPr/>
        </p:nvPicPr>
        <p:blipFill>
          <a:blip r:embed="rId6"/>
          <a:stretch>
            <a:fillRect/>
          </a:stretch>
        </p:blipFill>
        <p:spPr>
          <a:xfrm>
            <a:off x="8263249" y="1771009"/>
            <a:ext cx="225308" cy="225308"/>
          </a:xfrm>
          <a:prstGeom prst="rect">
            <a:avLst/>
          </a:prstGeom>
        </p:spPr>
      </p:pic>
      <p:sp>
        <p:nvSpPr>
          <p:cNvPr id="17438" name="TextBox 17437"/>
          <p:cNvSpPr txBox="1"/>
          <p:nvPr/>
        </p:nvSpPr>
        <p:spPr>
          <a:xfrm>
            <a:off x="8705088" y="1645920"/>
            <a:ext cx="3017520" cy="256032"/>
          </a:xfrm>
          <a:prstGeom prst="rect">
            <a:avLst/>
          </a:prstGeom>
          <a:noFill/>
        </p:spPr>
        <p:txBody>
          <a:bodyPr wrap="square" anchor="t" lIns="0" rIns="0" tIns="0" bIns="0">
            <a:spAutoFit/>
          </a:bodyPr>
          <a:lstStyle/>
          <a:p>
            <a:pPr algn="l">
              <a:lnSpc>
                <a:spcPct val="100000"/>
              </a:lnSpc>
            </a:pPr>
            <a:r>
              <a:rPr sz="1200" b="1" i="0">
                <a:solidFill>
                  <a:srgbClr val="0F2A44"/>
                </a:solidFill>
                <a:latin typeface="Calibri"/>
              </a:rPr>
              <a:t>Cost-overrun estimate error</a:t>
            </a:r>
          </a:p>
        </p:txBody>
      </p:sp>
      <p:sp>
        <p:nvSpPr>
          <p:cNvPr id="17439" name="TextBox 17438"/>
          <p:cNvSpPr txBox="1"/>
          <p:nvPr/>
        </p:nvSpPr>
        <p:spPr>
          <a:xfrm>
            <a:off x="8705088" y="1901952"/>
            <a:ext cx="3017520" cy="384048"/>
          </a:xfrm>
          <a:prstGeom prst="rect">
            <a:avLst/>
          </a:prstGeom>
          <a:noFill/>
        </p:spPr>
        <p:txBody>
          <a:bodyPr wrap="square" anchor="t" lIns="0" rIns="0" tIns="0" bIns="0">
            <a:spAutoFit/>
          </a:bodyPr>
          <a:lstStyle/>
          <a:p>
            <a:pPr algn="l">
              <a:lnSpc>
                <a:spcPct val="100000"/>
              </a:lnSpc>
            </a:pPr>
            <a:r>
              <a:rPr sz="2000" b="1" i="0">
                <a:solidFill>
                  <a:srgbClr val="8A97A4"/>
                </a:solidFill>
                <a:latin typeface="Calibri"/>
              </a:rPr>
              <a:t>18.5% → </a:t>
            </a:r>
            <a:r>
              <a:rPr sz="2000" b="1" i="0">
                <a:solidFill>
                  <a:srgbClr val="1F5F73"/>
                </a:solidFill>
                <a:latin typeface="Calibri"/>
              </a:rPr>
              <a:t>16.2%</a:t>
            </a:r>
          </a:p>
        </p:txBody>
      </p:sp>
      <p:cxnSp>
        <p:nvCxnSpPr>
          <p:cNvPr id="17440" name="Connector 17439"/>
          <p:cNvCxnSpPr/>
          <p:nvPr/>
        </p:nvCxnSpPr>
        <p:spPr>
          <a:xfrm>
            <a:off x="10241280" y="3035808"/>
            <a:ext cx="1417320" cy="0"/>
          </a:xfrm>
          <a:prstGeom prst="line">
            <a:avLst/>
          </a:prstGeom>
          <a:ln w="9525">
            <a:solidFill>
              <a:srgbClr val="8A97A4"/>
            </a:solidFill>
          </a:ln>
        </p:spPr>
        <p:style>
          <a:lnRef idx="2">
            <a:schemeClr val="accent1"/>
          </a:lnRef>
          <a:fillRef idx="0">
            <a:schemeClr val="accent1"/>
          </a:fillRef>
          <a:effectRef idx="1">
            <a:schemeClr val="accent1"/>
          </a:effectRef>
          <a:fontRef idx="minor">
            <a:schemeClr val="tx1"/>
          </a:fontRef>
        </p:style>
      </p:cxnSp>
      <p:sp>
        <p:nvSpPr>
          <p:cNvPr id="17441" name="Rectangle 17440"/>
          <p:cNvSpPr/>
          <p:nvPr/>
        </p:nvSpPr>
        <p:spPr>
          <a:xfrm>
            <a:off x="10378440" y="2616394"/>
            <a:ext cx="457200" cy="419413"/>
          </a:xfrm>
          <a:prstGeom prst="rect">
            <a:avLst/>
          </a:prstGeom>
          <a:solidFill>
            <a:srgbClr val="8A97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2" name="Rectangle 17441"/>
          <p:cNvSpPr/>
          <p:nvPr/>
        </p:nvSpPr>
        <p:spPr>
          <a:xfrm>
            <a:off x="11064240" y="2667531"/>
            <a:ext cx="457200" cy="368276"/>
          </a:xfrm>
          <a:prstGeom prst="rect">
            <a:avLst/>
          </a:prstGeom>
          <a:solidFill>
            <a:srgbClr val="1F5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3" name="TextBox 17442"/>
          <p:cNvSpPr txBox="1"/>
          <p:nvPr/>
        </p:nvSpPr>
        <p:spPr>
          <a:xfrm>
            <a:off x="10241280" y="3054096"/>
            <a:ext cx="731520" cy="182880"/>
          </a:xfrm>
          <a:prstGeom prst="rect">
            <a:avLst/>
          </a:prstGeom>
          <a:noFill/>
        </p:spPr>
        <p:txBody>
          <a:bodyPr wrap="square" anchor="t" lIns="0" rIns="0" tIns="0" bIns="0">
            <a:spAutoFit/>
          </a:bodyPr>
          <a:lstStyle/>
          <a:p>
            <a:pPr algn="ctr">
              <a:lnSpc>
                <a:spcPct val="100000"/>
              </a:lnSpc>
            </a:pPr>
            <a:r>
              <a:rPr sz="1000" b="0" i="0">
                <a:solidFill>
                  <a:srgbClr val="8A97A4"/>
                </a:solidFill>
                <a:latin typeface="Calibri"/>
              </a:rPr>
              <a:t>today</a:t>
            </a:r>
          </a:p>
        </p:txBody>
      </p:sp>
      <p:sp>
        <p:nvSpPr>
          <p:cNvPr id="17444" name="TextBox 17443"/>
          <p:cNvSpPr txBox="1"/>
          <p:nvPr/>
        </p:nvSpPr>
        <p:spPr>
          <a:xfrm>
            <a:off x="10927080" y="3054096"/>
            <a:ext cx="731520" cy="182880"/>
          </a:xfrm>
          <a:prstGeom prst="rect">
            <a:avLst/>
          </a:prstGeom>
          <a:noFill/>
        </p:spPr>
        <p:txBody>
          <a:bodyPr wrap="square" anchor="t" lIns="0" rIns="0" tIns="0" bIns="0">
            <a:spAutoFit/>
          </a:bodyPr>
          <a:lstStyle/>
          <a:p>
            <a:pPr algn="ctr">
              <a:lnSpc>
                <a:spcPct val="100000"/>
              </a:lnSpc>
            </a:pPr>
            <a:r>
              <a:rPr sz="1000" b="0" i="0">
                <a:solidFill>
                  <a:srgbClr val="1F5F73"/>
                </a:solidFill>
                <a:latin typeface="Calibri"/>
              </a:rPr>
              <a:t>ours</a:t>
            </a:r>
          </a:p>
        </p:txBody>
      </p:sp>
      <p:cxnSp>
        <p:nvCxnSpPr>
          <p:cNvPr id="17445" name="Connector 17444"/>
          <p:cNvCxnSpPr/>
          <p:nvPr/>
        </p:nvCxnSpPr>
        <p:spPr>
          <a:xfrm>
            <a:off x="11064240" y="2657780"/>
            <a:ext cx="548640" cy="0"/>
          </a:xfrm>
          <a:prstGeom prst="line">
            <a:avLst/>
          </a:prstGeom>
          <a:ln w="15875">
            <a:solidFill>
              <a:srgbClr val="16202A"/>
            </a:solidFill>
          </a:ln>
        </p:spPr>
        <p:style>
          <a:lnRef idx="2">
            <a:schemeClr val="accent1"/>
          </a:lnRef>
          <a:fillRef idx="0">
            <a:schemeClr val="accent1"/>
          </a:fillRef>
          <a:effectRef idx="1">
            <a:schemeClr val="accent1"/>
          </a:effectRef>
          <a:fontRef idx="minor">
            <a:schemeClr val="tx1"/>
          </a:fontRef>
        </p:style>
      </p:cxnSp>
      <p:sp>
        <p:nvSpPr>
          <p:cNvPr id="17446" name="TextBox 17445"/>
          <p:cNvSpPr txBox="1"/>
          <p:nvPr/>
        </p:nvSpPr>
        <p:spPr>
          <a:xfrm>
            <a:off x="8174736" y="2340864"/>
            <a:ext cx="2148840" cy="731520"/>
          </a:xfrm>
          <a:prstGeom prst="rect">
            <a:avLst/>
          </a:prstGeom>
          <a:noFill/>
        </p:spPr>
        <p:txBody>
          <a:bodyPr wrap="square" anchor="t" lIns="0" rIns="0" tIns="0" bIns="0">
            <a:spAutoFit/>
          </a:bodyPr>
          <a:lstStyle/>
          <a:p>
            <a:pPr algn="l">
              <a:lnSpc>
                <a:spcPct val="95000"/>
              </a:lnSpc>
            </a:pPr>
            <a:r>
              <a:rPr sz="1000" b="0" i="0">
                <a:solidFill>
                  <a:srgbClr val="3C4A57"/>
                </a:solidFill>
                <a:latin typeface="Calibri"/>
              </a:rPr>
              <a:t>vs the sector-average forecast · plain statistics (OLS) 16.7% · 265 held-out projects</a:t>
            </a:r>
          </a:p>
        </p:txBody>
      </p:sp>
      <p:sp>
        <p:nvSpPr>
          <p:cNvPr id="17447" name="TextBox 17446"/>
          <p:cNvSpPr txBox="1"/>
          <p:nvPr/>
        </p:nvSpPr>
        <p:spPr>
          <a:xfrm>
            <a:off x="274320" y="3456432"/>
            <a:ext cx="6035040" cy="237744"/>
          </a:xfrm>
          <a:prstGeom prst="rect">
            <a:avLst/>
          </a:prstGeom>
          <a:noFill/>
        </p:spPr>
        <p:txBody>
          <a:bodyPr wrap="square" anchor="t" lIns="0" rIns="0" tIns="0" bIns="0">
            <a:spAutoFit/>
          </a:bodyPr>
          <a:lstStyle/>
          <a:p>
            <a:pPr algn="l">
              <a:lnSpc>
                <a:spcPct val="100000"/>
              </a:lnSpc>
            </a:pPr>
            <a:r>
              <a:rPr sz="1200" b="1" i="0">
                <a:solidFill>
                  <a:srgbClr val="0F2A44"/>
                </a:solidFill>
                <a:latin typeface="Calibri"/>
              </a:rPr>
              <a:t>What the officer gets — real screens from the prototype (16 Sep 2026)</a:t>
            </a:r>
          </a:p>
        </p:txBody>
      </p:sp>
      <p:sp>
        <p:nvSpPr>
          <p:cNvPr id="17448" name="TextBox 17447"/>
          <p:cNvSpPr txBox="1"/>
          <p:nvPr/>
        </p:nvSpPr>
        <p:spPr>
          <a:xfrm>
            <a:off x="274320" y="3730752"/>
            <a:ext cx="2057400" cy="201168"/>
          </a:xfrm>
          <a:prstGeom prst="rect">
            <a:avLst/>
          </a:prstGeom>
          <a:noFill/>
        </p:spPr>
        <p:txBody>
          <a:bodyPr wrap="square" anchor="t" lIns="0" rIns="0" tIns="0" bIns="0">
            <a:spAutoFit/>
          </a:bodyPr>
          <a:lstStyle/>
          <a:p>
            <a:pPr algn="l">
              <a:lnSpc>
                <a:spcPct val="100000"/>
              </a:lnSpc>
            </a:pPr>
            <a:r>
              <a:rPr sz="1000" b="1" i="0">
                <a:solidFill>
                  <a:srgbClr val="3C4A57"/>
                </a:solidFill>
                <a:latin typeface="Calibri"/>
              </a:rPr>
              <a:t>Today: a 1,981-row report</a:t>
            </a:r>
          </a:p>
        </p:txBody>
      </p:sp>
      <p:sp>
        <p:nvSpPr>
          <p:cNvPr id="17449" name="Rounded Rectangle 17448"/>
          <p:cNvSpPr/>
          <p:nvPr/>
        </p:nvSpPr>
        <p:spPr>
          <a:xfrm>
            <a:off x="228600" y="3941064"/>
            <a:ext cx="1874519" cy="777908"/>
          </a:xfrm>
          <a:prstGeom prst="roundRect">
            <a:avLst>
              <a:gd name="adj" fmla="val 9403"/>
            </a:avLst>
          </a:prstGeom>
          <a:solidFill>
            <a:srgbClr val="FFFFFF"/>
          </a:solidFill>
          <a:ln w="9525">
            <a:solidFill>
              <a:srgbClr val="D6DD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50" name="Picture 17449" descr="crop_queue.png"/>
          <p:cNvPicPr>
            <a:picLocks noChangeAspect="1"/>
          </p:cNvPicPr>
          <p:nvPr/>
        </p:nvPicPr>
        <p:blipFill>
          <a:blip r:embed="rId7"/>
          <a:stretch>
            <a:fillRect/>
          </a:stretch>
        </p:blipFill>
        <p:spPr>
          <a:xfrm>
            <a:off x="274320" y="3986784"/>
            <a:ext cx="1783080" cy="686468"/>
          </a:xfrm>
          <a:prstGeom prst="rect">
            <a:avLst/>
          </a:prstGeom>
        </p:spPr>
      </p:pic>
      <p:sp>
        <p:nvSpPr>
          <p:cNvPr id="17451" name="TextBox 17450"/>
          <p:cNvSpPr txBox="1"/>
          <p:nvPr/>
        </p:nvSpPr>
        <p:spPr>
          <a:xfrm>
            <a:off x="2377440" y="3730752"/>
            <a:ext cx="2057400" cy="201168"/>
          </a:xfrm>
          <a:prstGeom prst="rect">
            <a:avLst/>
          </a:prstGeom>
          <a:noFill/>
        </p:spPr>
        <p:txBody>
          <a:bodyPr wrap="square" anchor="t" lIns="0" rIns="0" tIns="0" bIns="0">
            <a:spAutoFit/>
          </a:bodyPr>
          <a:lstStyle/>
          <a:p>
            <a:pPr algn="l">
              <a:lnSpc>
                <a:spcPct val="100000"/>
              </a:lnSpc>
            </a:pPr>
            <a:r>
              <a:rPr sz="1000" b="1" i="0">
                <a:solidFill>
                  <a:srgbClr val="3C4A57"/>
                </a:solidFill>
                <a:latin typeface="Calibri"/>
              </a:rPr>
              <a:t>A ranked list, with reasons</a:t>
            </a:r>
          </a:p>
        </p:txBody>
      </p:sp>
      <p:sp>
        <p:nvSpPr>
          <p:cNvPr id="17452" name="Rounded Rectangle 17451"/>
          <p:cNvSpPr/>
          <p:nvPr/>
        </p:nvSpPr>
        <p:spPr>
          <a:xfrm>
            <a:off x="2331720" y="3941064"/>
            <a:ext cx="1874519" cy="751840"/>
          </a:xfrm>
          <a:prstGeom prst="roundRect">
            <a:avLst>
              <a:gd name="adj" fmla="val 9729"/>
            </a:avLst>
          </a:prstGeom>
          <a:solidFill>
            <a:srgbClr val="FFFFFF"/>
          </a:solidFill>
          <a:ln w="9525">
            <a:solidFill>
              <a:srgbClr val="D6DD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53" name="Picture 17452" descr="crop_breakdown.png"/>
          <p:cNvPicPr>
            <a:picLocks noChangeAspect="1"/>
          </p:cNvPicPr>
          <p:nvPr/>
        </p:nvPicPr>
        <p:blipFill>
          <a:blip r:embed="rId8"/>
          <a:stretch>
            <a:fillRect/>
          </a:stretch>
        </p:blipFill>
        <p:spPr>
          <a:xfrm>
            <a:off x="2377440" y="3986784"/>
            <a:ext cx="1783080" cy="660400"/>
          </a:xfrm>
          <a:prstGeom prst="rect">
            <a:avLst/>
          </a:prstGeom>
        </p:spPr>
      </p:pic>
      <p:sp>
        <p:nvSpPr>
          <p:cNvPr id="17454" name="TextBox 17453"/>
          <p:cNvSpPr txBox="1"/>
          <p:nvPr/>
        </p:nvSpPr>
        <p:spPr>
          <a:xfrm>
            <a:off x="4480560" y="3730752"/>
            <a:ext cx="2057400" cy="201168"/>
          </a:xfrm>
          <a:prstGeom prst="rect">
            <a:avLst/>
          </a:prstGeom>
          <a:noFill/>
        </p:spPr>
        <p:txBody>
          <a:bodyPr wrap="square" anchor="t" lIns="0" rIns="0" tIns="0" bIns="0">
            <a:spAutoFit/>
          </a:bodyPr>
          <a:lstStyle/>
          <a:p>
            <a:pPr algn="l">
              <a:lnSpc>
                <a:spcPct val="100000"/>
              </a:lnSpc>
            </a:pPr>
            <a:r>
              <a:rPr sz="1000" b="1" i="0">
                <a:solidFill>
                  <a:srgbClr val="3C4A57"/>
                </a:solidFill>
                <a:latin typeface="Calibri"/>
              </a:rPr>
              <a:t>An escalation note, EN / HI</a:t>
            </a:r>
          </a:p>
        </p:txBody>
      </p:sp>
      <p:sp>
        <p:nvSpPr>
          <p:cNvPr id="17455" name="Rounded Rectangle 17454"/>
          <p:cNvSpPr/>
          <p:nvPr/>
        </p:nvSpPr>
        <p:spPr>
          <a:xfrm>
            <a:off x="4434840" y="3941064"/>
            <a:ext cx="1874519" cy="754071"/>
          </a:xfrm>
          <a:prstGeom prst="roundRect">
            <a:avLst>
              <a:gd name="adj" fmla="val 9700"/>
            </a:avLst>
          </a:prstGeom>
          <a:solidFill>
            <a:srgbClr val="FFFFFF"/>
          </a:solidFill>
          <a:ln w="9525">
            <a:solidFill>
              <a:srgbClr val="D6DD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56" name="Picture 17455" descr="crop_briefing_full.png"/>
          <p:cNvPicPr>
            <a:picLocks noChangeAspect="1"/>
          </p:cNvPicPr>
          <p:nvPr/>
        </p:nvPicPr>
        <p:blipFill>
          <a:blip r:embed="rId9"/>
          <a:stretch>
            <a:fillRect/>
          </a:stretch>
        </p:blipFill>
        <p:spPr>
          <a:xfrm>
            <a:off x="4480560" y="3986784"/>
            <a:ext cx="1783080" cy="662631"/>
          </a:xfrm>
          <a:prstGeom prst="rect">
            <a:avLst/>
          </a:prstGeom>
        </p:spPr>
      </p:pic>
      <p:cxnSp>
        <p:nvCxnSpPr>
          <p:cNvPr id="17457" name="Connector 17456"/>
          <p:cNvCxnSpPr/>
          <p:nvPr/>
        </p:nvCxnSpPr>
        <p:spPr>
          <a:xfrm>
            <a:off x="2130552" y="4316984"/>
            <a:ext cx="173736" cy="0"/>
          </a:xfrm>
          <a:prstGeom prst="line">
            <a:avLst/>
          </a:prstGeom>
          <a:ln w="25400">
            <a:solidFill>
              <a:srgbClr val="0F2A4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458" name="Connector 17457"/>
          <p:cNvCxnSpPr/>
          <p:nvPr/>
        </p:nvCxnSpPr>
        <p:spPr>
          <a:xfrm>
            <a:off x="4233672" y="4316984"/>
            <a:ext cx="173736" cy="0"/>
          </a:xfrm>
          <a:prstGeom prst="line">
            <a:avLst/>
          </a:prstGeom>
          <a:ln w="25400">
            <a:solidFill>
              <a:srgbClr val="0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459" name="Rounded Rectangle 17458"/>
          <p:cNvSpPr/>
          <p:nvPr/>
        </p:nvSpPr>
        <p:spPr>
          <a:xfrm>
            <a:off x="274320" y="4956048"/>
            <a:ext cx="6035040" cy="310896"/>
          </a:xfrm>
          <a:prstGeom prst="roundRect">
            <a:avLst>
              <a:gd name="adj" fmla="val 50000"/>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60" name="TextBox 17459"/>
          <p:cNvSpPr txBox="1"/>
          <p:nvPr/>
        </p:nvSpPr>
        <p:spPr>
          <a:xfrm>
            <a:off x="420623" y="5001768"/>
            <a:ext cx="5742431" cy="219456"/>
          </a:xfrm>
          <a:prstGeom prst="rect">
            <a:avLst/>
          </a:prstGeom>
          <a:noFill/>
        </p:spPr>
        <p:txBody>
          <a:bodyPr wrap="square" anchor="t" lIns="0" rIns="0" tIns="0" bIns="0">
            <a:spAutoFit/>
          </a:bodyPr>
          <a:lstStyle/>
          <a:p>
            <a:pPr algn="l">
              <a:lnSpc>
                <a:spcPct val="100000"/>
              </a:lnSpc>
            </a:pPr>
            <a:r>
              <a:rPr sz="1100" b="1" i="0">
                <a:solidFill>
                  <a:srgbClr val="FFFFFF"/>
                </a:solidFill>
                <a:latin typeface="Calibri"/>
              </a:rPr>
              <a:t>Potential impact on the target audience</a:t>
            </a:r>
          </a:p>
        </p:txBody>
      </p:sp>
      <p:sp>
        <p:nvSpPr>
          <p:cNvPr id="17461" name="Oval 17460"/>
          <p:cNvSpPr/>
          <p:nvPr/>
        </p:nvSpPr>
        <p:spPr>
          <a:xfrm>
            <a:off x="274320" y="5358384"/>
            <a:ext cx="292608" cy="292608"/>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62" name="Picture 17461" descr="users.png"/>
          <p:cNvPicPr>
            <a:picLocks noChangeAspect="1"/>
          </p:cNvPicPr>
          <p:nvPr/>
        </p:nvPicPr>
        <p:blipFill>
          <a:blip r:embed="rId10"/>
          <a:stretch>
            <a:fillRect/>
          </a:stretch>
        </p:blipFill>
        <p:spPr>
          <a:xfrm>
            <a:off x="338693" y="5422757"/>
            <a:ext cx="163860" cy="163860"/>
          </a:xfrm>
          <a:prstGeom prst="rect">
            <a:avLst/>
          </a:prstGeom>
        </p:spPr>
      </p:pic>
      <p:sp>
        <p:nvSpPr>
          <p:cNvPr id="17463" name="TextBox 17462"/>
          <p:cNvSpPr txBox="1"/>
          <p:nvPr/>
        </p:nvSpPr>
        <p:spPr>
          <a:xfrm>
            <a:off x="694944" y="5349240"/>
            <a:ext cx="5614416" cy="329184"/>
          </a:xfrm>
          <a:prstGeom prst="rect">
            <a:avLst/>
          </a:prstGeom>
          <a:noFill/>
        </p:spPr>
        <p:txBody>
          <a:bodyPr wrap="square" anchor="t" lIns="0" rIns="0" tIns="0" bIns="0">
            <a:spAutoFit/>
          </a:bodyPr>
          <a:lstStyle/>
          <a:p>
            <a:pPr algn="l">
              <a:lnSpc>
                <a:spcPct val="98000"/>
              </a:lnSpc>
            </a:pPr>
            <a:r>
              <a:rPr sz="1000" b="1" i="0">
                <a:solidFill>
                  <a:srgbClr val="16202A"/>
                </a:solidFill>
                <a:latin typeface="Calibri"/>
              </a:rPr>
              <a:t>IPMD monitoring officers — </a:t>
            </a:r>
            <a:r>
              <a:rPr sz="1000" b="0" i="0">
                <a:solidFill>
                  <a:srgbClr val="3C4A57"/>
                </a:solidFill>
                <a:latin typeface="Calibri"/>
              </a:rPr>
              <a:t>which projects to escalate this month, and why: computed, not compiled</a:t>
            </a:r>
          </a:p>
        </p:txBody>
      </p:sp>
      <p:sp>
        <p:nvSpPr>
          <p:cNvPr id="17464" name="Oval 17463"/>
          <p:cNvSpPr/>
          <p:nvPr/>
        </p:nvSpPr>
        <p:spPr>
          <a:xfrm>
            <a:off x="274320" y="5687568"/>
            <a:ext cx="292608" cy="292608"/>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65" name="Picture 17464" descr="building.png"/>
          <p:cNvPicPr>
            <a:picLocks noChangeAspect="1"/>
          </p:cNvPicPr>
          <p:nvPr/>
        </p:nvPicPr>
        <p:blipFill>
          <a:blip r:embed="rId11"/>
          <a:stretch>
            <a:fillRect/>
          </a:stretch>
        </p:blipFill>
        <p:spPr>
          <a:xfrm>
            <a:off x="338693" y="5751941"/>
            <a:ext cx="163860" cy="163860"/>
          </a:xfrm>
          <a:prstGeom prst="rect">
            <a:avLst/>
          </a:prstGeom>
        </p:spPr>
      </p:pic>
      <p:sp>
        <p:nvSpPr>
          <p:cNvPr id="17466" name="TextBox 17465"/>
          <p:cNvSpPr txBox="1"/>
          <p:nvPr/>
        </p:nvSpPr>
        <p:spPr>
          <a:xfrm>
            <a:off x="694944" y="5678424"/>
            <a:ext cx="5614416" cy="329184"/>
          </a:xfrm>
          <a:prstGeom prst="rect">
            <a:avLst/>
          </a:prstGeom>
          <a:noFill/>
        </p:spPr>
        <p:txBody>
          <a:bodyPr wrap="square" anchor="t" lIns="0" rIns="0" tIns="0" bIns="0">
            <a:spAutoFit/>
          </a:bodyPr>
          <a:lstStyle/>
          <a:p>
            <a:pPr algn="l">
              <a:lnSpc>
                <a:spcPct val="98000"/>
              </a:lnSpc>
            </a:pPr>
            <a:r>
              <a:rPr sz="1000" b="1" i="0">
                <a:solidFill>
                  <a:srgbClr val="16202A"/>
                </a:solidFill>
                <a:latin typeface="Calibri"/>
              </a:rPr>
              <a:t>Line ministries and PMG cells — </a:t>
            </a:r>
            <a:r>
              <a:rPr sz="1000" b="0" i="0">
                <a:solidFill>
                  <a:srgbClr val="3C4A57"/>
                </a:solidFill>
                <a:latin typeface="Calibri"/>
              </a:rPr>
              <a:t>a finish window and reasons per project, instead of a promised date</a:t>
            </a:r>
          </a:p>
        </p:txBody>
      </p:sp>
      <p:sp>
        <p:nvSpPr>
          <p:cNvPr id="17467" name="Oval 17466"/>
          <p:cNvSpPr/>
          <p:nvPr/>
        </p:nvSpPr>
        <p:spPr>
          <a:xfrm>
            <a:off x="274320" y="6016752"/>
            <a:ext cx="292608" cy="292608"/>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68" name="Picture 17467" descr="microscope.png"/>
          <p:cNvPicPr>
            <a:picLocks noChangeAspect="1"/>
          </p:cNvPicPr>
          <p:nvPr/>
        </p:nvPicPr>
        <p:blipFill>
          <a:blip r:embed="rId12"/>
          <a:stretch>
            <a:fillRect/>
          </a:stretch>
        </p:blipFill>
        <p:spPr>
          <a:xfrm>
            <a:off x="338693" y="6081125"/>
            <a:ext cx="163860" cy="163860"/>
          </a:xfrm>
          <a:prstGeom prst="rect">
            <a:avLst/>
          </a:prstGeom>
        </p:spPr>
      </p:pic>
      <p:sp>
        <p:nvSpPr>
          <p:cNvPr id="17469" name="TextBox 17468"/>
          <p:cNvSpPr txBox="1"/>
          <p:nvPr/>
        </p:nvSpPr>
        <p:spPr>
          <a:xfrm>
            <a:off x="694944" y="6007608"/>
            <a:ext cx="5614416" cy="329184"/>
          </a:xfrm>
          <a:prstGeom prst="rect">
            <a:avLst/>
          </a:prstGeom>
          <a:noFill/>
        </p:spPr>
        <p:txBody>
          <a:bodyPr wrap="square" anchor="t" lIns="0" rIns="0" tIns="0" bIns="0">
            <a:spAutoFit/>
          </a:bodyPr>
          <a:lstStyle/>
          <a:p>
            <a:pPr algn="l">
              <a:lnSpc>
                <a:spcPct val="98000"/>
              </a:lnSpc>
            </a:pPr>
            <a:r>
              <a:rPr sz="1000" b="1" i="0">
                <a:solidFill>
                  <a:srgbClr val="16202A"/>
                </a:solidFill>
                <a:latin typeface="Calibri"/>
              </a:rPr>
              <a:t>DIID statisticians — </a:t>
            </a:r>
            <a:r>
              <a:rPr sz="1000" b="0" i="0">
                <a:solidFill>
                  <a:srgbClr val="3C4A57"/>
                </a:solidFill>
                <a:latin typeface="Calibri"/>
              </a:rPr>
              <a:t>every number can be re-run; models, baselines and limits are written down</a:t>
            </a:r>
          </a:p>
        </p:txBody>
      </p:sp>
      <p:sp>
        <p:nvSpPr>
          <p:cNvPr id="17470" name="Rounded Rectangle 17469"/>
          <p:cNvSpPr/>
          <p:nvPr/>
        </p:nvSpPr>
        <p:spPr>
          <a:xfrm>
            <a:off x="6583680" y="3456432"/>
            <a:ext cx="5349240" cy="310896"/>
          </a:xfrm>
          <a:prstGeom prst="roundRect">
            <a:avLst>
              <a:gd name="adj" fmla="val 50000"/>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71" name="TextBox 17470"/>
          <p:cNvSpPr txBox="1"/>
          <p:nvPr/>
        </p:nvSpPr>
        <p:spPr>
          <a:xfrm>
            <a:off x="6729984" y="3502151"/>
            <a:ext cx="5056631" cy="219456"/>
          </a:xfrm>
          <a:prstGeom prst="rect">
            <a:avLst/>
          </a:prstGeom>
          <a:noFill/>
        </p:spPr>
        <p:txBody>
          <a:bodyPr wrap="square" anchor="t" lIns="0" rIns="0" tIns="0" bIns="0">
            <a:spAutoFit/>
          </a:bodyPr>
          <a:lstStyle/>
          <a:p>
            <a:pPr algn="l">
              <a:lnSpc>
                <a:spcPct val="100000"/>
              </a:lnSpc>
            </a:pPr>
            <a:r>
              <a:rPr sz="1100" b="1" i="0">
                <a:solidFill>
                  <a:srgbClr val="FFFFFF"/>
                </a:solidFill>
                <a:latin typeface="Calibri"/>
              </a:rPr>
              <a:t>Benefits of the solution (social, economic, environmental, etc.)</a:t>
            </a:r>
          </a:p>
        </p:txBody>
      </p:sp>
      <p:sp>
        <p:nvSpPr>
          <p:cNvPr id="17472" name="Oval 17471"/>
          <p:cNvSpPr/>
          <p:nvPr/>
        </p:nvSpPr>
        <p:spPr>
          <a:xfrm>
            <a:off x="6583680" y="3858768"/>
            <a:ext cx="347472" cy="347472"/>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73" name="Picture 17472" descr="scale.png"/>
          <p:cNvPicPr>
            <a:picLocks noChangeAspect="1"/>
          </p:cNvPicPr>
          <p:nvPr/>
        </p:nvPicPr>
        <p:blipFill>
          <a:blip r:embed="rId13"/>
          <a:stretch>
            <a:fillRect/>
          </a:stretch>
        </p:blipFill>
        <p:spPr>
          <a:xfrm>
            <a:off x="6660123" y="3935211"/>
            <a:ext cx="194584" cy="194584"/>
          </a:xfrm>
          <a:prstGeom prst="rect">
            <a:avLst/>
          </a:prstGeom>
        </p:spPr>
      </p:pic>
      <p:sp>
        <p:nvSpPr>
          <p:cNvPr id="17474" name="TextBox 17473"/>
          <p:cNvSpPr txBox="1"/>
          <p:nvPr/>
        </p:nvSpPr>
        <p:spPr>
          <a:xfrm>
            <a:off x="7059168" y="3849624"/>
            <a:ext cx="4873752" cy="512064"/>
          </a:xfrm>
          <a:prstGeom prst="rect">
            <a:avLst/>
          </a:prstGeom>
          <a:noFill/>
        </p:spPr>
        <p:txBody>
          <a:bodyPr wrap="square" anchor="t" lIns="0" rIns="0" tIns="0" bIns="0">
            <a:spAutoFit/>
          </a:bodyPr>
          <a:lstStyle/>
          <a:p>
            <a:pPr algn="l">
              <a:lnSpc>
                <a:spcPct val="98000"/>
              </a:lnSpc>
            </a:pPr>
            <a:r>
              <a:rPr sz="1100" b="1" i="0">
                <a:solidFill>
                  <a:srgbClr val="16202A"/>
                </a:solidFill>
                <a:latin typeface="Calibri"/>
              </a:rPr>
              <a:t>Governance — </a:t>
            </a:r>
            <a:r>
              <a:rPr sz="1100" b="0" i="0">
                <a:solidFill>
                  <a:srgbClr val="3C4A57"/>
                </a:solidFill>
                <a:latin typeface="Calibri"/>
              </a:rPr>
              <a:t>ranked, reasoned, contestable; every figure has an audit trail</a:t>
            </a:r>
          </a:p>
        </p:txBody>
      </p:sp>
      <p:sp>
        <p:nvSpPr>
          <p:cNvPr id="17475" name="Oval 17474"/>
          <p:cNvSpPr/>
          <p:nvPr/>
        </p:nvSpPr>
        <p:spPr>
          <a:xfrm>
            <a:off x="6583680" y="4352544"/>
            <a:ext cx="347472" cy="347472"/>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76" name="Picture 17475" descr="cash.png"/>
          <p:cNvPicPr>
            <a:picLocks noChangeAspect="1"/>
          </p:cNvPicPr>
          <p:nvPr/>
        </p:nvPicPr>
        <p:blipFill>
          <a:blip r:embed="rId14"/>
          <a:stretch>
            <a:fillRect/>
          </a:stretch>
        </p:blipFill>
        <p:spPr>
          <a:xfrm>
            <a:off x="6660123" y="4428987"/>
            <a:ext cx="194584" cy="194584"/>
          </a:xfrm>
          <a:prstGeom prst="rect">
            <a:avLst/>
          </a:prstGeom>
        </p:spPr>
      </p:pic>
      <p:sp>
        <p:nvSpPr>
          <p:cNvPr id="17477" name="TextBox 17476"/>
          <p:cNvSpPr txBox="1"/>
          <p:nvPr/>
        </p:nvSpPr>
        <p:spPr>
          <a:xfrm>
            <a:off x="7059168" y="4343400"/>
            <a:ext cx="4873752" cy="512064"/>
          </a:xfrm>
          <a:prstGeom prst="rect">
            <a:avLst/>
          </a:prstGeom>
          <a:noFill/>
        </p:spPr>
        <p:txBody>
          <a:bodyPr wrap="square" anchor="t" lIns="0" rIns="0" tIns="0" bIns="0">
            <a:spAutoFit/>
          </a:bodyPr>
          <a:lstStyle/>
          <a:p>
            <a:pPr algn="l">
              <a:lnSpc>
                <a:spcPct val="98000"/>
              </a:lnSpc>
            </a:pPr>
            <a:r>
              <a:rPr sz="1100" b="1" i="0">
                <a:solidFill>
                  <a:srgbClr val="16202A"/>
                </a:solidFill>
                <a:latin typeface="Calibri"/>
              </a:rPr>
              <a:t>Economic — </a:t>
            </a:r>
            <a:r>
              <a:rPr sz="1100" b="0" i="0">
                <a:solidFill>
                  <a:srgbClr val="3C4A57"/>
                </a:solidFill>
                <a:latin typeface="Calibri"/>
              </a:rPr>
              <a:t>earlier intervention on a ₹42.78 lakh crore portfolio; the size of any saving is not claimed</a:t>
            </a:r>
          </a:p>
        </p:txBody>
      </p:sp>
      <p:sp>
        <p:nvSpPr>
          <p:cNvPr id="17478" name="Oval 17477"/>
          <p:cNvSpPr/>
          <p:nvPr/>
        </p:nvSpPr>
        <p:spPr>
          <a:xfrm>
            <a:off x="6583680" y="4846320"/>
            <a:ext cx="347472" cy="347472"/>
          </a:xfrm>
          <a:prstGeom prst="ellipse">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79" name="Picture 17478" descr="flask.png"/>
          <p:cNvPicPr>
            <a:picLocks noChangeAspect="1"/>
          </p:cNvPicPr>
          <p:nvPr/>
        </p:nvPicPr>
        <p:blipFill>
          <a:blip r:embed="rId15"/>
          <a:stretch>
            <a:fillRect/>
          </a:stretch>
        </p:blipFill>
        <p:spPr>
          <a:xfrm>
            <a:off x="6660123" y="4922763"/>
            <a:ext cx="194584" cy="194584"/>
          </a:xfrm>
          <a:prstGeom prst="rect">
            <a:avLst/>
          </a:prstGeom>
        </p:spPr>
      </p:pic>
      <p:sp>
        <p:nvSpPr>
          <p:cNvPr id="17480" name="TextBox 17479"/>
          <p:cNvSpPr txBox="1"/>
          <p:nvPr/>
        </p:nvSpPr>
        <p:spPr>
          <a:xfrm>
            <a:off x="7059168" y="4837176"/>
            <a:ext cx="4873752" cy="512064"/>
          </a:xfrm>
          <a:prstGeom prst="rect">
            <a:avLst/>
          </a:prstGeom>
          <a:noFill/>
        </p:spPr>
        <p:txBody>
          <a:bodyPr wrap="square" anchor="t" lIns="0" rIns="0" tIns="0" bIns="0">
            <a:spAutoFit/>
          </a:bodyPr>
          <a:lstStyle/>
          <a:p>
            <a:pPr algn="l">
              <a:lnSpc>
                <a:spcPct val="98000"/>
              </a:lnSpc>
            </a:pPr>
            <a:r>
              <a:rPr sz="1100" b="1" i="0">
                <a:solidFill>
                  <a:srgbClr val="9A6A00"/>
                </a:solidFill>
                <a:latin typeface="Calibri"/>
              </a:rPr>
              <a:t>The pilot will measure — </a:t>
            </a:r>
            <a:r>
              <a:rPr sz="1100" b="0" i="0">
                <a:solidFill>
                  <a:srgbClr val="3C4A57"/>
                </a:solidFill>
                <a:latin typeface="Calibri"/>
              </a:rPr>
              <a:t>officer review time per month · escalations raised before the slip · window hit-rate against real completions</a:t>
            </a:r>
          </a:p>
        </p:txBody>
      </p:sp>
      <p:sp>
        <p:nvSpPr>
          <p:cNvPr id="17481" name="Oval 17480"/>
          <p:cNvSpPr/>
          <p:nvPr/>
        </p:nvSpPr>
        <p:spPr>
          <a:xfrm>
            <a:off x="6583680" y="5340096"/>
            <a:ext cx="347472" cy="347472"/>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82" name="Picture 17481" descr="language.png"/>
          <p:cNvPicPr>
            <a:picLocks noChangeAspect="1"/>
          </p:cNvPicPr>
          <p:nvPr/>
        </p:nvPicPr>
        <p:blipFill>
          <a:blip r:embed="rId16"/>
          <a:stretch>
            <a:fillRect/>
          </a:stretch>
        </p:blipFill>
        <p:spPr>
          <a:xfrm>
            <a:off x="6660123" y="5416539"/>
            <a:ext cx="194584" cy="194584"/>
          </a:xfrm>
          <a:prstGeom prst="rect">
            <a:avLst/>
          </a:prstGeom>
        </p:spPr>
      </p:pic>
      <p:sp>
        <p:nvSpPr>
          <p:cNvPr id="17483" name="TextBox 17482"/>
          <p:cNvSpPr txBox="1"/>
          <p:nvPr/>
        </p:nvSpPr>
        <p:spPr>
          <a:xfrm>
            <a:off x="7059168" y="5330952"/>
            <a:ext cx="4873752" cy="512064"/>
          </a:xfrm>
          <a:prstGeom prst="rect">
            <a:avLst/>
          </a:prstGeom>
          <a:noFill/>
        </p:spPr>
        <p:txBody>
          <a:bodyPr wrap="square" anchor="t" lIns="0" rIns="0" tIns="0" bIns="0">
            <a:spAutoFit/>
          </a:bodyPr>
          <a:lstStyle/>
          <a:p>
            <a:pPr algn="l">
              <a:lnSpc>
                <a:spcPct val="98000"/>
              </a:lnSpc>
            </a:pPr>
            <a:r>
              <a:rPr sz="1100" b="1" i="0">
                <a:solidFill>
                  <a:srgbClr val="16202A"/>
                </a:solidFill>
                <a:latin typeface="Calibri"/>
              </a:rPr>
              <a:t>Social — </a:t>
            </a:r>
            <a:r>
              <a:rPr sz="1100" b="0" i="0">
                <a:solidFill>
                  <a:srgbClr val="3C4A57"/>
                </a:solidFill>
                <a:latin typeface="Calibri"/>
              </a:rPr>
              <a:t>English / Hindi briefs (Hindi templates, pending official review); plain-language reasons</a:t>
            </a:r>
          </a:p>
        </p:txBody>
      </p:sp>
      <p:sp>
        <p:nvSpPr>
          <p:cNvPr id="17484" name="Oval 17483"/>
          <p:cNvSpPr/>
          <p:nvPr/>
        </p:nvSpPr>
        <p:spPr>
          <a:xfrm>
            <a:off x="6583680" y="5833872"/>
            <a:ext cx="347472" cy="347472"/>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85" name="Picture 17484" descr="leaf.png"/>
          <p:cNvPicPr>
            <a:picLocks noChangeAspect="1"/>
          </p:cNvPicPr>
          <p:nvPr/>
        </p:nvPicPr>
        <p:blipFill>
          <a:blip r:embed="rId17"/>
          <a:stretch>
            <a:fillRect/>
          </a:stretch>
        </p:blipFill>
        <p:spPr>
          <a:xfrm>
            <a:off x="6660123" y="5910315"/>
            <a:ext cx="194584" cy="194584"/>
          </a:xfrm>
          <a:prstGeom prst="rect">
            <a:avLst/>
          </a:prstGeom>
        </p:spPr>
      </p:pic>
      <p:sp>
        <p:nvSpPr>
          <p:cNvPr id="17486" name="TextBox 17485"/>
          <p:cNvSpPr txBox="1"/>
          <p:nvPr/>
        </p:nvSpPr>
        <p:spPr>
          <a:xfrm>
            <a:off x="7059168" y="5824728"/>
            <a:ext cx="4873752" cy="512064"/>
          </a:xfrm>
          <a:prstGeom prst="rect">
            <a:avLst/>
          </a:prstGeom>
          <a:noFill/>
        </p:spPr>
        <p:txBody>
          <a:bodyPr wrap="square" anchor="t" lIns="0" rIns="0" tIns="0" bIns="0">
            <a:spAutoFit/>
          </a:bodyPr>
          <a:lstStyle/>
          <a:p>
            <a:pPr algn="l">
              <a:lnSpc>
                <a:spcPct val="98000"/>
              </a:lnSpc>
            </a:pPr>
            <a:r>
              <a:rPr sz="1100" b="1" i="0">
                <a:solidFill>
                  <a:srgbClr val="16202A"/>
                </a:solidFill>
                <a:latin typeface="Calibri"/>
              </a:rPr>
              <a:t>Environmental — </a:t>
            </a:r>
            <a:r>
              <a:rPr sz="1100" b="0" i="0">
                <a:solidFill>
                  <a:srgbClr val="3C4A57"/>
                </a:solidFill>
                <a:latin typeface="Calibri"/>
              </a:rPr>
              <a:t>no claim</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1">
                <a:latin typeface="Calibri"/>
              </a:rPr>
              <a:t>BUBBLESORT</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274320" y="6446520"/>
            <a:ext cx="4114800" cy="237744"/>
          </a:xfrm>
          <a:prstGeom prst="rect">
            <a:avLst/>
          </a:prstGeom>
          <a:noFill/>
        </p:spPr>
        <p:txBody>
          <a:bodyPr wrap="square" anchor="t" lIns="0" rIns="0" tIns="0" bIns="0">
            <a:spAutoFit/>
          </a:bodyPr>
          <a:lstStyle/>
          <a:p>
            <a:pPr algn="l">
              <a:lnSpc>
                <a:spcPct val="100000"/>
              </a:lnSpc>
            </a:pPr>
            <a:r>
              <a:rPr sz="1000" b="1" i="0">
                <a:solidFill>
                  <a:srgbClr val="FFFFFF"/>
                </a:solidFill>
                <a:latin typeface="Calibri"/>
              </a:rPr>
              <a:t>MEASURED, NOT PROMISED  ·  BUILT BESIDE PAIMANA</a:t>
            </a:r>
          </a:p>
        </p:txBody>
      </p:sp>
      <p:sp>
        <p:nvSpPr>
          <p:cNvPr id="17411" name="TextBox 17410"/>
          <p:cNvSpPr txBox="1"/>
          <p:nvPr/>
        </p:nvSpPr>
        <p:spPr>
          <a:xfrm>
            <a:off x="457200" y="1152144"/>
            <a:ext cx="11292840" cy="329184"/>
          </a:xfrm>
          <a:prstGeom prst="rect">
            <a:avLst/>
          </a:prstGeom>
          <a:noFill/>
        </p:spPr>
        <p:txBody>
          <a:bodyPr wrap="square" anchor="t" lIns="0" rIns="0" tIns="0" bIns="0">
            <a:spAutoFit/>
          </a:bodyPr>
          <a:lstStyle/>
          <a:p>
            <a:pPr algn="ctr">
              <a:lnSpc>
                <a:spcPct val="100000"/>
              </a:lnSpc>
            </a:pPr>
            <a:r>
              <a:rPr sz="1600" b="1" i="0">
                <a:solidFill>
                  <a:srgbClr val="0F2A44"/>
                </a:solidFill>
                <a:latin typeface="Calibri"/>
              </a:rPr>
              <a:t>What we read</a:t>
            </a:r>
            <a:r>
              <a:rPr sz="1600" b="1" i="0">
                <a:solidFill>
                  <a:srgbClr val="1F5F73"/>
                </a:solidFill>
                <a:latin typeface="Calibri"/>
              </a:rPr>
              <a:t>  —  and how anyone can re-run our numbers</a:t>
            </a:r>
          </a:p>
        </p:txBody>
      </p:sp>
      <p:sp>
        <p:nvSpPr>
          <p:cNvPr id="17412" name="Rounded Rectangle 17411"/>
          <p:cNvSpPr/>
          <p:nvPr/>
        </p:nvSpPr>
        <p:spPr>
          <a:xfrm>
            <a:off x="274320" y="1572768"/>
            <a:ext cx="11658600" cy="310896"/>
          </a:xfrm>
          <a:prstGeom prst="roundRect">
            <a:avLst>
              <a:gd name="adj" fmla="val 50000"/>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3" name="TextBox 17412"/>
          <p:cNvSpPr txBox="1"/>
          <p:nvPr/>
        </p:nvSpPr>
        <p:spPr>
          <a:xfrm>
            <a:off x="420623" y="1618488"/>
            <a:ext cx="11365992" cy="219456"/>
          </a:xfrm>
          <a:prstGeom prst="rect">
            <a:avLst/>
          </a:prstGeom>
          <a:noFill/>
        </p:spPr>
        <p:txBody>
          <a:bodyPr wrap="square" anchor="t" lIns="0" rIns="0" tIns="0" bIns="0">
            <a:spAutoFit/>
          </a:bodyPr>
          <a:lstStyle/>
          <a:p>
            <a:pPr algn="l">
              <a:lnSpc>
                <a:spcPct val="100000"/>
              </a:lnSpc>
            </a:pPr>
            <a:r>
              <a:rPr sz="1100" b="1" i="0">
                <a:solidFill>
                  <a:srgbClr val="FFFFFF"/>
                </a:solidFill>
                <a:latin typeface="Calibri"/>
              </a:rPr>
              <a:t>Details / Links of the reference and research work</a:t>
            </a:r>
          </a:p>
        </p:txBody>
      </p:sp>
      <p:sp>
        <p:nvSpPr>
          <p:cNvPr id="17414" name="TextBox 17413"/>
          <p:cNvSpPr txBox="1"/>
          <p:nvPr/>
        </p:nvSpPr>
        <p:spPr>
          <a:xfrm>
            <a:off x="274320" y="1938528"/>
            <a:ext cx="11612880" cy="201168"/>
          </a:xfrm>
          <a:prstGeom prst="rect">
            <a:avLst/>
          </a:prstGeom>
          <a:noFill/>
        </p:spPr>
        <p:txBody>
          <a:bodyPr wrap="square" anchor="t" lIns="0" rIns="0" tIns="0" bIns="0">
            <a:spAutoFit/>
          </a:bodyPr>
          <a:lstStyle/>
          <a:p>
            <a:pPr algn="l">
              <a:lnSpc>
                <a:spcPct val="100000"/>
              </a:lnSpc>
            </a:pPr>
            <a:r>
              <a:rPr sz="1000" b="1" i="0">
                <a:solidFill>
                  <a:srgbClr val="8A97A4"/>
                </a:solidFill>
                <a:latin typeface="Calibri"/>
              </a:rPr>
              <a:t>on this database</a:t>
            </a:r>
            <a:r>
              <a:rPr sz="1000" b="0" i="0">
                <a:solidFill>
                  <a:srgbClr val="8A97A4"/>
                </a:solidFill>
                <a:latin typeface="Calibri"/>
              </a:rPr>
              <a:t>   →   the methods we used   →   the Ministry's own documents</a:t>
            </a:r>
          </a:p>
        </p:txBody>
      </p:sp>
      <p:sp>
        <p:nvSpPr>
          <p:cNvPr id="17415" name="Hexagon 17414"/>
          <p:cNvSpPr/>
          <p:nvPr/>
        </p:nvSpPr>
        <p:spPr>
          <a:xfrm>
            <a:off x="274320" y="2194560"/>
            <a:ext cx="1572768" cy="1554480"/>
          </a:xfrm>
          <a:prstGeom prst="hexagon">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6" name="Oval 17415"/>
          <p:cNvSpPr/>
          <p:nvPr/>
        </p:nvSpPr>
        <p:spPr>
          <a:xfrm>
            <a:off x="868680" y="2286000"/>
            <a:ext cx="384048" cy="384048"/>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17" name="Picture 17416" descr="book.png"/>
          <p:cNvPicPr>
            <a:picLocks noChangeAspect="1"/>
          </p:cNvPicPr>
          <p:nvPr/>
        </p:nvPicPr>
        <p:blipFill>
          <a:blip r:embed="rId4"/>
          <a:stretch>
            <a:fillRect/>
          </a:stretch>
        </p:blipFill>
        <p:spPr>
          <a:xfrm>
            <a:off x="953170" y="2370490"/>
            <a:ext cx="215066" cy="215066"/>
          </a:xfrm>
          <a:prstGeom prst="rect">
            <a:avLst/>
          </a:prstGeom>
        </p:spPr>
      </p:pic>
      <p:sp>
        <p:nvSpPr>
          <p:cNvPr id="17418" name="TextBox 17417"/>
          <p:cNvSpPr txBox="1"/>
          <p:nvPr/>
        </p:nvSpPr>
        <p:spPr>
          <a:xfrm>
            <a:off x="457200" y="2724912"/>
            <a:ext cx="1207007" cy="219456"/>
          </a:xfrm>
          <a:prstGeom prst="rect">
            <a:avLst/>
          </a:prstGeom>
          <a:noFill/>
        </p:spPr>
        <p:txBody>
          <a:bodyPr wrap="square" anchor="t" lIns="0" rIns="0" tIns="0" bIns="0">
            <a:spAutoFit/>
          </a:bodyPr>
          <a:lstStyle/>
          <a:p>
            <a:pPr algn="ctr">
              <a:lnSpc>
                <a:spcPct val="100000"/>
              </a:lnSpc>
            </a:pPr>
            <a:r>
              <a:rPr sz="1000" b="1" i="0">
                <a:solidFill>
                  <a:srgbClr val="0F2A44"/>
                </a:solidFill>
                <a:latin typeface="Calibri"/>
              </a:rPr>
              <a:t>Ram Singh (2010)</a:t>
            </a:r>
          </a:p>
        </p:txBody>
      </p:sp>
      <p:sp>
        <p:nvSpPr>
          <p:cNvPr id="17419" name="TextBox 17418"/>
          <p:cNvSpPr txBox="1"/>
          <p:nvPr/>
        </p:nvSpPr>
        <p:spPr>
          <a:xfrm>
            <a:off x="493776" y="2944368"/>
            <a:ext cx="1133856" cy="566928"/>
          </a:xfrm>
          <a:prstGeom prst="rect">
            <a:avLst/>
          </a:prstGeom>
          <a:noFill/>
        </p:spPr>
        <p:txBody>
          <a:bodyPr wrap="square" anchor="t" lIns="0" rIns="0" tIns="0" bIns="0">
            <a:spAutoFit/>
          </a:bodyPr>
          <a:lstStyle/>
          <a:p>
            <a:pPr algn="ctr">
              <a:lnSpc>
                <a:spcPct val="92000"/>
              </a:lnSpc>
            </a:pPr>
            <a:r>
              <a:rPr sz="1000" b="0" i="0">
                <a:solidFill>
                  <a:srgbClr val="3C4A57"/>
                </a:solidFill>
                <a:latin typeface="Calibri"/>
              </a:rPr>
              <a:t>894 MoSPI projects, 1992–2009: delays and overruns</a:t>
            </a:r>
          </a:p>
        </p:txBody>
      </p:sp>
      <p:sp>
        <p:nvSpPr>
          <p:cNvPr id="17420" name="TextBox 17419"/>
          <p:cNvSpPr txBox="1"/>
          <p:nvPr/>
        </p:nvSpPr>
        <p:spPr>
          <a:xfrm>
            <a:off x="457200" y="3511296"/>
            <a:ext cx="1207007" cy="201168"/>
          </a:xfrm>
          <a:prstGeom prst="rect">
            <a:avLst/>
          </a:prstGeom>
          <a:noFill/>
        </p:spPr>
        <p:txBody>
          <a:bodyPr wrap="square" anchor="t" lIns="0" rIns="0" tIns="0" bIns="0">
            <a:spAutoFit/>
          </a:bodyPr>
          <a:lstStyle/>
          <a:p>
            <a:pPr algn="ctr">
              <a:lnSpc>
                <a:spcPct val="100000"/>
              </a:lnSpc>
            </a:pPr>
            <a:r>
              <a:rPr sz="1000" b="1" i="0">
                <a:solidFill>
                  <a:srgbClr val="1F5F73"/>
                </a:solidFill>
                <a:latin typeface="Calibri"/>
                <a:hlinkClick r:id="rId5"/>
              </a:rPr>
              <a:t>LINK</a:t>
            </a:r>
          </a:p>
        </p:txBody>
      </p:sp>
      <p:sp>
        <p:nvSpPr>
          <p:cNvPr id="17421" name="Hexagon 17420"/>
          <p:cNvSpPr/>
          <p:nvPr/>
        </p:nvSpPr>
        <p:spPr>
          <a:xfrm>
            <a:off x="1952243" y="2194560"/>
            <a:ext cx="1572768" cy="1554480"/>
          </a:xfrm>
          <a:prstGeom prst="hexagon">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2" name="Oval 17421"/>
          <p:cNvSpPr/>
          <p:nvPr/>
        </p:nvSpPr>
        <p:spPr>
          <a:xfrm>
            <a:off x="2546603" y="2286000"/>
            <a:ext cx="384048" cy="384048"/>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23" name="Picture 17422" descr="book-2.png"/>
          <p:cNvPicPr>
            <a:picLocks noChangeAspect="1"/>
          </p:cNvPicPr>
          <p:nvPr/>
        </p:nvPicPr>
        <p:blipFill>
          <a:blip r:embed="rId6"/>
          <a:stretch>
            <a:fillRect/>
          </a:stretch>
        </p:blipFill>
        <p:spPr>
          <a:xfrm>
            <a:off x="2631094" y="2370490"/>
            <a:ext cx="215066" cy="215066"/>
          </a:xfrm>
          <a:prstGeom prst="rect">
            <a:avLst/>
          </a:prstGeom>
        </p:spPr>
      </p:pic>
      <p:sp>
        <p:nvSpPr>
          <p:cNvPr id="17424" name="TextBox 17423"/>
          <p:cNvSpPr txBox="1"/>
          <p:nvPr/>
        </p:nvSpPr>
        <p:spPr>
          <a:xfrm>
            <a:off x="2135124" y="2724912"/>
            <a:ext cx="1207007" cy="219456"/>
          </a:xfrm>
          <a:prstGeom prst="rect">
            <a:avLst/>
          </a:prstGeom>
          <a:noFill/>
        </p:spPr>
        <p:txBody>
          <a:bodyPr wrap="square" anchor="t" lIns="0" rIns="0" tIns="0" bIns="0">
            <a:spAutoFit/>
          </a:bodyPr>
          <a:lstStyle/>
          <a:p>
            <a:pPr algn="ctr">
              <a:lnSpc>
                <a:spcPct val="100000"/>
              </a:lnSpc>
            </a:pPr>
            <a:r>
              <a:rPr sz="1000" b="1" i="0">
                <a:solidFill>
                  <a:srgbClr val="0F2A44"/>
                </a:solidFill>
                <a:latin typeface="Calibri"/>
              </a:rPr>
              <a:t>Morris (1990)</a:t>
            </a:r>
          </a:p>
        </p:txBody>
      </p:sp>
      <p:sp>
        <p:nvSpPr>
          <p:cNvPr id="17425" name="TextBox 17424"/>
          <p:cNvSpPr txBox="1"/>
          <p:nvPr/>
        </p:nvSpPr>
        <p:spPr>
          <a:xfrm>
            <a:off x="2171700" y="2944368"/>
            <a:ext cx="1133856" cy="566928"/>
          </a:xfrm>
          <a:prstGeom prst="rect">
            <a:avLst/>
          </a:prstGeom>
          <a:noFill/>
        </p:spPr>
        <p:txBody>
          <a:bodyPr wrap="square" anchor="t" lIns="0" rIns="0" tIns="0" bIns="0">
            <a:spAutoFit/>
          </a:bodyPr>
          <a:lstStyle/>
          <a:p>
            <a:pPr algn="ctr">
              <a:lnSpc>
                <a:spcPct val="92000"/>
              </a:lnSpc>
            </a:pPr>
            <a:r>
              <a:rPr sz="1000" b="0" i="0">
                <a:solidFill>
                  <a:srgbClr val="3C4A57"/>
                </a:solidFill>
                <a:latin typeface="Calibri"/>
              </a:rPr>
              <a:t>EPW — early evidence on public-sector overruns</a:t>
            </a:r>
          </a:p>
        </p:txBody>
      </p:sp>
      <p:sp>
        <p:nvSpPr>
          <p:cNvPr id="17426" name="Hexagon 17425"/>
          <p:cNvSpPr/>
          <p:nvPr/>
        </p:nvSpPr>
        <p:spPr>
          <a:xfrm>
            <a:off x="3630168" y="2194560"/>
            <a:ext cx="1572768" cy="1554480"/>
          </a:xfrm>
          <a:prstGeom prst="hexagon">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7" name="Oval 17426"/>
          <p:cNvSpPr/>
          <p:nvPr/>
        </p:nvSpPr>
        <p:spPr>
          <a:xfrm>
            <a:off x="4224528" y="2286000"/>
            <a:ext cx="384048" cy="384048"/>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28" name="Picture 17427" descr="trending-up.png"/>
          <p:cNvPicPr>
            <a:picLocks noChangeAspect="1"/>
          </p:cNvPicPr>
          <p:nvPr/>
        </p:nvPicPr>
        <p:blipFill>
          <a:blip r:embed="rId7"/>
          <a:stretch>
            <a:fillRect/>
          </a:stretch>
        </p:blipFill>
        <p:spPr>
          <a:xfrm>
            <a:off x="4309018" y="2370490"/>
            <a:ext cx="215066" cy="215066"/>
          </a:xfrm>
          <a:prstGeom prst="rect">
            <a:avLst/>
          </a:prstGeom>
        </p:spPr>
      </p:pic>
      <p:sp>
        <p:nvSpPr>
          <p:cNvPr id="17429" name="TextBox 17428"/>
          <p:cNvSpPr txBox="1"/>
          <p:nvPr/>
        </p:nvSpPr>
        <p:spPr>
          <a:xfrm>
            <a:off x="3813048" y="2724912"/>
            <a:ext cx="1207007" cy="219456"/>
          </a:xfrm>
          <a:prstGeom prst="rect">
            <a:avLst/>
          </a:prstGeom>
          <a:noFill/>
        </p:spPr>
        <p:txBody>
          <a:bodyPr wrap="square" anchor="t" lIns="0" rIns="0" tIns="0" bIns="0">
            <a:spAutoFit/>
          </a:bodyPr>
          <a:lstStyle/>
          <a:p>
            <a:pPr algn="ctr">
              <a:lnSpc>
                <a:spcPct val="100000"/>
              </a:lnSpc>
            </a:pPr>
            <a:r>
              <a:rPr sz="1000" b="1" i="0">
                <a:solidFill>
                  <a:srgbClr val="0F2A44"/>
                </a:solidFill>
                <a:latin typeface="Calibri"/>
              </a:rPr>
              <a:t>Flyvbjerg (2006)</a:t>
            </a:r>
          </a:p>
        </p:txBody>
      </p:sp>
      <p:sp>
        <p:nvSpPr>
          <p:cNvPr id="17430" name="TextBox 17429"/>
          <p:cNvSpPr txBox="1"/>
          <p:nvPr/>
        </p:nvSpPr>
        <p:spPr>
          <a:xfrm>
            <a:off x="3849624" y="2944368"/>
            <a:ext cx="1133856" cy="566928"/>
          </a:xfrm>
          <a:prstGeom prst="rect">
            <a:avLst/>
          </a:prstGeom>
          <a:noFill/>
        </p:spPr>
        <p:txBody>
          <a:bodyPr wrap="square" anchor="t" lIns="0" rIns="0" tIns="0" bIns="0">
            <a:spAutoFit/>
          </a:bodyPr>
          <a:lstStyle/>
          <a:p>
            <a:pPr algn="ctr">
              <a:lnSpc>
                <a:spcPct val="92000"/>
              </a:lnSpc>
            </a:pPr>
            <a:r>
              <a:rPr sz="1000" b="0" i="0">
                <a:solidFill>
                  <a:srgbClr val="3C4A57"/>
                </a:solidFill>
                <a:latin typeface="Calibri"/>
              </a:rPr>
              <a:t>reference-class forecasting — our baseline</a:t>
            </a:r>
          </a:p>
        </p:txBody>
      </p:sp>
      <p:sp>
        <p:nvSpPr>
          <p:cNvPr id="17431" name="TextBox 17430"/>
          <p:cNvSpPr txBox="1"/>
          <p:nvPr/>
        </p:nvSpPr>
        <p:spPr>
          <a:xfrm>
            <a:off x="3813048" y="3511296"/>
            <a:ext cx="1207007" cy="201168"/>
          </a:xfrm>
          <a:prstGeom prst="rect">
            <a:avLst/>
          </a:prstGeom>
          <a:noFill/>
        </p:spPr>
        <p:txBody>
          <a:bodyPr wrap="square" anchor="t" lIns="0" rIns="0" tIns="0" bIns="0">
            <a:spAutoFit/>
          </a:bodyPr>
          <a:lstStyle/>
          <a:p>
            <a:pPr algn="ctr">
              <a:lnSpc>
                <a:spcPct val="100000"/>
              </a:lnSpc>
            </a:pPr>
            <a:r>
              <a:rPr sz="1000" b="1" i="0">
                <a:solidFill>
                  <a:srgbClr val="1F5F73"/>
                </a:solidFill>
                <a:latin typeface="Calibri"/>
                <a:hlinkClick r:id="rId8"/>
              </a:rPr>
              <a:t>LINK</a:t>
            </a:r>
          </a:p>
        </p:txBody>
      </p:sp>
      <p:sp>
        <p:nvSpPr>
          <p:cNvPr id="17432" name="Hexagon 17431"/>
          <p:cNvSpPr/>
          <p:nvPr/>
        </p:nvSpPr>
        <p:spPr>
          <a:xfrm>
            <a:off x="5308092" y="2194560"/>
            <a:ext cx="1572768" cy="1554480"/>
          </a:xfrm>
          <a:prstGeom prst="hexagon">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3" name="Oval 17432"/>
          <p:cNvSpPr/>
          <p:nvPr/>
        </p:nvSpPr>
        <p:spPr>
          <a:xfrm>
            <a:off x="5902452" y="2286000"/>
            <a:ext cx="384048" cy="384048"/>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34" name="Picture 17433" descr="hourglass.png"/>
          <p:cNvPicPr>
            <a:picLocks noChangeAspect="1"/>
          </p:cNvPicPr>
          <p:nvPr/>
        </p:nvPicPr>
        <p:blipFill>
          <a:blip r:embed="rId9"/>
          <a:stretch>
            <a:fillRect/>
          </a:stretch>
        </p:blipFill>
        <p:spPr>
          <a:xfrm>
            <a:off x="5986942" y="2370490"/>
            <a:ext cx="215066" cy="215066"/>
          </a:xfrm>
          <a:prstGeom prst="rect">
            <a:avLst/>
          </a:prstGeom>
        </p:spPr>
      </p:pic>
      <p:sp>
        <p:nvSpPr>
          <p:cNvPr id="17435" name="TextBox 17434"/>
          <p:cNvSpPr txBox="1"/>
          <p:nvPr/>
        </p:nvSpPr>
        <p:spPr>
          <a:xfrm>
            <a:off x="5490972" y="2724912"/>
            <a:ext cx="1207007" cy="219456"/>
          </a:xfrm>
          <a:prstGeom prst="rect">
            <a:avLst/>
          </a:prstGeom>
          <a:noFill/>
        </p:spPr>
        <p:txBody>
          <a:bodyPr wrap="square" anchor="t" lIns="0" rIns="0" tIns="0" bIns="0">
            <a:spAutoFit/>
          </a:bodyPr>
          <a:lstStyle/>
          <a:p>
            <a:pPr algn="ctr">
              <a:lnSpc>
                <a:spcPct val="100000"/>
              </a:lnSpc>
            </a:pPr>
            <a:r>
              <a:rPr sz="1000" b="1" i="0">
                <a:solidFill>
                  <a:srgbClr val="0F2A44"/>
                </a:solidFill>
                <a:latin typeface="Calibri"/>
              </a:rPr>
              <a:t>Wei (1992)</a:t>
            </a:r>
          </a:p>
        </p:txBody>
      </p:sp>
      <p:sp>
        <p:nvSpPr>
          <p:cNvPr id="17436" name="TextBox 17435"/>
          <p:cNvSpPr txBox="1"/>
          <p:nvPr/>
        </p:nvSpPr>
        <p:spPr>
          <a:xfrm>
            <a:off x="5527548" y="2944368"/>
            <a:ext cx="1133856" cy="566928"/>
          </a:xfrm>
          <a:prstGeom prst="rect">
            <a:avLst/>
          </a:prstGeom>
          <a:noFill/>
        </p:spPr>
        <p:txBody>
          <a:bodyPr wrap="square" anchor="t" lIns="0" rIns="0" tIns="0" bIns="0">
            <a:spAutoFit/>
          </a:bodyPr>
          <a:lstStyle/>
          <a:p>
            <a:pPr algn="ctr">
              <a:lnSpc>
                <a:spcPct val="92000"/>
              </a:lnSpc>
            </a:pPr>
            <a:r>
              <a:rPr sz="1000" b="0" i="0">
                <a:solidFill>
                  <a:srgbClr val="3C4A57"/>
                </a:solidFill>
                <a:latin typeface="Calibri"/>
              </a:rPr>
              <a:t>the survival model for projects not yet finished</a:t>
            </a:r>
          </a:p>
        </p:txBody>
      </p:sp>
      <p:sp>
        <p:nvSpPr>
          <p:cNvPr id="17437" name="TextBox 17436"/>
          <p:cNvSpPr txBox="1"/>
          <p:nvPr/>
        </p:nvSpPr>
        <p:spPr>
          <a:xfrm>
            <a:off x="5490972" y="3511296"/>
            <a:ext cx="1207007" cy="201168"/>
          </a:xfrm>
          <a:prstGeom prst="rect">
            <a:avLst/>
          </a:prstGeom>
          <a:noFill/>
        </p:spPr>
        <p:txBody>
          <a:bodyPr wrap="square" anchor="t" lIns="0" rIns="0" tIns="0" bIns="0">
            <a:spAutoFit/>
          </a:bodyPr>
          <a:lstStyle/>
          <a:p>
            <a:pPr algn="ctr">
              <a:lnSpc>
                <a:spcPct val="100000"/>
              </a:lnSpc>
            </a:pPr>
            <a:r>
              <a:rPr sz="1000" b="1" i="0">
                <a:solidFill>
                  <a:srgbClr val="1F5F73"/>
                </a:solidFill>
                <a:latin typeface="Calibri"/>
                <a:hlinkClick r:id="rId10"/>
              </a:rPr>
              <a:t>LINK</a:t>
            </a:r>
          </a:p>
        </p:txBody>
      </p:sp>
      <p:sp>
        <p:nvSpPr>
          <p:cNvPr id="17438" name="Hexagon 17437"/>
          <p:cNvSpPr/>
          <p:nvPr/>
        </p:nvSpPr>
        <p:spPr>
          <a:xfrm>
            <a:off x="6986016" y="2194560"/>
            <a:ext cx="1572768" cy="1554480"/>
          </a:xfrm>
          <a:prstGeom prst="hexagon">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9" name="Oval 17438"/>
          <p:cNvSpPr/>
          <p:nvPr/>
        </p:nvSpPr>
        <p:spPr>
          <a:xfrm>
            <a:off x="7580375" y="2286000"/>
            <a:ext cx="384048" cy="384048"/>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40" name="Picture 17439" descr="ruler.png"/>
          <p:cNvPicPr>
            <a:picLocks noChangeAspect="1"/>
          </p:cNvPicPr>
          <p:nvPr/>
        </p:nvPicPr>
        <p:blipFill>
          <a:blip r:embed="rId11"/>
          <a:stretch>
            <a:fillRect/>
          </a:stretch>
        </p:blipFill>
        <p:spPr>
          <a:xfrm>
            <a:off x="7664866" y="2370490"/>
            <a:ext cx="215066" cy="215066"/>
          </a:xfrm>
          <a:prstGeom prst="rect">
            <a:avLst/>
          </a:prstGeom>
        </p:spPr>
      </p:pic>
      <p:sp>
        <p:nvSpPr>
          <p:cNvPr id="17441" name="TextBox 17440"/>
          <p:cNvSpPr txBox="1"/>
          <p:nvPr/>
        </p:nvSpPr>
        <p:spPr>
          <a:xfrm>
            <a:off x="7168896" y="2724912"/>
            <a:ext cx="1207007" cy="219456"/>
          </a:xfrm>
          <a:prstGeom prst="rect">
            <a:avLst/>
          </a:prstGeom>
          <a:noFill/>
        </p:spPr>
        <p:txBody>
          <a:bodyPr wrap="square" anchor="t" lIns="0" rIns="0" tIns="0" bIns="0">
            <a:spAutoFit/>
          </a:bodyPr>
          <a:lstStyle/>
          <a:p>
            <a:pPr algn="ctr">
              <a:lnSpc>
                <a:spcPct val="100000"/>
              </a:lnSpc>
            </a:pPr>
            <a:r>
              <a:rPr sz="1000" b="1" i="0">
                <a:solidFill>
                  <a:srgbClr val="0F2A44"/>
                </a:solidFill>
                <a:latin typeface="Calibri"/>
              </a:rPr>
              <a:t>Romano et al. (2019)</a:t>
            </a:r>
          </a:p>
        </p:txBody>
      </p:sp>
      <p:sp>
        <p:nvSpPr>
          <p:cNvPr id="17442" name="TextBox 17441"/>
          <p:cNvSpPr txBox="1"/>
          <p:nvPr/>
        </p:nvSpPr>
        <p:spPr>
          <a:xfrm>
            <a:off x="7205472" y="2944368"/>
            <a:ext cx="1133856" cy="566928"/>
          </a:xfrm>
          <a:prstGeom prst="rect">
            <a:avLst/>
          </a:prstGeom>
          <a:noFill/>
        </p:spPr>
        <p:txBody>
          <a:bodyPr wrap="square" anchor="t" lIns="0" rIns="0" tIns="0" bIns="0">
            <a:spAutoFit/>
          </a:bodyPr>
          <a:lstStyle/>
          <a:p>
            <a:pPr algn="ctr">
              <a:lnSpc>
                <a:spcPct val="92000"/>
              </a:lnSpc>
            </a:pPr>
            <a:r>
              <a:rPr sz="1000" b="0" i="0">
                <a:solidFill>
                  <a:srgbClr val="3C4A57"/>
                </a:solidFill>
                <a:latin typeface="Calibri"/>
              </a:rPr>
              <a:t>conformal calibration — checking the window's hit-rate</a:t>
            </a:r>
          </a:p>
        </p:txBody>
      </p:sp>
      <p:sp>
        <p:nvSpPr>
          <p:cNvPr id="17443" name="TextBox 17442"/>
          <p:cNvSpPr txBox="1"/>
          <p:nvPr/>
        </p:nvSpPr>
        <p:spPr>
          <a:xfrm>
            <a:off x="7168896" y="3511296"/>
            <a:ext cx="1207007" cy="201168"/>
          </a:xfrm>
          <a:prstGeom prst="rect">
            <a:avLst/>
          </a:prstGeom>
          <a:noFill/>
        </p:spPr>
        <p:txBody>
          <a:bodyPr wrap="square" anchor="t" lIns="0" rIns="0" tIns="0" bIns="0">
            <a:spAutoFit/>
          </a:bodyPr>
          <a:lstStyle/>
          <a:p>
            <a:pPr algn="ctr">
              <a:lnSpc>
                <a:spcPct val="100000"/>
              </a:lnSpc>
            </a:pPr>
            <a:r>
              <a:rPr sz="1000" b="1" i="0">
                <a:solidFill>
                  <a:srgbClr val="1F5F73"/>
                </a:solidFill>
                <a:latin typeface="Calibri"/>
                <a:hlinkClick r:id="rId12"/>
              </a:rPr>
              <a:t>LINK</a:t>
            </a:r>
          </a:p>
        </p:txBody>
      </p:sp>
      <p:sp>
        <p:nvSpPr>
          <p:cNvPr id="17444" name="Hexagon 17443"/>
          <p:cNvSpPr/>
          <p:nvPr/>
        </p:nvSpPr>
        <p:spPr>
          <a:xfrm>
            <a:off x="8663940" y="2194560"/>
            <a:ext cx="1572768" cy="1554480"/>
          </a:xfrm>
          <a:prstGeom prst="hexagon">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5" name="Oval 17444"/>
          <p:cNvSpPr/>
          <p:nvPr/>
        </p:nvSpPr>
        <p:spPr>
          <a:xfrm>
            <a:off x="9258300" y="2286000"/>
            <a:ext cx="384048" cy="384048"/>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46" name="Picture 17445" descr="search.png"/>
          <p:cNvPicPr>
            <a:picLocks noChangeAspect="1"/>
          </p:cNvPicPr>
          <p:nvPr/>
        </p:nvPicPr>
        <p:blipFill>
          <a:blip r:embed="rId13"/>
          <a:stretch>
            <a:fillRect/>
          </a:stretch>
        </p:blipFill>
        <p:spPr>
          <a:xfrm>
            <a:off x="9342790" y="2370490"/>
            <a:ext cx="215066" cy="215066"/>
          </a:xfrm>
          <a:prstGeom prst="rect">
            <a:avLst/>
          </a:prstGeom>
        </p:spPr>
      </p:pic>
      <p:sp>
        <p:nvSpPr>
          <p:cNvPr id="17447" name="TextBox 17446"/>
          <p:cNvSpPr txBox="1"/>
          <p:nvPr/>
        </p:nvSpPr>
        <p:spPr>
          <a:xfrm>
            <a:off x="8846820" y="2724912"/>
            <a:ext cx="1207007" cy="219456"/>
          </a:xfrm>
          <a:prstGeom prst="rect">
            <a:avLst/>
          </a:prstGeom>
          <a:noFill/>
        </p:spPr>
        <p:txBody>
          <a:bodyPr wrap="square" anchor="t" lIns="0" rIns="0" tIns="0" bIns="0">
            <a:spAutoFit/>
          </a:bodyPr>
          <a:lstStyle/>
          <a:p>
            <a:pPr algn="ctr">
              <a:lnSpc>
                <a:spcPct val="100000"/>
              </a:lnSpc>
            </a:pPr>
            <a:r>
              <a:rPr sz="1000" b="1" i="0">
                <a:solidFill>
                  <a:srgbClr val="0F2A44"/>
                </a:solidFill>
                <a:latin typeface="Calibri"/>
              </a:rPr>
              <a:t>McCrary (2008)</a:t>
            </a:r>
          </a:p>
        </p:txBody>
      </p:sp>
      <p:sp>
        <p:nvSpPr>
          <p:cNvPr id="17448" name="TextBox 17447"/>
          <p:cNvSpPr txBox="1"/>
          <p:nvPr/>
        </p:nvSpPr>
        <p:spPr>
          <a:xfrm>
            <a:off x="8883396" y="2944368"/>
            <a:ext cx="1133856" cy="566928"/>
          </a:xfrm>
          <a:prstGeom prst="rect">
            <a:avLst/>
          </a:prstGeom>
          <a:noFill/>
        </p:spPr>
        <p:txBody>
          <a:bodyPr wrap="square" anchor="t" lIns="0" rIns="0" tIns="0" bIns="0">
            <a:spAutoFit/>
          </a:bodyPr>
          <a:lstStyle/>
          <a:p>
            <a:pPr algn="ctr">
              <a:lnSpc>
                <a:spcPct val="92000"/>
              </a:lnSpc>
            </a:pPr>
            <a:r>
              <a:rPr sz="1000" b="0" i="0">
                <a:solidFill>
                  <a:srgbClr val="3C4A57"/>
                </a:solidFill>
                <a:latin typeface="Calibri"/>
              </a:rPr>
              <a:t>bunching test at the 20% CCEA threshold (null result)</a:t>
            </a:r>
          </a:p>
        </p:txBody>
      </p:sp>
      <p:sp>
        <p:nvSpPr>
          <p:cNvPr id="17449" name="TextBox 17448"/>
          <p:cNvSpPr txBox="1"/>
          <p:nvPr/>
        </p:nvSpPr>
        <p:spPr>
          <a:xfrm>
            <a:off x="8846820" y="3511296"/>
            <a:ext cx="1207007" cy="201168"/>
          </a:xfrm>
          <a:prstGeom prst="rect">
            <a:avLst/>
          </a:prstGeom>
          <a:noFill/>
        </p:spPr>
        <p:txBody>
          <a:bodyPr wrap="square" anchor="t" lIns="0" rIns="0" tIns="0" bIns="0">
            <a:spAutoFit/>
          </a:bodyPr>
          <a:lstStyle/>
          <a:p>
            <a:pPr algn="ctr">
              <a:lnSpc>
                <a:spcPct val="100000"/>
              </a:lnSpc>
            </a:pPr>
            <a:r>
              <a:rPr sz="1000" b="1" i="0">
                <a:solidFill>
                  <a:srgbClr val="1F5F73"/>
                </a:solidFill>
                <a:latin typeface="Calibri"/>
                <a:hlinkClick r:id="rId14"/>
              </a:rPr>
              <a:t>LINK</a:t>
            </a:r>
          </a:p>
        </p:txBody>
      </p:sp>
      <p:sp>
        <p:nvSpPr>
          <p:cNvPr id="17450" name="Hexagon 17449"/>
          <p:cNvSpPr/>
          <p:nvPr/>
        </p:nvSpPr>
        <p:spPr>
          <a:xfrm>
            <a:off x="10341864" y="2194560"/>
            <a:ext cx="1572768" cy="1554480"/>
          </a:xfrm>
          <a:prstGeom prst="hexagon">
            <a:avLst/>
          </a:prstGeom>
          <a:solidFill>
            <a:srgbClr val="E8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51" name="Oval 17450"/>
          <p:cNvSpPr/>
          <p:nvPr/>
        </p:nvSpPr>
        <p:spPr>
          <a:xfrm>
            <a:off x="10936224" y="2286000"/>
            <a:ext cx="384048" cy="384048"/>
          </a:xfrm>
          <a:prstGeom prst="ellipse">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52" name="Picture 17451" descr="building-bank.png"/>
          <p:cNvPicPr>
            <a:picLocks noChangeAspect="1"/>
          </p:cNvPicPr>
          <p:nvPr/>
        </p:nvPicPr>
        <p:blipFill>
          <a:blip r:embed="rId15"/>
          <a:stretch>
            <a:fillRect/>
          </a:stretch>
        </p:blipFill>
        <p:spPr>
          <a:xfrm>
            <a:off x="11020714" y="2370490"/>
            <a:ext cx="215066" cy="215066"/>
          </a:xfrm>
          <a:prstGeom prst="rect">
            <a:avLst/>
          </a:prstGeom>
        </p:spPr>
      </p:pic>
      <p:sp>
        <p:nvSpPr>
          <p:cNvPr id="17453" name="TextBox 17452"/>
          <p:cNvSpPr txBox="1"/>
          <p:nvPr/>
        </p:nvSpPr>
        <p:spPr>
          <a:xfrm>
            <a:off x="10524744" y="2724912"/>
            <a:ext cx="1207007" cy="219456"/>
          </a:xfrm>
          <a:prstGeom prst="rect">
            <a:avLst/>
          </a:prstGeom>
          <a:noFill/>
        </p:spPr>
        <p:txBody>
          <a:bodyPr wrap="square" anchor="t" lIns="0" rIns="0" tIns="0" bIns="0">
            <a:spAutoFit/>
          </a:bodyPr>
          <a:lstStyle/>
          <a:p>
            <a:pPr algn="ctr">
              <a:lnSpc>
                <a:spcPct val="100000"/>
              </a:lnSpc>
            </a:pPr>
            <a:r>
              <a:rPr sz="1000" b="1" i="0">
                <a:solidFill>
                  <a:srgbClr val="0F2A44"/>
                </a:solidFill>
                <a:latin typeface="Calibri"/>
              </a:rPr>
              <a:t>NIC · PIB · MoSPI</a:t>
            </a:r>
          </a:p>
        </p:txBody>
      </p:sp>
      <p:sp>
        <p:nvSpPr>
          <p:cNvPr id="17454" name="TextBox 17453"/>
          <p:cNvSpPr txBox="1"/>
          <p:nvPr/>
        </p:nvSpPr>
        <p:spPr>
          <a:xfrm>
            <a:off x="10561320" y="2944368"/>
            <a:ext cx="1133856" cy="566928"/>
          </a:xfrm>
          <a:prstGeom prst="rect">
            <a:avLst/>
          </a:prstGeom>
          <a:noFill/>
        </p:spPr>
        <p:txBody>
          <a:bodyPr wrap="square" anchor="t" lIns="0" rIns="0" tIns="0" bIns="0">
            <a:spAutoFit/>
          </a:bodyPr>
          <a:lstStyle/>
          <a:p>
            <a:pPr algn="ctr">
              <a:lnSpc>
                <a:spcPct val="92000"/>
              </a:lnSpc>
            </a:pPr>
            <a:r>
              <a:rPr sz="1000" b="0" i="0">
                <a:solidFill>
                  <a:srgbClr val="3C4A57"/>
                </a:solidFill>
                <a:latin typeface="Calibri"/>
              </a:rPr>
              <a:t>PAIMANA write-up (Oct 2025) · PIB release (Mar 2026) · April 2026 report</a:t>
            </a:r>
          </a:p>
        </p:txBody>
      </p:sp>
      <p:sp>
        <p:nvSpPr>
          <p:cNvPr id="17455" name="TextBox 17454"/>
          <p:cNvSpPr txBox="1"/>
          <p:nvPr/>
        </p:nvSpPr>
        <p:spPr>
          <a:xfrm>
            <a:off x="10524744" y="3511296"/>
            <a:ext cx="1207007" cy="201168"/>
          </a:xfrm>
          <a:prstGeom prst="rect">
            <a:avLst/>
          </a:prstGeom>
          <a:noFill/>
        </p:spPr>
        <p:txBody>
          <a:bodyPr wrap="square" anchor="t" lIns="0" rIns="0" tIns="0" bIns="0">
            <a:spAutoFit/>
          </a:bodyPr>
          <a:lstStyle/>
          <a:p>
            <a:pPr algn="ctr">
              <a:lnSpc>
                <a:spcPct val="100000"/>
              </a:lnSpc>
            </a:pPr>
            <a:r>
              <a:rPr sz="1000" b="1" i="0">
                <a:solidFill>
                  <a:srgbClr val="1F5F73"/>
                </a:solidFill>
                <a:latin typeface="Calibri"/>
                <a:hlinkClick r:id="rId16"/>
              </a:rPr>
              <a:t>LINK</a:t>
            </a:r>
          </a:p>
        </p:txBody>
      </p:sp>
      <p:sp>
        <p:nvSpPr>
          <p:cNvPr id="17456" name="Rounded Rectangle 17455"/>
          <p:cNvSpPr/>
          <p:nvPr/>
        </p:nvSpPr>
        <p:spPr>
          <a:xfrm>
            <a:off x="274320" y="3931920"/>
            <a:ext cx="5486400" cy="2350008"/>
          </a:xfrm>
          <a:prstGeom prst="roundRect">
            <a:avLst>
              <a:gd name="adj" fmla="val 5836"/>
            </a:avLst>
          </a:prstGeom>
          <a:solidFill>
            <a:srgbClr val="0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57" name="Oval 17456"/>
          <p:cNvSpPr/>
          <p:nvPr/>
        </p:nvSpPr>
        <p:spPr>
          <a:xfrm>
            <a:off x="411480" y="4041648"/>
            <a:ext cx="384048" cy="384048"/>
          </a:xfrm>
          <a:prstGeom prst="ellipse">
            <a:avLst/>
          </a:prstGeom>
          <a:solidFill>
            <a:srgbClr val="1F5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58" name="Picture 17457" descr="keyboard.png"/>
          <p:cNvPicPr>
            <a:picLocks noChangeAspect="1"/>
          </p:cNvPicPr>
          <p:nvPr/>
        </p:nvPicPr>
        <p:blipFill>
          <a:blip r:embed="rId17"/>
          <a:stretch>
            <a:fillRect/>
          </a:stretch>
        </p:blipFill>
        <p:spPr>
          <a:xfrm>
            <a:off x="495970" y="4126138"/>
            <a:ext cx="215066" cy="215066"/>
          </a:xfrm>
          <a:prstGeom prst="rect">
            <a:avLst/>
          </a:prstGeom>
        </p:spPr>
      </p:pic>
      <p:sp>
        <p:nvSpPr>
          <p:cNvPr id="17459" name="TextBox 17458"/>
          <p:cNvSpPr txBox="1"/>
          <p:nvPr/>
        </p:nvSpPr>
        <p:spPr>
          <a:xfrm>
            <a:off x="914400" y="4078224"/>
            <a:ext cx="4754880" cy="274320"/>
          </a:xfrm>
          <a:prstGeom prst="rect">
            <a:avLst/>
          </a:prstGeom>
          <a:noFill/>
        </p:spPr>
        <p:txBody>
          <a:bodyPr wrap="square" anchor="t" lIns="0" rIns="0" tIns="0" bIns="0">
            <a:spAutoFit/>
          </a:bodyPr>
          <a:lstStyle/>
          <a:p>
            <a:pPr algn="l">
              <a:lnSpc>
                <a:spcPct val="100000"/>
              </a:lnSpc>
            </a:pPr>
            <a:r>
              <a:rPr sz="1100" b="1" i="0">
                <a:solidFill>
                  <a:srgbClr val="FFFFFF"/>
                </a:solidFill>
                <a:latin typeface="Calibri"/>
              </a:rPr>
              <a:t>RERUN — three commands, every number on these slides comes back</a:t>
            </a:r>
          </a:p>
        </p:txBody>
      </p:sp>
      <p:sp>
        <p:nvSpPr>
          <p:cNvPr id="17460" name="TextBox 17459"/>
          <p:cNvSpPr txBox="1"/>
          <p:nvPr/>
        </p:nvSpPr>
        <p:spPr>
          <a:xfrm>
            <a:off x="411480" y="4480560"/>
            <a:ext cx="5212080" cy="1783080"/>
          </a:xfrm>
          <a:prstGeom prst="rect">
            <a:avLst/>
          </a:prstGeom>
          <a:noFill/>
        </p:spPr>
        <p:txBody>
          <a:bodyPr wrap="square" anchor="t" lIns="0" rIns="0" tIns="0" bIns="0">
            <a:spAutoFit/>
          </a:bodyPr>
          <a:lstStyle/>
          <a:p>
            <a:pPr algn="l">
              <a:lnSpc>
                <a:spcPct val="100000"/>
              </a:lnSpc>
              <a:spcAft>
                <a:spcPts val="200"/>
              </a:spcAft>
            </a:pPr>
            <a:r>
              <a:rPr sz="1000" b="0" i="0">
                <a:solidFill>
                  <a:srgbClr val="E6EBEF"/>
                </a:solidFill>
                <a:latin typeface="Consolas"/>
              </a:rPr>
              <a:t>github.com/amey-bauchkar/Prakalp-Drishti-</a:t>
            </a:r>
          </a:p>
          <a:p>
            <a:pPr algn="l">
              <a:lnSpc>
                <a:spcPct val="100000"/>
              </a:lnSpc>
              <a:spcAft>
                <a:spcPts val="200"/>
              </a:spcAft>
            </a:pPr>
            <a:r>
              <a:rPr sz="1000" b="0" i="0">
                <a:solidFill>
                  <a:srgbClr val="E6EBEF"/>
                </a:solidFill>
                <a:latin typeface="Consolas"/>
              </a:rPr>
              <a:t>CLAIMS.md — fitted / heuristic / refused · corrections on record</a:t>
            </a:r>
          </a:p>
          <a:p>
            <a:pPr algn="l">
              <a:lnSpc>
                <a:spcPct val="100000"/>
              </a:lnSpc>
              <a:spcAft>
                <a:spcPts val="200"/>
              </a:spcAft>
            </a:pPr>
            <a:r>
              <a:rPr sz="1000" b="0" i="0">
                <a:solidFill>
                  <a:srgbClr val="E6EBEF"/>
                </a:solidFill>
                <a:latin typeface="Consolas"/>
              </a:rPr>
              <a:t>(93.3% coverage and p &lt; 0.001 withdrawn)</a:t>
            </a:r>
          </a:p>
          <a:p>
            <a:pPr algn="l">
              <a:lnSpc>
                <a:spcPct val="100000"/>
              </a:lnSpc>
              <a:spcAft>
                <a:spcPts val="200"/>
              </a:spcAft>
            </a:pPr>
            <a:r>
              <a:rPr sz="1000" b="1" i="0">
                <a:solidFill>
                  <a:srgbClr val="9FE3D0"/>
                </a:solidFill>
                <a:latin typeface="Consolas"/>
              </a:rPr>
              <a:t>python analytics_engine/aft_survival.py</a:t>
            </a:r>
          </a:p>
          <a:p>
            <a:pPr algn="l">
              <a:lnSpc>
                <a:spcPct val="100000"/>
              </a:lnSpc>
              <a:spcAft>
                <a:spcPts val="200"/>
              </a:spcAft>
            </a:pPr>
            <a:r>
              <a:rPr sz="1000" b="1" i="0">
                <a:solidFill>
                  <a:srgbClr val="9FE3D0"/>
                </a:solidFill>
                <a:latin typeface="Consolas"/>
              </a:rPr>
              <a:t>python analytics_engine/conformal_calibration.py</a:t>
            </a:r>
          </a:p>
          <a:p>
            <a:pPr algn="l">
              <a:lnSpc>
                <a:spcPct val="100000"/>
              </a:lnSpc>
              <a:spcAft>
                <a:spcPts val="200"/>
              </a:spcAft>
            </a:pPr>
            <a:r>
              <a:rPr sz="1000" b="1" i="0">
                <a:solidFill>
                  <a:srgbClr val="9FE3D0"/>
                </a:solidFill>
                <a:latin typeface="Consolas"/>
              </a:rPr>
              <a:t>python tests/test_engine_precision.py</a:t>
            </a:r>
          </a:p>
          <a:p>
            <a:pPr algn="l">
              <a:lnSpc>
                <a:spcPct val="100000"/>
              </a:lnSpc>
              <a:spcAft>
                <a:spcPts val="200"/>
              </a:spcAft>
            </a:pPr>
            <a:r>
              <a:rPr sz="1000" b="0" i="0">
                <a:solidFill>
                  <a:srgbClr val="E6EBEF"/>
                </a:solidFill>
                <a:latin typeface="Consolas"/>
              </a:rPr>
              <a:t>artifacts/aft_survival.json · conformal_calibration.json · overrun_models.json · seed 42 · same output on any machine</a:t>
            </a:r>
          </a:p>
        </p:txBody>
      </p:sp>
      <p:sp>
        <p:nvSpPr>
          <p:cNvPr id="17461" name="TextBox 17460"/>
          <p:cNvSpPr txBox="1"/>
          <p:nvPr/>
        </p:nvSpPr>
        <p:spPr>
          <a:xfrm>
            <a:off x="5989320" y="3931920"/>
            <a:ext cx="5943600" cy="237744"/>
          </a:xfrm>
          <a:prstGeom prst="rect">
            <a:avLst/>
          </a:prstGeom>
          <a:noFill/>
        </p:spPr>
        <p:txBody>
          <a:bodyPr wrap="square" anchor="t" lIns="0" rIns="0" tIns="0" bIns="0">
            <a:spAutoFit/>
          </a:bodyPr>
          <a:lstStyle/>
          <a:p>
            <a:pPr algn="l">
              <a:lnSpc>
                <a:spcPct val="100000"/>
              </a:lnSpc>
            </a:pPr>
            <a:r>
              <a:rPr sz="1200" b="1" i="0">
                <a:solidFill>
                  <a:srgbClr val="0F2A44"/>
                </a:solidFill>
                <a:latin typeface="Calibri"/>
              </a:rPr>
              <a:t>The working prototype — real screens, 16 Sep 2026</a:t>
            </a:r>
          </a:p>
        </p:txBody>
      </p:sp>
      <p:sp>
        <p:nvSpPr>
          <p:cNvPr id="17462" name="Rounded Rectangle 17461"/>
          <p:cNvSpPr/>
          <p:nvPr/>
        </p:nvSpPr>
        <p:spPr>
          <a:xfrm>
            <a:off x="5989320" y="4251960"/>
            <a:ext cx="1965960" cy="1127358"/>
          </a:xfrm>
          <a:prstGeom prst="roundRect">
            <a:avLst>
              <a:gd name="adj" fmla="val 6488"/>
            </a:avLst>
          </a:prstGeom>
          <a:solidFill>
            <a:srgbClr val="FFFFFF"/>
          </a:solidFill>
          <a:ln w="9525">
            <a:solidFill>
              <a:srgbClr val="D6DD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63" name="Picture 17462" descr="crop_queue.png"/>
          <p:cNvPicPr>
            <a:picLocks noChangeAspect="1"/>
          </p:cNvPicPr>
          <p:nvPr/>
        </p:nvPicPr>
        <p:blipFill>
          <a:blip r:embed="rId18"/>
          <a:stretch>
            <a:fillRect/>
          </a:stretch>
        </p:blipFill>
        <p:spPr>
          <a:xfrm>
            <a:off x="6035040" y="4297680"/>
            <a:ext cx="1874519" cy="1035918"/>
          </a:xfrm>
          <a:prstGeom prst="rect">
            <a:avLst/>
          </a:prstGeom>
        </p:spPr>
      </p:pic>
      <p:sp>
        <p:nvSpPr>
          <p:cNvPr id="17464" name="TextBox 17463"/>
          <p:cNvSpPr txBox="1"/>
          <p:nvPr/>
        </p:nvSpPr>
        <p:spPr>
          <a:xfrm>
            <a:off x="6035040" y="5406750"/>
            <a:ext cx="1874519" cy="201168"/>
          </a:xfrm>
          <a:prstGeom prst="rect">
            <a:avLst/>
          </a:prstGeom>
          <a:noFill/>
        </p:spPr>
        <p:txBody>
          <a:bodyPr wrap="square" anchor="t" lIns="0" rIns="0" tIns="0" bIns="0">
            <a:spAutoFit/>
          </a:bodyPr>
          <a:lstStyle/>
          <a:p>
            <a:pPr algn="ctr">
              <a:lnSpc>
                <a:spcPct val="100000"/>
              </a:lnSpc>
            </a:pPr>
            <a:r>
              <a:rPr sz="1000" b="0" i="0">
                <a:solidFill>
                  <a:srgbClr val="3C4A57"/>
                </a:solidFill>
                <a:latin typeface="Calibri"/>
              </a:rPr>
              <a:t>early-warning queue</a:t>
            </a:r>
          </a:p>
        </p:txBody>
      </p:sp>
      <p:sp>
        <p:nvSpPr>
          <p:cNvPr id="17465" name="Rounded Rectangle 17464"/>
          <p:cNvSpPr/>
          <p:nvPr/>
        </p:nvSpPr>
        <p:spPr>
          <a:xfrm>
            <a:off x="8001000" y="4251960"/>
            <a:ext cx="1965960" cy="831382"/>
          </a:xfrm>
          <a:prstGeom prst="roundRect">
            <a:avLst>
              <a:gd name="adj" fmla="val 8798"/>
            </a:avLst>
          </a:prstGeom>
          <a:solidFill>
            <a:srgbClr val="FFFFFF"/>
          </a:solidFill>
          <a:ln w="9525">
            <a:solidFill>
              <a:srgbClr val="D6DD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66" name="Picture 17465" descr="crop_project.png"/>
          <p:cNvPicPr>
            <a:picLocks noChangeAspect="1"/>
          </p:cNvPicPr>
          <p:nvPr/>
        </p:nvPicPr>
        <p:blipFill>
          <a:blip r:embed="rId19"/>
          <a:stretch>
            <a:fillRect/>
          </a:stretch>
        </p:blipFill>
        <p:spPr>
          <a:xfrm>
            <a:off x="8046720" y="4297680"/>
            <a:ext cx="1874519" cy="739942"/>
          </a:xfrm>
          <a:prstGeom prst="rect">
            <a:avLst/>
          </a:prstGeom>
        </p:spPr>
      </p:pic>
      <p:sp>
        <p:nvSpPr>
          <p:cNvPr id="17467" name="TextBox 17466"/>
          <p:cNvSpPr txBox="1"/>
          <p:nvPr/>
        </p:nvSpPr>
        <p:spPr>
          <a:xfrm>
            <a:off x="8046720" y="5110774"/>
            <a:ext cx="1874519" cy="201168"/>
          </a:xfrm>
          <a:prstGeom prst="rect">
            <a:avLst/>
          </a:prstGeom>
          <a:noFill/>
        </p:spPr>
        <p:txBody>
          <a:bodyPr wrap="square" anchor="t" lIns="0" rIns="0" tIns="0" bIns="0">
            <a:spAutoFit/>
          </a:bodyPr>
          <a:lstStyle/>
          <a:p>
            <a:pPr algn="ctr">
              <a:lnSpc>
                <a:spcPct val="100000"/>
              </a:lnSpc>
            </a:pPr>
            <a:r>
              <a:rPr sz="1000" b="0" i="0">
                <a:solidFill>
                  <a:srgbClr val="3C4A57"/>
                </a:solidFill>
                <a:latin typeface="Calibri"/>
              </a:rPr>
              <a:t>project 617185</a:t>
            </a:r>
          </a:p>
        </p:txBody>
      </p:sp>
      <p:sp>
        <p:nvSpPr>
          <p:cNvPr id="17468" name="Rounded Rectangle 17467"/>
          <p:cNvSpPr/>
          <p:nvPr/>
        </p:nvSpPr>
        <p:spPr>
          <a:xfrm>
            <a:off x="10012680" y="4251960"/>
            <a:ext cx="1965960" cy="724723"/>
          </a:xfrm>
          <a:prstGeom prst="roundRect">
            <a:avLst>
              <a:gd name="adj" fmla="val 10093"/>
            </a:avLst>
          </a:prstGeom>
          <a:solidFill>
            <a:srgbClr val="FFFFFF"/>
          </a:solidFill>
          <a:ln w="9525">
            <a:solidFill>
              <a:srgbClr val="D6DDE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469" name="Picture 17468" descr="crop_briefing_full.png"/>
          <p:cNvPicPr>
            <a:picLocks noChangeAspect="1"/>
          </p:cNvPicPr>
          <p:nvPr/>
        </p:nvPicPr>
        <p:blipFill>
          <a:blip r:embed="rId20"/>
          <a:stretch>
            <a:fillRect/>
          </a:stretch>
        </p:blipFill>
        <p:spPr>
          <a:xfrm>
            <a:off x="10058400" y="4297680"/>
            <a:ext cx="1874519" cy="633283"/>
          </a:xfrm>
          <a:prstGeom prst="rect">
            <a:avLst/>
          </a:prstGeom>
        </p:spPr>
      </p:pic>
      <p:sp>
        <p:nvSpPr>
          <p:cNvPr id="17470" name="TextBox 17469"/>
          <p:cNvSpPr txBox="1"/>
          <p:nvPr/>
        </p:nvSpPr>
        <p:spPr>
          <a:xfrm>
            <a:off x="10058400" y="5004115"/>
            <a:ext cx="1874519" cy="201168"/>
          </a:xfrm>
          <a:prstGeom prst="rect">
            <a:avLst/>
          </a:prstGeom>
          <a:noFill/>
        </p:spPr>
        <p:txBody>
          <a:bodyPr wrap="square" anchor="t" lIns="0" rIns="0" tIns="0" bIns="0">
            <a:spAutoFit/>
          </a:bodyPr>
          <a:lstStyle/>
          <a:p>
            <a:pPr algn="ctr">
              <a:lnSpc>
                <a:spcPct val="100000"/>
              </a:lnSpc>
            </a:pPr>
            <a:r>
              <a:rPr sz="1000" b="0" i="0">
                <a:solidFill>
                  <a:srgbClr val="3C4A57"/>
                </a:solidFill>
                <a:latin typeface="Calibri"/>
              </a:rPr>
              <a:t>English / Hindi brief</a:t>
            </a:r>
          </a:p>
        </p:txBody>
      </p:sp>
      <p:sp>
        <p:nvSpPr>
          <p:cNvPr id="17471" name="TextBox 17470"/>
          <p:cNvSpPr txBox="1"/>
          <p:nvPr/>
        </p:nvSpPr>
        <p:spPr>
          <a:xfrm>
            <a:off x="5989320" y="6035040"/>
            <a:ext cx="5943600" cy="219456"/>
          </a:xfrm>
          <a:prstGeom prst="rect">
            <a:avLst/>
          </a:prstGeom>
          <a:noFill/>
        </p:spPr>
        <p:txBody>
          <a:bodyPr wrap="square" anchor="t" lIns="0" rIns="0" tIns="0" bIns="0">
            <a:spAutoFit/>
          </a:bodyPr>
          <a:lstStyle/>
          <a:p>
            <a:pPr algn="l">
              <a:lnSpc>
                <a:spcPct val="100000"/>
              </a:lnSpc>
            </a:pPr>
            <a:r>
              <a:rPr sz="1000" b="1" i="0">
                <a:solidFill>
                  <a:srgbClr val="1F5F73"/>
                </a:solidFill>
                <a:latin typeface="Calibri"/>
                <a:hlinkClick r:id="rId21"/>
              </a:rPr>
              <a:t>Live  ▸  prakalp-drishti.vercel.app</a:t>
            </a:r>
            <a:r>
              <a:rPr sz="1000" b="1" i="0">
                <a:solidFill>
                  <a:srgbClr val="1F5F73"/>
                </a:solidFill>
                <a:latin typeface="Calibri"/>
                <a:hlinkClick r:id="rId22"/>
              </a:rPr>
              <a:t>        Code  ▸  github.com/amey-bauchkar/Prakalp-Drishti-</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