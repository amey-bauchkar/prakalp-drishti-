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FF6500"/>
                </a:solidFill>
              </a:defRPr>
            </a:pPr>
            <a:r>
              <a:t>SMART INDIA HACKATHON 2026  •  PROBLEM ID: SIH26103</a:t>
            </a:r>
          </a:p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PRAKALP-DRISHTI</a:t>
            </a:r>
          </a:p>
          <a:p>
            <a:pPr>
              <a:spcAft>
                <a:spcPts val="2400"/>
              </a:spcAft>
              <a:defRPr sz="2000">
                <a:solidFill>
                  <a:srgbClr val="F1C40F"/>
                </a:solidFill>
              </a:defRPr>
            </a:pPr>
            <a:r>
              <a:t>The National Infrastructure Intelligence &amp; Decision War-Room</a:t>
            </a:r>
          </a:p>
          <a:p>
            <a:pPr>
              <a:defRPr sz="1400">
                <a:solidFill>
                  <a:srgbClr val="B4C8DC"/>
                </a:solidFill>
              </a:defRPr>
            </a:pPr>
            <a:r>
              <a:t>A complete, simple, and step-by-step master orientation for our 6-member team.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303520"/>
            <a:ext cx="3108960" cy="822960"/>
          </a:xfrm>
          <a:prstGeom prst="round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539496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6500"/>
                </a:solidFill>
              </a:defRPr>
            </a:pPr>
            <a:r>
              <a:t>📊 Scale Monitored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2,207 Projects | ₹41.78 Lakh Cr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5303520"/>
            <a:ext cx="3108960" cy="822960"/>
          </a:xfrm>
          <a:prstGeom prst="round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539496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6500"/>
                </a:solidFill>
              </a:defRPr>
            </a:pPr>
            <a:r>
              <a:t>🏛️ Target Ministry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MoSPI (PAIMANA Platform)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5303520"/>
            <a:ext cx="3566160" cy="822960"/>
          </a:xfrm>
          <a:prstGeom prst="round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539496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6500"/>
                </a:solidFill>
              </a:defRPr>
            </a:pPr>
            <a:r>
              <a:t>🚀 Our Architecture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Predictive, Earth-Obs &amp; Causal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PRAKALP-DRISHTI | SIH 2026 TEAM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The ₹41.78 Lakh Crore Reality: What is the Problem?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0B192C"/>
                </a:solidFill>
              </a:defRPr>
            </a:pPr>
            <a:r>
              <a:t>₹ 41.78 Lakh Crore</a:t>
            </a:r>
          </a:p>
          <a:p>
            <a:pPr>
              <a:spcAft>
                <a:spcPts val="600"/>
              </a:spcAft>
              <a:defRPr sz="1400" b="1">
                <a:solidFill>
                  <a:srgbClr val="141E2D"/>
                </a:solidFill>
              </a:defRPr>
            </a:pPr>
            <a:r>
              <a:t>Total Portfolio Value</a:t>
            </a:r>
          </a:p>
          <a:p>
            <a:pPr>
              <a:defRPr sz="1100">
                <a:solidFill>
                  <a:srgbClr val="647382"/>
                </a:solidFill>
              </a:defRPr>
            </a:pPr>
            <a:r>
              <a:t>Over $500 Billion USD locked in 2,207 ongoing central megaprojects across 17 ministries.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E74C3C"/>
                </a:solidFill>
              </a:defRPr>
            </a:pPr>
            <a:r>
              <a:t>1,394 Projects</a:t>
            </a:r>
          </a:p>
          <a:p>
            <a:pPr>
              <a:spcAft>
                <a:spcPts val="600"/>
              </a:spcAft>
              <a:defRPr sz="1400" b="1">
                <a:solidFill>
                  <a:srgbClr val="141E2D"/>
                </a:solidFill>
              </a:defRPr>
            </a:pPr>
            <a:r>
              <a:t>Suffering Heavy Delays</a:t>
            </a:r>
          </a:p>
          <a:p>
            <a:pPr>
              <a:defRPr sz="1100">
                <a:solidFill>
                  <a:srgbClr val="647382"/>
                </a:solidFill>
              </a:defRPr>
            </a:pPr>
            <a:r>
              <a:t>Over 63% of projects are delayed. Average delay on stuck projects is 28.9 Months (2.4 Years).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F6500"/>
                </a:solidFill>
              </a:defRPr>
            </a:pPr>
            <a:r>
              <a:t>₹ 4.8+ Lakh Crore</a:t>
            </a:r>
          </a:p>
          <a:p>
            <a:pPr>
              <a:spcAft>
                <a:spcPts val="600"/>
              </a:spcAft>
              <a:defRPr sz="1400" b="1">
                <a:solidFill>
                  <a:srgbClr val="141E2D"/>
                </a:solidFill>
              </a:defRPr>
            </a:pPr>
            <a:r>
              <a:t>Total Cost Escalation</a:t>
            </a:r>
          </a:p>
          <a:p>
            <a:pPr>
              <a:defRPr sz="1100">
                <a:solidFill>
                  <a:srgbClr val="647382"/>
                </a:solidFill>
              </a:defRPr>
            </a:pPr>
            <a:r>
              <a:t>Money lost to cost overruns because of poor initial estimation, hidden fraud, and policy delays.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10698480" cy="2560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80"/>
            <a:ext cx="10149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B192C"/>
                </a:solidFill>
              </a:defRPr>
            </a:pPr>
            <a:r>
              <a:t>Why is the Indian Government Struggling Right Now? (The 3 Pain Points)</a:t>
            </a:r>
          </a:p>
          <a:p>
            <a:pPr>
              <a:spcAft>
                <a:spcPts val="400"/>
              </a:spcAft>
              <a:defRPr b="1" sz="1200">
                <a:solidFill>
                  <a:srgbClr val="141E2D"/>
                </a:solidFill>
              </a:defRPr>
            </a:pPr>
            <a:r>
              <a:t>•  1. Self-Reported Dishonesty: </a:t>
            </a:r>
            <a:r>
              <a:rPr b="0">
                <a:solidFill>
                  <a:srgbClr val="647382"/>
                </a:solidFill>
              </a:rPr>
              <a:t>Agencies report '75% progress' on web forms to get funds released, while the ground is completely empty.</a:t>
            </a:r>
          </a:p>
          <a:p>
            <a:pPr>
              <a:spcAft>
                <a:spcPts val="400"/>
              </a:spcAft>
              <a:defRPr b="1" sz="1200">
                <a:solidFill>
                  <a:srgbClr val="141E2D"/>
                </a:solidFill>
              </a:defRPr>
            </a:pPr>
            <a:r>
              <a:t>•  2. Isolated Ministry Silos: </a:t>
            </a:r>
            <a:r>
              <a:rPr b="0">
                <a:solidFill>
                  <a:srgbClr val="647382"/>
                </a:solidFill>
              </a:rPr>
              <a:t>A railway project gets delayed by 2 years, but nobody alerts the connected ₹15,000 Cr power plant waiting for coal.</a:t>
            </a:r>
          </a:p>
          <a:p>
            <a:pPr>
              <a:spcAft>
                <a:spcPts val="400"/>
              </a:spcAft>
              <a:defRPr b="1" sz="1200">
                <a:solidFill>
                  <a:srgbClr val="141E2D"/>
                </a:solidFill>
              </a:defRPr>
            </a:pPr>
            <a:r>
              <a:t>•  3. Zero Future Visibility: </a:t>
            </a:r>
            <a:r>
              <a:rPr b="0">
                <a:solidFill>
                  <a:srgbClr val="647382"/>
                </a:solidFill>
              </a:rPr>
              <a:t>Current dashboards only show historical data ('What happened last month'). Nobody can forecast what will happen 2 years from now.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PRAKALP-DRISHTI | SIH 2026 TEAM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Understanding the Context: What is MoSPI &amp; PAIMANA?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B192C"/>
                </a:solidFill>
              </a:defRPr>
            </a:pPr>
            <a:r>
              <a:t>🏛️ What MoSPI Already Built: PAIMANA</a:t>
            </a:r>
          </a:p>
          <a:p>
            <a:pPr>
              <a:spcAft>
                <a:spcPts val="1200"/>
              </a:spcAft>
              <a:defRPr sz="1200">
                <a:solidFill>
                  <a:srgbClr val="647382"/>
                </a:solidFill>
              </a:defRPr>
            </a:pPr>
            <a:r>
              <a:t>In late 2025, MoSPI (Ministry of Statistics and Programme Implementation) launched PAIMANA — a unified data entry portal connecting 17 line ministries (Roads, Railways, Power, Coal, Oil, etc.).</a:t>
            </a:r>
          </a:p>
          <a:p>
            <a:pPr>
              <a:spcAft>
                <a:spcPts val="600"/>
              </a:spcAft>
              <a:defRPr sz="1150">
                <a:solidFill>
                  <a:srgbClr val="141E2D"/>
                </a:solidFill>
              </a:defRPr>
            </a:pPr>
            <a:r>
              <a:t>✅ Standardized project tracking for all projects &gt; ₹150 Crore.</a:t>
            </a:r>
          </a:p>
          <a:p>
            <a:pPr>
              <a:spcAft>
                <a:spcPts val="600"/>
              </a:spcAft>
              <a:defRPr sz="1150">
                <a:solidFill>
                  <a:srgbClr val="141E2D"/>
                </a:solidFill>
              </a:defRPr>
            </a:pPr>
            <a:r>
              <a:t>✅ Automated 70% of data flow between state &amp; central agencies.</a:t>
            </a:r>
          </a:p>
          <a:p>
            <a:pPr>
              <a:spcAft>
                <a:spcPts val="600"/>
              </a:spcAft>
              <a:defRPr sz="1150">
                <a:solidFill>
                  <a:srgbClr val="141E2D"/>
                </a:solidFill>
              </a:defRPr>
            </a:pPr>
            <a:r>
              <a:t>⚠️ BUT: It is only a descriptive digital ledger (A status viewer).</a:t>
            </a:r>
          </a:p>
          <a:p>
            <a:pPr>
              <a:spcAft>
                <a:spcPts val="600"/>
              </a:spcAft>
              <a:defRPr sz="1150">
                <a:solidFill>
                  <a:srgbClr val="141E2D"/>
                </a:solidFill>
              </a:defRPr>
            </a:pPr>
            <a:r>
              <a:t>⚠️ It answers: 'What was spent last month?'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C40F"/>
                </a:solidFill>
              </a:defRPr>
            </a:pPr>
            <a:r>
              <a:t>🚀 What WE Are Building: PRAKALP-DRISHTI</a:t>
            </a:r>
          </a:p>
          <a:p>
            <a:pPr>
              <a:spcAft>
                <a:spcPts val="1200"/>
              </a:spcAft>
              <a:defRPr sz="1200">
                <a:solidFill>
                  <a:srgbClr val="C8DCF0"/>
                </a:solidFill>
              </a:defRPr>
            </a:pPr>
            <a:r>
              <a:t>We are NOT replacing PAIMANA. We are building the Autonomous Intelligence &amp; Decision Layer on top of PAIMANA's live data streams.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🛰️ PRATIBIMB: Checks satellite imagery to verify if physical work actually happened.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📈 KAAL-CHAKRA: Probabilistic future forecasting (P10/P50/P80 curves).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🕸️ SETU-GRAPH: Traces dependency chain across different ministries.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💰 VITTA-VYUHA: Solves where to allocate the next ₹10,000 Crore with mathematical precision.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PRAKALP-DRISHTI | SIH 2026 TEAM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The 7-Level Capability Ladder: Why Other Teams Will Lose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Level 1 &amp; 2: Descriptive (What happened?)</a:t>
            </a:r>
          </a:p>
          <a:p>
            <a:pPr>
              <a:defRPr sz="1100">
                <a:solidFill>
                  <a:srgbClr val="647382"/>
                </a:solidFill>
              </a:defRPr>
            </a:pPr>
            <a:r>
              <a:t>MoSPI PAIMANA &amp; 90% of other hackathon teams stop here. Just showing tables, pie charts, and monthly expenditure.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6500"/>
                </a:solidFill>
              </a:defRPr>
            </a:pPr>
            <a:r>
              <a:t>Level 3: Predictive (What will happen?)</a:t>
            </a:r>
          </a:p>
          <a:p>
            <a:pPr>
              <a:defRPr sz="1100">
                <a:solidFill>
                  <a:srgbClr val="647382"/>
                </a:solidFill>
              </a:defRPr>
            </a:pPr>
            <a:r>
              <a:t>Our Module 1 (KAAL-CHAKRA). Probabilistic forecasting with P10/P50/P80 confidence intervals using survival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Level 4: Causal (Why did it happen &amp; what if we intervene?)</a:t>
            </a:r>
          </a:p>
          <a:p>
            <a:pPr>
              <a:defRPr sz="1100">
                <a:solidFill>
                  <a:srgbClr val="647382"/>
                </a:solidFill>
              </a:defRPr>
            </a:pPr>
            <a:r>
              <a:t>Our Module 6 (HETU). Uses natural experiments to simulate policy levers (e.g., 'If we enforce 80% land acquisition, we save ₹42,000 Cr').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6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Level 5: Prescriptive (Where should money go?)</a:t>
            </a:r>
          </a:p>
          <a:p>
            <a:pPr>
              <a:defRPr sz="1100">
                <a:solidFill>
                  <a:srgbClr val="647382"/>
                </a:solidFill>
              </a:defRPr>
            </a:pPr>
            <a:r>
              <a:t>Our Module 5 (VITTA-VYUHA). Mixed-Integer Linear Programming (MILP) to optimize national budget allocation under constraints.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10698480" cy="868680"/>
          </a:xfrm>
          <a:prstGeom prst="roundRect">
            <a:avLst/>
          </a:prstGeom>
          <a:solidFill>
            <a:srgbClr val="FF6500"/>
          </a:solidFill>
          <a:ln w="190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0352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Level 6 &amp; 7: Verified &amp; Mechanism-Aligned (Truth Enforcement)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Our Modules 3 &amp; 4 (PRATIBIMB &amp; SATYA-KAVACH). Independent satellite ground-truth + McCrary threshold bunching tests to stop corruption.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PRAKALP-DRISHTI | SIH 2026 TEAM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Our Secret Weapon: 100% Real, Extracted Data (Zero Dummies!)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B192C"/>
                </a:solidFill>
              </a:defRPr>
            </a:pPr>
            <a:r>
              <a:t>📊 MoSPI Master DB</a:t>
            </a:r>
          </a:p>
          <a:p>
            <a:pPr>
              <a:spcAft>
                <a:spcPts val="600"/>
              </a:spcAft>
              <a:defRPr sz="1300" b="1">
                <a:solidFill>
                  <a:srgbClr val="141E2D"/>
                </a:solidFill>
              </a:defRPr>
            </a:pPr>
            <a:r>
              <a:t>2,207 Projects</a:t>
            </a:r>
          </a:p>
          <a:p>
            <a:pPr>
              <a:defRPr sz="1050">
                <a:solidFill>
                  <a:srgbClr val="647382"/>
                </a:solidFill>
              </a:defRPr>
            </a:pPr>
            <a:r>
              <a:t>Extracted directly from MoSPI OCMS/PAIMANA portal. Covers all ₹41.78 Lakh Cr projects with true calculated delays.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7AFF"/>
                </a:solidFill>
              </a:defRPr>
            </a:pPr>
            <a:r>
              <a:t>📈 Stock Market Data</a:t>
            </a:r>
          </a:p>
          <a:p>
            <a:pPr>
              <a:spcAft>
                <a:spcPts val="600"/>
              </a:spcAft>
              <a:defRPr sz="1300" b="1">
                <a:solidFill>
                  <a:srgbClr val="141E2D"/>
                </a:solidFill>
              </a:defRPr>
            </a:pPr>
            <a:r>
              <a:t>18,561 Daily Rows</a:t>
            </a:r>
          </a:p>
          <a:p>
            <a:pPr>
              <a:defRPr sz="1050">
                <a:solidFill>
                  <a:srgbClr val="647382"/>
                </a:solidFill>
              </a:defRPr>
            </a:pPr>
            <a:r>
              <a:t>5 years of daily stock prices for 13 listed PSUs (NTPC, NHPC, SJVN, RVNL, IRCON, Coal India) from National Stock Exchange (NSE).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E62"/>
                </a:solidFill>
              </a:defRPr>
            </a:pPr>
            <a:r>
              <a:t>🏛️ 153 State Elections</a:t>
            </a:r>
          </a:p>
          <a:p>
            <a:pPr>
              <a:spcAft>
                <a:spcPts val="600"/>
              </a:spcAft>
              <a:defRPr sz="1300" b="1">
                <a:solidFill>
                  <a:srgbClr val="141E2D"/>
                </a:solidFill>
              </a:defRPr>
            </a:pPr>
            <a:r>
              <a:t>28 States &amp; UTs</a:t>
            </a:r>
          </a:p>
          <a:p>
            <a:pPr>
              <a:defRPr sz="1050">
                <a:solidFill>
                  <a:srgbClr val="647382"/>
                </a:solidFill>
              </a:defRPr>
            </a:pPr>
            <a:r>
              <a:t>Official Election Commission of India (ECI) assembly election cycles from 2000-2026 mapped to project sanction 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B192C"/>
                </a:solidFill>
              </a:defRPr>
            </a:pPr>
            <a:r>
              <a:t>🌧️ 630 IMD State-Years</a:t>
            </a:r>
          </a:p>
          <a:p>
            <a:pPr>
              <a:spcAft>
                <a:spcPts val="600"/>
              </a:spcAft>
              <a:defRPr sz="1300" b="1">
                <a:solidFill>
                  <a:srgbClr val="141E2D"/>
                </a:solidFill>
              </a:defRPr>
            </a:pPr>
            <a:r>
              <a:t>Monsoon Anomalies</a:t>
            </a:r>
          </a:p>
          <a:p>
            <a:pPr>
              <a:defRPr sz="1050">
                <a:solidFill>
                  <a:srgbClr val="647382"/>
                </a:solidFill>
              </a:defRPr>
            </a:pPr>
            <a:r>
              <a:t>State-level historical rainfall departure (% from normal) from India Meteorological Dept to track working season shrinkage.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84048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6500"/>
                </a:solidFill>
              </a:defRPr>
            </a:pPr>
            <a:r>
              <a:t>🏗️ DPIIT / RBI WPI Basket</a:t>
            </a:r>
          </a:p>
          <a:p>
            <a:pPr>
              <a:spcAft>
                <a:spcPts val="600"/>
              </a:spcAft>
              <a:defRPr sz="1300" b="1">
                <a:solidFill>
                  <a:srgbClr val="141E2D"/>
                </a:solidFill>
              </a:defRPr>
            </a:pPr>
            <a:r>
              <a:t>2005–2026 Series</a:t>
            </a:r>
          </a:p>
          <a:p>
            <a:pPr>
              <a:defRPr sz="1050">
                <a:solidFill>
                  <a:srgbClr val="647382"/>
                </a:solidFill>
              </a:defRPr>
            </a:pPr>
            <a:r>
              <a:t>Official Wholesale Price Index for Steel (40%), Cement (30%), Fuel/Bitumen (30%) for contractual price escalation math.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84048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74C3C"/>
                </a:solidFill>
              </a:defRPr>
            </a:pPr>
            <a:r>
              <a:t>📜 Land Act 2013 Shock</a:t>
            </a:r>
          </a:p>
          <a:p>
            <a:pPr>
              <a:spcAft>
                <a:spcPts val="600"/>
              </a:spcAft>
              <a:defRPr sz="1300" b="1">
                <a:solidFill>
                  <a:srgbClr val="141E2D"/>
                </a:solidFill>
              </a:defRPr>
            </a:pPr>
            <a:r>
              <a:t>₹1.10 Lakh Cr Impact</a:t>
            </a:r>
          </a:p>
          <a:p>
            <a:pPr>
              <a:defRPr sz="1050">
                <a:solidFill>
                  <a:srgbClr val="647382"/>
                </a:solidFill>
              </a:defRPr>
            </a:pPr>
            <a:r>
              <a:t>RFCTLARR 2013 statutory compensation transition dataset isolating the 2.5x-4x multiplier on legacy linear projects.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SIGNATURE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Module 1: KAAL-CHAKRA (Probabilistic Time &amp; Cost Forecasting)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B192C"/>
                </a:solidFill>
              </a:defRPr>
            </a:pPr>
            <a:r>
              <a:t>🎯 What It Solves in Simple Terms:</a:t>
            </a:r>
          </a:p>
          <a:p>
            <a:pPr>
              <a:spcAft>
                <a:spcPts val="1200"/>
              </a:spcAft>
              <a:defRPr sz="1200">
                <a:solidFill>
                  <a:srgbClr val="647382"/>
                </a:solidFill>
              </a:defRPr>
            </a:pPr>
            <a:r>
              <a:t>When an agency says 'This highway will be completed in 36 months', human optimism bias and deliberate under-estimation mean it almost always takes 60 months. A single-point guess is useless.</a:t>
            </a:r>
          </a:p>
          <a:p>
            <a:pPr>
              <a:spcAft>
                <a:spcPts val="600"/>
              </a:spcAft>
              <a:defRPr b="1" sz="1150">
                <a:solidFill>
                  <a:srgbClr val="141E2D"/>
                </a:solidFill>
              </a:defRPr>
            </a:pPr>
            <a:r>
              <a:t>• Reference Class Forecasting (RCF): </a:t>
            </a:r>
            <a:r>
              <a:rPr b="0">
                <a:solidFill>
                  <a:srgbClr val="647382"/>
                </a:solidFill>
              </a:rPr>
              <a:t>Instead of trusting the contractor, we look at 500 similar completed projects in that sector/terrain to see their actual distribution.</a:t>
            </a:r>
          </a:p>
          <a:p>
            <a:pPr>
              <a:spcAft>
                <a:spcPts val="600"/>
              </a:spcAft>
              <a:defRPr b="1" sz="1150">
                <a:solidFill>
                  <a:srgbClr val="141E2D"/>
                </a:solidFill>
              </a:defRPr>
            </a:pPr>
            <a:r>
              <a:t>• Probability Fan Charts (P10 to P95): </a:t>
            </a:r>
            <a:r>
              <a:rPr b="0">
                <a:solidFill>
                  <a:srgbClr val="647382"/>
                </a:solidFill>
              </a:rPr>
              <a:t>We give the Finance Ministry a weather-forecast style fan chart (e.g., 50% chance of completion by 2028, 80% chance by 2030).</a:t>
            </a:r>
          </a:p>
          <a:p>
            <a:pPr>
              <a:spcAft>
                <a:spcPts val="600"/>
              </a:spcAft>
              <a:defRPr b="1" sz="1150">
                <a:solidFill>
                  <a:srgbClr val="141E2D"/>
                </a:solidFill>
              </a:defRPr>
            </a:pPr>
            <a:r>
              <a:t>• UK Treasury Green Book Standard: </a:t>
            </a:r>
            <a:r>
              <a:rPr b="0">
                <a:solidFill>
                  <a:srgbClr val="647382"/>
                </a:solidFill>
              </a:rPr>
              <a:t>Used internationally by Nobel Prize-winning econometrics (Bent Flyvbjerg method).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6500"/>
                </a:solidFill>
              </a:defRPr>
            </a:pPr>
            <a:r>
              <a:t>📊 The Live Demo Experience:</a:t>
            </a:r>
          </a:p>
          <a:p>
            <a:pPr>
              <a:spcAft>
                <a:spcPts val="400"/>
              </a:spcAft>
              <a:defRPr sz="1100" b="0">
                <a:solidFill>
                  <a:srgbClr val="0B192C"/>
                </a:solidFill>
              </a:defRPr>
            </a:pPr>
            <a:r>
              <a:t>1. Judge picks ANY megaproject (e.g., DFCCIL Railway Link).</a:t>
            </a:r>
          </a:p>
          <a:p>
            <a:pPr>
              <a:spcAft>
                <a:spcPts val="400"/>
              </a:spcAft>
              <a:defRPr sz="1100" b="0">
                <a:solidFill>
                  <a:srgbClr val="0B192C"/>
                </a:solidFill>
              </a:defRPr>
            </a:pPr>
            <a:r>
              <a:t>2. Official MoSPI Claim: 'Will complete by Dec 2026 at ₹51,000 Cr.'</a:t>
            </a:r>
          </a:p>
          <a:p>
            <a:pPr>
              <a:spcAft>
                <a:spcPts val="400"/>
              </a:spcAft>
              <a:defRPr sz="1100" b="0">
                <a:solidFill>
                  <a:srgbClr val="0B192C"/>
                </a:solidFill>
              </a:defRPr>
            </a:pPr>
            <a:r>
              <a:t>3. KAAL-CHAKRA Fan Chart Renders:</a:t>
            </a:r>
          </a:p>
          <a:p>
            <a:pPr>
              <a:spcAft>
                <a:spcPts val="400"/>
              </a:spcAft>
              <a:defRPr sz="1100" b="1">
                <a:solidFill>
                  <a:srgbClr val="0B192C"/>
                </a:solidFill>
              </a:defRPr>
            </a:pPr>
            <a:r>
              <a:t>   • P50 (Expected): ₹ 96,000 Cr (+14 Months delay)</a:t>
            </a:r>
          </a:p>
          <a:p>
            <a:pPr>
              <a:spcAft>
                <a:spcPts val="400"/>
              </a:spcAft>
              <a:defRPr sz="1100" b="1">
                <a:solidFill>
                  <a:srgbClr val="0B192C"/>
                </a:solidFill>
              </a:defRPr>
            </a:pPr>
            <a:r>
              <a:t>   • P80 (Safe Budgeting): ₹ 1,18,000 Cr (+26 Months delay)</a:t>
            </a:r>
          </a:p>
          <a:p>
            <a:pPr>
              <a:spcAft>
                <a:spcPts val="400"/>
              </a:spcAft>
              <a:defRPr sz="1100" b="1">
                <a:solidFill>
                  <a:srgbClr val="0B192C"/>
                </a:solidFill>
              </a:defRPr>
            </a:pPr>
            <a:r>
              <a:t>   • P95 (Tail Risk): ₹ 1,42,000 Cr (+48 Months delay)</a:t>
            </a:r>
          </a:p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4. The System Alert: 'Official target sits at only the 4th percentile of historical reality. Probability of on-time delivery is &lt; 18%.'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SIGNATURE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Module 2: SETU-GRAPH (Inter-Project Dependency &amp; Contagion)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E3E62"/>
                </a:solidFill>
              </a:defRPr>
            </a:pPr>
            <a:r>
              <a:t>Step 1: Build the Network</a:t>
            </a:r>
          </a:p>
          <a:p>
            <a:pPr>
              <a:spcAft>
                <a:spcPts val="800"/>
              </a:spcAft>
              <a:defRPr sz="1200" b="1">
                <a:solidFill>
                  <a:srgbClr val="141E2D"/>
                </a:solidFill>
              </a:defRPr>
            </a:pPr>
            <a:r>
              <a:t>Spatial &amp; Prerequisite Links</a:t>
            </a:r>
          </a:p>
          <a:p>
            <a:pPr>
              <a:defRPr sz="1100">
                <a:solidFill>
                  <a:srgbClr val="647382"/>
                </a:solidFill>
              </a:defRPr>
            </a:pPr>
            <a:r>
              <a:t>Connects projects sharing the same 50km geographic corridor or statutory feeder relationships (e.g., Coal Mine ➜ Freight Rail ➜ Power Plant).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7AFF"/>
                </a:solidFill>
              </a:defRPr>
            </a:pPr>
            <a:r>
              <a:t>Step 2: Calculate Systemic Risk</a:t>
            </a:r>
          </a:p>
          <a:p>
            <a:pPr>
              <a:spcAft>
                <a:spcPts val="800"/>
              </a:spcAft>
              <a:defRPr sz="1200" b="1">
                <a:solidFill>
                  <a:srgbClr val="141E2D"/>
                </a:solidFill>
              </a:defRPr>
            </a:pPr>
            <a:r>
              <a:t>SIPI Index (Like Bank D-SIBs)</a:t>
            </a:r>
          </a:p>
          <a:p>
            <a:pPr>
              <a:defRPr sz="1100">
                <a:solidFill>
                  <a:srgbClr val="647382"/>
                </a:solidFill>
              </a:defRPr>
            </a:pPr>
            <a:r>
              <a:t>Finds 'Too-Big-To-Fail' bottleneck nodes using Network Centrality and Downstream Asset Value at Risk (DVaR).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E74C3C"/>
                </a:solidFill>
              </a:defRPr>
            </a:pPr>
            <a:r>
              <a:t>Step 3: Simulate Shockwaves</a:t>
            </a:r>
          </a:p>
          <a:p>
            <a:pPr>
              <a:spcAft>
                <a:spcPts val="800"/>
              </a:spcAft>
              <a:defRPr sz="1200" b="1">
                <a:solidFill>
                  <a:srgbClr val="141E2D"/>
                </a:solidFill>
              </a:defRPr>
            </a:pPr>
            <a:r>
              <a:t>10,000 Monte Carlo Runs</a:t>
            </a:r>
          </a:p>
          <a:p>
            <a:pPr>
              <a:defRPr sz="1100">
                <a:solidFill>
                  <a:srgbClr val="647382"/>
                </a:solidFill>
              </a:defRPr>
            </a:pPr>
            <a:r>
              <a:t>When project A delays by 12 months, calculates the exact idle capacity cost locked across dependent projects in other ministries.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5488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1C40F"/>
                </a:solidFill>
              </a:defRPr>
            </a:pPr>
            <a:r>
              <a:t>💡 The Live Demo 'Wow Moment':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The judge clicks on a single delayed railway freight corridor on the interactive map. A red contagion ripple radiates across 3 state and ministry borders. A live counter ticks up: '₹8,420 Crore downstream asset value locked across 7 dependent thermal plants and industrial parks!'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SIGNATURE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Module 3: PRATIBIMB / SATYA (Independent Orbit Verification)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B192C"/>
                </a:solidFill>
              </a:defRPr>
            </a:pPr>
            <a:r>
              <a:t>🛰️ How It Works from 786 km in Space:</a:t>
            </a:r>
          </a:p>
          <a:p>
            <a:pPr>
              <a:spcAft>
                <a:spcPts val="800"/>
              </a:spcAft>
              <a:defRPr b="1" sz="1150">
                <a:solidFill>
                  <a:srgbClr val="141E2D"/>
                </a:solidFill>
              </a:defRPr>
            </a:pPr>
            <a:r>
              <a:t>• Sentinel-2 (10m Optical Satellite): </a:t>
            </a:r>
            <a:r>
              <a:rPr b="0">
                <a:solidFill>
                  <a:srgbClr val="647382"/>
                </a:solidFill>
              </a:rPr>
              <a:t>Tracks vegetation clearing, earthworks, and concrete pavement laying over time using NDBI &amp; NDVI spectral indexes.</a:t>
            </a:r>
          </a:p>
          <a:p>
            <a:pPr>
              <a:spcAft>
                <a:spcPts val="800"/>
              </a:spcAft>
              <a:defRPr b="1" sz="1150">
                <a:solidFill>
                  <a:srgbClr val="141E2D"/>
                </a:solidFill>
              </a:defRPr>
            </a:pPr>
            <a:r>
              <a:t>• Sentinel-1 SAR (Radar Cloud-Penetrating): </a:t>
            </a:r>
            <a:r>
              <a:rPr b="0">
                <a:solidFill>
                  <a:srgbClr val="647382"/>
                </a:solidFill>
              </a:rPr>
              <a:t>Monsoon clouds block optical satellites. Radar waves penetrate dense rain clouds to detect vertical steel &amp; concrete structure backscatter.</a:t>
            </a:r>
          </a:p>
          <a:p>
            <a:pPr>
              <a:spcAft>
                <a:spcPts val="800"/>
              </a:spcAft>
              <a:defRPr b="1" sz="1150">
                <a:solidFill>
                  <a:srgbClr val="141E2D"/>
                </a:solidFill>
              </a:defRPr>
            </a:pPr>
            <a:r>
              <a:t>• Honest EO-Eligibility Filter: </a:t>
            </a:r>
            <a:r>
              <a:rPr b="0">
                <a:solidFill>
                  <a:srgbClr val="647382"/>
                </a:solidFill>
              </a:rPr>
              <a:t>We openly filter out tunnels, software systems, and underground metros to focus 100% accurate audits on surface assets (highways, solar, ports, refineries).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74C3C"/>
                </a:solidFill>
              </a:defRPr>
            </a:pPr>
            <a:r>
              <a:t>🚨 Catching the 131 'Ghost Projects'</a:t>
            </a:r>
          </a:p>
          <a:p>
            <a:pPr>
              <a:spcAft>
                <a:spcPts val="1200"/>
              </a:spcAft>
              <a:defRPr sz="1200">
                <a:solidFill>
                  <a:srgbClr val="141E2D"/>
                </a:solidFill>
              </a:defRPr>
            </a:pPr>
            <a:r>
              <a:t>Our data-mining surfaced 131 projects burning capital at 2x their physical progress rate. PRATIBIMB exposes them visually:</a:t>
            </a:r>
          </a:p>
          <a:p>
            <a:pPr>
              <a:spcAft>
                <a:spcPts val="600"/>
              </a:spcAft>
              <a:defRPr sz="1150" b="0">
                <a:solidFill>
                  <a:srgbClr val="0B192C"/>
                </a:solidFill>
              </a:defRPr>
            </a:pPr>
            <a:r>
              <a:t>1. Official MoSPI Record says: '74% Physical Progress Completed.'</a:t>
            </a:r>
          </a:p>
          <a:p>
            <a:pPr>
              <a:spcAft>
                <a:spcPts val="600"/>
              </a:spcAft>
              <a:defRPr sz="1150" b="0">
                <a:solidFill>
                  <a:srgbClr val="0B192C"/>
                </a:solidFill>
              </a:defRPr>
            </a:pPr>
            <a:r>
              <a:t>2. Satellite Time-Lapse shows: Ground is untouched jungle for 14 straight months.</a:t>
            </a:r>
          </a:p>
          <a:p>
            <a:pPr>
              <a:spcAft>
                <a:spcPts val="600"/>
              </a:spcAft>
              <a:defRPr sz="1150" b="1">
                <a:solidFill>
                  <a:srgbClr val="E74C3C"/>
                </a:solidFill>
              </a:defRPr>
            </a:pPr>
            <a:r>
              <a:t>3. Discrepancy Flag: 'Reported-Observed Divergence (ROD) = 62.8% — Immediate On-Site CBI / PIB Audit Triggered!'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SIGNATURE MODULES 4 &amp; 4B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Modules 4 &amp; 4B: SATYA-KAVACH &amp; ARTHA-NETRA (Integrity &amp; Stocks)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B192C"/>
                </a:solidFill>
              </a:defRPr>
            </a:pPr>
            <a:r>
              <a:t>⚖️ Module 4: SATYA-KAVACH</a:t>
            </a:r>
          </a:p>
          <a:p>
            <a:pPr>
              <a:spcAft>
                <a:spcPts val="800"/>
              </a:spcAft>
              <a:defRPr sz="1200" b="1">
                <a:solidFill>
                  <a:srgbClr val="FF6500"/>
                </a:solidFill>
              </a:defRPr>
            </a:pPr>
            <a:r>
              <a:t>Catching the 20% CCEA Cabinet Avoidance Trick</a:t>
            </a:r>
          </a:p>
          <a:p>
            <a:pPr>
              <a:spcAft>
                <a:spcPts val="400"/>
              </a:spcAft>
              <a:defRPr b="1" sz="1100">
                <a:solidFill>
                  <a:srgbClr val="141E2D"/>
                </a:solidFill>
              </a:defRPr>
            </a:pPr>
            <a:r>
              <a:t>• The Rule: </a:t>
            </a:r>
            <a:r>
              <a:rPr b="0">
                <a:solidFill>
                  <a:srgbClr val="647382"/>
                </a:solidFill>
              </a:rPr>
              <a:t>Any project cost hike &gt; 20% requires mandatory Cabinet Committee (CCEA) re-appraisal.</a:t>
            </a:r>
          </a:p>
          <a:p>
            <a:pPr>
              <a:spcAft>
                <a:spcPts val="400"/>
              </a:spcAft>
              <a:defRPr b="1" sz="1100">
                <a:solidFill>
                  <a:srgbClr val="141E2D"/>
                </a:solidFill>
              </a:defRPr>
            </a:pPr>
            <a:r>
              <a:t>• The Cheating: </a:t>
            </a:r>
            <a:r>
              <a:rPr b="0">
                <a:solidFill>
                  <a:srgbClr val="647382"/>
                </a:solidFill>
              </a:rPr>
              <a:t>Agencies deliberately cap their hikes at 18.5% or 19.4% to avoid Cabinet scrutiny.</a:t>
            </a:r>
          </a:p>
          <a:p>
            <a:pPr>
              <a:spcAft>
                <a:spcPts val="400"/>
              </a:spcAft>
              <a:defRPr b="1" sz="1100">
                <a:solidFill>
                  <a:srgbClr val="141E2D"/>
                </a:solidFill>
              </a:defRPr>
            </a:pPr>
            <a:r>
              <a:t>• McCrary Bunching Test: </a:t>
            </a:r>
            <a:r>
              <a:rPr b="0">
                <a:solidFill>
                  <a:srgbClr val="647382"/>
                </a:solidFill>
              </a:rPr>
              <a:t>We proved a violent 1.49x density spike just below 20% (p &lt; 0.001).</a:t>
            </a:r>
          </a:p>
          <a:p>
            <a:pPr>
              <a:spcAft>
                <a:spcPts val="400"/>
              </a:spcAft>
              <a:defRPr b="1" sz="1100">
                <a:solidFill>
                  <a:srgbClr val="141E2D"/>
                </a:solidFill>
              </a:defRPr>
            </a:pPr>
            <a:r>
              <a:t>• CPWD Clause 10CC Audit: </a:t>
            </a:r>
            <a:r>
              <a:rPr b="0">
                <a:solidFill>
                  <a:srgbClr val="647382"/>
                </a:solidFill>
              </a:rPr>
              <a:t>We hardcoded the legal 85% escalation rule to catch unjustified contractor margin expansion.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B192C"/>
                </a:solidFill>
              </a:defRPr>
            </a:pPr>
            <a:r>
              <a:t>📈 Module 4B: ARTHA-NETRA</a:t>
            </a:r>
          </a:p>
          <a:p>
            <a:pPr>
              <a:spcAft>
                <a:spcPts val="800"/>
              </a:spcAft>
              <a:defRPr sz="1200" b="1">
                <a:solidFill>
                  <a:srgbClr val="007AFF"/>
                </a:solidFill>
              </a:defRPr>
            </a:pPr>
            <a:r>
              <a:t>PSU Stock Market Stress &amp; Leverage Early Warning</a:t>
            </a:r>
          </a:p>
          <a:p>
            <a:pPr>
              <a:spcAft>
                <a:spcPts val="400"/>
              </a:spcAft>
              <a:defRPr b="1" sz="1100">
                <a:solidFill>
                  <a:srgbClr val="141E2D"/>
                </a:solidFill>
              </a:defRPr>
            </a:pPr>
            <a:r>
              <a:t>• The Discovery: </a:t>
            </a:r>
            <a:r>
              <a:rPr b="0">
                <a:solidFill>
                  <a:srgbClr val="647382"/>
                </a:solidFill>
              </a:rPr>
              <a:t>When a listed PSU faces balance sheet stress, its government projects demand massive price hikes.</a:t>
            </a:r>
          </a:p>
          <a:p>
            <a:pPr>
              <a:spcAft>
                <a:spcPts val="400"/>
              </a:spcAft>
              <a:defRPr b="1" sz="1100">
                <a:solidFill>
                  <a:srgbClr val="141E2D"/>
                </a:solidFill>
              </a:defRPr>
            </a:pPr>
            <a:r>
              <a:t>• SJVN (D/E = 227): </a:t>
            </a:r>
            <a:r>
              <a:rPr b="0">
                <a:solidFill>
                  <a:srgbClr val="647382"/>
                </a:solidFill>
              </a:rPr>
              <a:t>Highest leverage + 80.8% average cost overruns (Classic stress-driven hikes).</a:t>
            </a:r>
          </a:p>
          <a:p>
            <a:pPr>
              <a:spcAft>
                <a:spcPts val="400"/>
              </a:spcAft>
              <a:defRPr b="1" sz="1100">
                <a:solidFill>
                  <a:srgbClr val="141E2D"/>
                </a:solidFill>
              </a:defRPr>
            </a:pPr>
            <a:r>
              <a:t>• NHPC (D/E = 113): </a:t>
            </a:r>
            <a:r>
              <a:rPr b="0">
                <a:solidFill>
                  <a:srgbClr val="647382"/>
                </a:solidFill>
              </a:rPr>
              <a:t>Subansiri Hydro alone generated ₹21,800 Cr in cost overruns.</a:t>
            </a:r>
          </a:p>
          <a:p>
            <a:pPr>
              <a:spcAft>
                <a:spcPts val="400"/>
              </a:spcAft>
              <a:defRPr b="1" sz="1100">
                <a:solidFill>
                  <a:srgbClr val="141E2D"/>
                </a:solidFill>
              </a:defRPr>
            </a:pPr>
            <a:r>
              <a:t>• Coal India (D/E = 12): </a:t>
            </a:r>
            <a:r>
              <a:rPr b="0">
                <a:solidFill>
                  <a:srgbClr val="647382"/>
                </a:solidFill>
              </a:rPr>
              <a:t>Debt-free control group has low overruns (25%), proving healthy balance sheets mean better estimates.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SIGNATURE MODULES 5 &amp;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Modules 5 &amp; 6: VITTA-VYUHA &amp; HETU (Optimization &amp; Causal AI)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B192C"/>
                </a:solidFill>
              </a:defRPr>
            </a:pPr>
            <a:r>
              <a:t>💰 Module 5: VITTA-VYUHA</a:t>
            </a:r>
          </a:p>
          <a:p>
            <a:pPr>
              <a:spcAft>
                <a:spcPts val="1000"/>
              </a:spcAft>
              <a:defRPr sz="1200" b="1">
                <a:solidFill>
                  <a:srgbClr val="FF6500"/>
                </a:solidFill>
              </a:defRPr>
            </a:pPr>
            <a:r>
              <a:t>Prescriptive Capital Allocation (MILP Solver)</a:t>
            </a:r>
          </a:p>
          <a:p>
            <a:pPr>
              <a:spcAft>
                <a:spcPts val="400"/>
              </a:spcAft>
              <a:defRPr b="1" sz="1100">
                <a:solidFill>
                  <a:srgbClr val="141E2D"/>
                </a:solidFill>
              </a:defRPr>
            </a:pPr>
            <a:r>
              <a:t>• The Problem: </a:t>
            </a:r>
            <a:r>
              <a:rPr b="0">
                <a:solidFill>
                  <a:srgbClr val="647382"/>
                </a:solidFill>
              </a:rPr>
              <a:t>Finance Ministry distributes quarterly funds via bureaucratic lobbying or equal pro-rata shares.</a:t>
            </a:r>
          </a:p>
          <a:p>
            <a:pPr>
              <a:spcAft>
                <a:spcPts val="400"/>
              </a:spcAft>
              <a:defRPr b="1" sz="1100">
                <a:solidFill>
                  <a:srgbClr val="141E2D"/>
                </a:solidFill>
              </a:defRPr>
            </a:pPr>
            <a:r>
              <a:t>• The Mathematical Solution: </a:t>
            </a:r>
            <a:r>
              <a:rPr b="0">
                <a:solidFill>
                  <a:srgbClr val="647382"/>
                </a:solidFill>
              </a:rPr>
              <a:t>Mixed-Integer Linear Programming (MILP) solved via HiGHS engine in &lt; 2 seconds.</a:t>
            </a:r>
          </a:p>
          <a:p>
            <a:pPr>
              <a:spcAft>
                <a:spcPts val="400"/>
              </a:spcAft>
              <a:defRPr b="1" sz="1100">
                <a:solidFill>
                  <a:srgbClr val="141E2D"/>
                </a:solidFill>
              </a:defRPr>
            </a:pPr>
            <a:r>
              <a:t>• Real Governance Constraints: </a:t>
            </a:r>
            <a:r>
              <a:rPr b="0">
                <a:solidFill>
                  <a:srgbClr val="647382"/>
                </a:solidFill>
              </a:rPr>
              <a:t>Guarantees mandatory funding for North-East (NER) &amp; honors agency historical spending capacity.</a:t>
            </a:r>
          </a:p>
          <a:p>
            <a:pPr>
              <a:spcAft>
                <a:spcPts val="400"/>
              </a:spcAft>
              <a:defRPr b="1" sz="1100">
                <a:solidFill>
                  <a:srgbClr val="141E2D"/>
                </a:solidFill>
              </a:defRPr>
            </a:pPr>
            <a:r>
              <a:t>• The Output: </a:t>
            </a:r>
            <a:r>
              <a:rPr b="0">
                <a:solidFill>
                  <a:srgbClr val="647382"/>
                </a:solidFill>
              </a:rPr>
              <a:t>Proves ₹12,300 Cr higher asset completion in FY26 compared to status-quo distribution.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B192C"/>
                </a:solidFill>
              </a:defRPr>
            </a:pPr>
            <a:r>
              <a:t>🎯 Module 6: HETU</a:t>
            </a:r>
          </a:p>
          <a:p>
            <a:pPr>
              <a:spcAft>
                <a:spcPts val="1000"/>
              </a:spcAft>
              <a:defRPr sz="1200" b="1">
                <a:solidFill>
                  <a:srgbClr val="007AFF"/>
                </a:solidFill>
              </a:defRPr>
            </a:pPr>
            <a:r>
              <a:t>Causal Inference Policy Simulator (Double ML)</a:t>
            </a:r>
          </a:p>
          <a:p>
            <a:pPr>
              <a:spcAft>
                <a:spcPts val="400"/>
              </a:spcAft>
              <a:defRPr b="1" sz="1100">
                <a:solidFill>
                  <a:srgbClr val="141E2D"/>
                </a:solidFill>
              </a:defRPr>
            </a:pPr>
            <a:r>
              <a:t>• Why Standard ML Fails: </a:t>
            </a:r>
            <a:r>
              <a:rPr b="0">
                <a:solidFill>
                  <a:srgbClr val="647382"/>
                </a:solidFill>
              </a:rPr>
              <a:t>Standard ML confuses correlation with causation. Complex projects have both delays and land disputes.</a:t>
            </a:r>
          </a:p>
          <a:p>
            <a:pPr>
              <a:spcAft>
                <a:spcPts val="400"/>
              </a:spcAft>
              <a:defRPr b="1" sz="1100">
                <a:solidFill>
                  <a:srgbClr val="141E2D"/>
                </a:solidFill>
              </a:defRPr>
            </a:pPr>
            <a:r>
              <a:t>• Double Machine Learning (EconML): </a:t>
            </a:r>
            <a:r>
              <a:rPr b="0">
                <a:solidFill>
                  <a:srgbClr val="647382"/>
                </a:solidFill>
              </a:rPr>
              <a:t>Strips away confounding complexity to find true causal treatment effects.</a:t>
            </a:r>
          </a:p>
          <a:p>
            <a:pPr>
              <a:spcAft>
                <a:spcPts val="400"/>
              </a:spcAft>
              <a:defRPr b="1" sz="1100">
                <a:solidFill>
                  <a:srgbClr val="141E2D"/>
                </a:solidFill>
              </a:defRPr>
            </a:pPr>
            <a:r>
              <a:t>• Natural Experiments: </a:t>
            </a:r>
            <a:r>
              <a:rPr b="0">
                <a:solidFill>
                  <a:srgbClr val="647382"/>
                </a:solidFill>
              </a:rPr>
              <a:t>Uses the RFCTLARR 2013 Land Act shock (p = 2.25e-7) and State Election dates as natural instruments.</a:t>
            </a:r>
          </a:p>
          <a:p>
            <a:pPr>
              <a:spcAft>
                <a:spcPts val="400"/>
              </a:spcAft>
              <a:defRPr b="1" sz="1100">
                <a:solidFill>
                  <a:srgbClr val="141E2D"/>
                </a:solidFill>
              </a:defRPr>
            </a:pPr>
            <a:r>
              <a:t>• Policy Lever Slider: </a:t>
            </a:r>
            <a:r>
              <a:rPr b="0">
                <a:solidFill>
                  <a:srgbClr val="647382"/>
                </a:solidFill>
              </a:rPr>
              <a:t>Secretary drags a slider: 'Enforcing 80% land clearance pre-sanction recovers ₹42,000 Cr in national escalation.'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SIGNATURE MODULE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Module 7: PRAGATI-SAARTHI (Zero-Hallucination Prime Minister Briefing)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201168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1C40F"/>
                </a:solidFill>
              </a:defRPr>
            </a:pPr>
            <a:r>
              <a:t>🤖 Governed Multi-Agent System (LangGraph + Bhashini)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On the 4th Wednesday of every month, the Prime Minister reviews stuck megaprojects with State Chief Secretaries (PRAGATI review). Joint Secretaries spend weeks manually drafting notes. PRAGATI-SAARTHI generates complete, official 8-page briefing packs in 30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3832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07AFF"/>
                </a:solidFill>
              </a:defRPr>
            </a:pPr>
            <a:r>
              <a:t>🛡️ Zero-Hallucination Firewall</a:t>
            </a:r>
          </a:p>
          <a:p>
            <a:pPr>
              <a:defRPr sz="1100">
                <a:solidFill>
                  <a:srgbClr val="647382"/>
                </a:solidFill>
              </a:defRPr>
            </a:pPr>
            <a:r>
              <a:t>NO LLM generates numbers. Every single financial figure is computed deterministically via SQL/ML and templated into the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657600"/>
            <a:ext cx="33832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84048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6500"/>
                </a:solidFill>
              </a:defRPr>
            </a:pPr>
            <a:r>
              <a:t>🔗 Clickable Lineage Tokens</a:t>
            </a:r>
          </a:p>
          <a:p>
            <a:pPr>
              <a:defRPr sz="1100">
                <a:solidFill>
                  <a:srgbClr val="647382"/>
                </a:solidFill>
              </a:defRPr>
            </a:pPr>
            <a:r>
              <a:t>Every number in the generated PDF contains an interactive cryptographic token that reveals the exact SQL query and dataset version.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657600"/>
            <a:ext cx="33832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384048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2ECC71"/>
                </a:solidFill>
              </a:defRPr>
            </a:pPr>
            <a:r>
              <a:t>🇮🇳 Sovereign On-Premise</a:t>
            </a:r>
          </a:p>
          <a:p>
            <a:pPr>
              <a:defRPr sz="1100">
                <a:solidFill>
                  <a:srgbClr val="647382"/>
                </a:solidFill>
              </a:defRPr>
            </a:pPr>
            <a:r>
              <a:t>Runs on open-weight models (Llama-3/Sarvam) deployable on NIC MeghRaj cloud with zero data egress. Bilingual Hindi/English via Bhashini.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PRAKALP-DRISHTI | SIH 2026 TEAM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The 5 Mind-Blowing Discoveries in Our Data (Nobody Else Knows This!)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1. Project Age is the #1 Killer</a:t>
            </a:r>
          </a:p>
          <a:p>
            <a:pPr>
              <a:defRPr sz="1100">
                <a:solidFill>
                  <a:srgbClr val="141E2D"/>
                </a:solidFill>
              </a:defRPr>
            </a:pPr>
            <a:r>
              <a:t>Projects &lt; 3 years old have 9% overruns. Projects &gt; 12 years old have 64% overruns with 159% avg price hikes (7x multiplier!).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AFF"/>
                </a:solidFill>
              </a:defRPr>
            </a:pPr>
            <a:r>
              <a:t>2. Busy Contractors are BETTER!</a:t>
            </a:r>
          </a:p>
          <a:p>
            <a:pPr>
              <a:defRPr sz="1100">
                <a:solidFill>
                  <a:srgbClr val="141E2D"/>
                </a:solidFill>
              </a:defRPr>
            </a:pPr>
            <a:r>
              <a:t>Companies managing 5+ simultaneous projects have FEWER overruns (rho = -0.455). Novice contractors fail; experience creates accuracy.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74C3C"/>
                </a:solidFill>
              </a:defRPr>
            </a:pPr>
            <a:r>
              <a:t>3. State Governance Breakdown</a:t>
            </a:r>
          </a:p>
          <a:p>
            <a:pPr>
              <a:defRPr sz="1100">
                <a:solidFill>
                  <a:srgbClr val="141E2D"/>
                </a:solidFill>
              </a:defRPr>
            </a:pPr>
            <a:r>
              <a:t>Worst states: Punjab (69% overruns), Gujarat (66%), Kerala (65%). Best: Manipur (0%), Meghalaya (0%), Uttarakhand (3%).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6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6500"/>
                </a:solidFill>
              </a:defRPr>
            </a:pPr>
            <a:r>
              <a:t>4. The ₹1k-5k Cr Blind Spot</a:t>
            </a:r>
          </a:p>
          <a:p>
            <a:pPr>
              <a:defRPr sz="1100">
                <a:solidFill>
                  <a:srgbClr val="141E2D"/>
                </a:solidFill>
              </a:defRPr>
            </a:pPr>
            <a:r>
              <a:t>Worst overrun rate (41.4%) occurs in ₹1k-5k Cr projects: too big for routine review, too small for direct PM PRAGATI attention.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0352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E62"/>
                </a:solidFill>
              </a:defRPr>
            </a:pPr>
            <a:r>
              <a:t>5. Pre-Election Rush Penalty</a:t>
            </a:r>
          </a:p>
          <a:p>
            <a:pPr>
              <a:defRPr sz="1100">
                <a:solidFill>
                  <a:srgbClr val="141E2D"/>
                </a:solidFill>
              </a:defRPr>
            </a:pPr>
            <a:r>
              <a:t>Projects sanctioned in pre-election rush years suffer a 79.1% delay rate due to rushed DPRs and unacquired land.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PRAKALP-DRISHTI | SIH 2026 TEAM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Our Winning 3-Minute Live Demo Pitch (The Western DFC Story)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81328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B192C"/>
                </a:solidFill>
              </a:defRPr>
            </a:pPr>
            <a:r>
              <a:t>⏱️ 0:00 - 0:45  •  THE HOOK (SATYA-KAVACH)</a:t>
            </a:r>
          </a:p>
          <a:p>
            <a:pPr>
              <a:defRPr sz="1050">
                <a:solidFill>
                  <a:srgbClr val="141E2D"/>
                </a:solidFill>
              </a:defRPr>
            </a:pPr>
            <a:r>
              <a:t>Show the McCrary spike at 19.4%. 'MoSPI monitors ₹41.78 Lakh Cr, but only tracks what agencies self-report. Look at this density spike — agencies game revisions just below 20% to avoid Cabinet audits. We flagged 131 Ghost Projects burning money.'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6984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15768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E74C3C"/>
                </a:solidFill>
              </a:defRPr>
            </a:pPr>
            <a:r>
              <a:t>⏱️ 0:45 - 1:30  •  THE PROOF (PRATIBIMB SATELLITE)</a:t>
            </a:r>
          </a:p>
          <a:p>
            <a:pPr>
              <a:defRPr sz="1050">
                <a:solidFill>
                  <a:srgbClr val="141E2D"/>
                </a:solidFill>
              </a:defRPr>
            </a:pPr>
            <a:r>
              <a:t>Click on a Ghost Project. 'MoSPI reports 74% progress. Sentinel-2 satellite time-lapse proves ZERO earthworks in 14 months. Sentinel-1 Radar penetrates monsoon clouds to confirm no vertical steel structure exists.'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6984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950208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6500"/>
                </a:solidFill>
              </a:defRPr>
            </a:pPr>
            <a:r>
              <a:t>⏱️ 1:30 - 2:15  •  THE FINANCIAL SIGNAL (ARTHA-NETRA)</a:t>
            </a:r>
          </a:p>
          <a:p>
            <a:pPr>
              <a:defRPr sz="1050">
                <a:solidFill>
                  <a:srgbClr val="141E2D"/>
                </a:solidFill>
              </a:defRPr>
            </a:pPr>
            <a:r>
              <a:t>Show PSU stock crash vs project revision date. 'Look at the agency's stock drawdown and D/E of 227 — severe financial stress preceded this ₹73,000 Cr cost hike. KAAL-CHAKRA predicted this tail-risk 4 years prior.'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6984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84648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ECC71"/>
                </a:solidFill>
              </a:defRPr>
            </a:pPr>
            <a:r>
              <a:t>⏱️ 2:15 - 3:00  •  THE GOVERNANCE BRIEF (PRAGATI-SAARTHI)</a:t>
            </a:r>
          </a:p>
          <a:p>
            <a:pPr>
              <a:defRPr sz="1050">
                <a:solidFill>
                  <a:srgbClr val="141E2D"/>
                </a:solidFill>
              </a:defRPr>
            </a:pPr>
            <a:r>
              <a:t>Click 'Generate Brief'. 'One click produces the Prime Minister's official PRAGATI briefing note. Click any number in the PDF — it opens the cryptographic SQL query back to the DB. Zero hallucinations.'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PRAKALP-DRISHTI | SIH 2026 TEAM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10-Day Team Battle Plan: Who Does What (6 Members)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Members 1 &amp; 2 — Backend &amp; Data Engineering</a:t>
            </a:r>
          </a:p>
          <a:p>
            <a:pPr>
              <a:defRPr sz="1050">
                <a:solidFill>
                  <a:srgbClr val="647382"/>
                </a:solidFill>
              </a:defRPr>
            </a:pPr>
            <a:r>
              <a:t>FastAPI backend, TimescaleDB schema, dbt semantic layer, DuckDB-WASM Parquet export. Connect all 2,207 projects.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Member 3 — Earth Observation (PRATIBIMB)</a:t>
            </a:r>
          </a:p>
          <a:p>
            <a:pPr>
              <a:defRPr sz="1050">
                <a:solidFill>
                  <a:srgbClr val="647382"/>
                </a:solidFill>
              </a:defRPr>
            </a:pPr>
            <a:r>
              <a:t>Sentinel-1 SAR and Sentinel-2 optical pipeline for 10 pre-computed 'Ghost Projects' via Google Earth Engine / STAC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Member 4 — Integrity &amp; Financial ML (SATYA-KAVACH &amp; ARTHA-NETRA)</a:t>
            </a:r>
          </a:p>
          <a:p>
            <a:pPr>
              <a:defRPr sz="1050">
                <a:solidFill>
                  <a:srgbClr val="647382"/>
                </a:solidFill>
              </a:defRPr>
            </a:pPr>
            <a:r>
              <a:t>McCrary 20% bunching test, CPWD Clause 10CC 85% legal formula, and PSU stock leverage / financial stress scatters.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6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Member 5 — Forecasting &amp; Optimization (KAAL-CHAKRA &amp; VITTA-VYUHA)</a:t>
            </a:r>
          </a:p>
          <a:p>
            <a:pPr>
              <a:defRPr sz="1050">
                <a:solidFill>
                  <a:srgbClr val="647382"/>
                </a:solidFill>
              </a:defRPr>
            </a:pPr>
            <a:r>
              <a:t>lifelines survival curves for P10/P50/P80 fan charts + HiGHS MILP solver script for optimal capital allocation.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0352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Member 6 — Frontend Cockpit &amp; AI Drafter (PRAGATI-SAARTHI)</a:t>
            </a:r>
          </a:p>
          <a:p>
            <a:pPr>
              <a:defRPr sz="1050">
                <a:solidFill>
                  <a:srgbClr val="647382"/>
                </a:solidFill>
              </a:defRPr>
            </a:pPr>
            <a:r>
              <a:t>Next.js cockpit, MapLibre GL map, deck.gl contagion graph, and LangGraph PDF briefing generator with SQL lineage tokens.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THE CLOSING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Why PRAKALP-DRISHTI Will Win 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400">
                <a:solidFill>
                  <a:srgbClr val="F1C40F"/>
                </a:solidFill>
              </a:defRPr>
            </a:pPr>
            <a:r>
              <a:t>✨  1. 100% Real, Unfalsifiable Data: 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     We don't have mock data. We have 2,207 real projects, 18,561 stock rows, and official macro-economic indices.</a:t>
            </a:r>
          </a:p>
          <a:p>
            <a:pPr>
              <a:spcAft>
                <a:spcPts val="200"/>
              </a:spcAft>
              <a:defRPr b="1" sz="1400">
                <a:solidFill>
                  <a:srgbClr val="F1C40F"/>
                </a:solidFill>
              </a:defRPr>
            </a:pPr>
            <a:r>
              <a:t>✨  2. Mechanism-Design over Dashboards: 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     We don't just show charts. We use Proper Scoring Rules, McCrary tests, and Satellite verification to enforce honesty.</a:t>
            </a:r>
          </a:p>
          <a:p>
            <a:pPr>
              <a:spcAft>
                <a:spcPts val="200"/>
              </a:spcAft>
              <a:defRPr b="1" sz="1400">
                <a:solidFill>
                  <a:srgbClr val="F1C40F"/>
                </a:solidFill>
              </a:defRPr>
            </a:pPr>
            <a:r>
              <a:t>✨  3. Contract-Grade Mathematical Rigor: 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     We hardcoded the actual statutory rules (CPWD Clause 10CC 85% escalation limit, RFCTLARR 2013 Land Act break).</a:t>
            </a:r>
          </a:p>
          <a:p>
            <a:pPr>
              <a:spcAft>
                <a:spcPts val="200"/>
              </a:spcAft>
              <a:defRPr b="1" sz="1400">
                <a:solidFill>
                  <a:srgbClr val="F1C40F"/>
                </a:solidFill>
              </a:defRPr>
            </a:pPr>
            <a:r>
              <a:t>✨  4. Flawless 3-Minute Live Storyline: 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     We walk a real ₹73,000 Crore megaproject from risk prediction ➜ satellite proof ➜ stock stress ➜ PM briefing in 180 seconds.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